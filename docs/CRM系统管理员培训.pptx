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1687" r:id="rId2"/>
    <p:sldId id="1682" r:id="rId3"/>
    <p:sldId id="1886" r:id="rId4"/>
    <p:sldId id="1891" r:id="rId5"/>
    <p:sldId id="1888" r:id="rId6"/>
    <p:sldId id="1895" r:id="rId7"/>
    <p:sldId id="1892" r:id="rId8"/>
    <p:sldId id="1893" r:id="rId9"/>
    <p:sldId id="1894" r:id="rId10"/>
    <p:sldId id="1896" r:id="rId11"/>
    <p:sldId id="1675" r:id="rId12"/>
    <p:sldId id="1899" r:id="rId13"/>
    <p:sldId id="1897" r:id="rId14"/>
    <p:sldId id="1898" r:id="rId15"/>
    <p:sldId id="1900" r:id="rId16"/>
    <p:sldId id="1901" r:id="rId17"/>
    <p:sldId id="1902" r:id="rId18"/>
    <p:sldId id="1903" r:id="rId19"/>
    <p:sldId id="1904" r:id="rId20"/>
    <p:sldId id="1906" r:id="rId21"/>
    <p:sldId id="1907" r:id="rId22"/>
    <p:sldId id="1909" r:id="rId23"/>
    <p:sldId id="1908" r:id="rId24"/>
    <p:sldId id="1910" r:id="rId25"/>
    <p:sldId id="1913" r:id="rId26"/>
    <p:sldId id="1914" r:id="rId27"/>
    <p:sldId id="1915" r:id="rId28"/>
    <p:sldId id="191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B00"/>
    <a:srgbClr val="FFE600"/>
    <a:srgbClr val="0564F6"/>
    <a:srgbClr val="1C69D4"/>
    <a:srgbClr val="FA6470"/>
    <a:srgbClr val="FF8626"/>
    <a:srgbClr val="87C94E"/>
    <a:srgbClr val="7765F3"/>
    <a:srgbClr val="FFB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 autoAdjust="0"/>
    <p:restoredTop sz="91489" autoAdjust="0"/>
  </p:normalViewPr>
  <p:slideViewPr>
    <p:cSldViewPr snapToGrid="0">
      <p:cViewPr varScale="1">
        <p:scale>
          <a:sx n="66" d="100"/>
          <a:sy n="66" d="100"/>
        </p:scale>
        <p:origin x="7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40AF5-D7C6-4728-8EF0-FE4B33EABF23}" type="datetimeFigureOut">
              <a:rPr lang="zh-CN" altLang="en-US" smtClean="0"/>
              <a:t>2021/11/30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646A-46A5-4028-9E3A-1997FA572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4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646A-46A5-4028-9E3A-1997FA5720F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646A-46A5-4028-9E3A-1997FA5720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94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FFAF9653-AC22-4E7D-B57E-7A34D8D7BD85}"/>
              </a:ext>
            </a:extLst>
          </p:cNvPr>
          <p:cNvSpPr txBox="1"/>
          <p:nvPr userDrawn="1"/>
        </p:nvSpPr>
        <p:spPr>
          <a:xfrm>
            <a:off x="411040" y="6366987"/>
            <a:ext cx="3312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苹方 细体" panose="020B0200000000000000" pitchFamily="34" charset="-122"/>
                <a:ea typeface="苹方 细体" panose="020B0200000000000000" pitchFamily="34" charset="-122"/>
              </a:rPr>
              <a:t>Copyright© 2020 Neocrm. All rights reserved. 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苹方 细体" panose="020B0200000000000000" pitchFamily="34" charset="-122"/>
              <a:ea typeface="苹方 细体" panose="020B02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C64ED0-B68C-4BCD-9FD3-A65EA458C5EA}"/>
              </a:ext>
            </a:extLst>
          </p:cNvPr>
          <p:cNvSpPr/>
          <p:nvPr userDrawn="1"/>
        </p:nvSpPr>
        <p:spPr>
          <a:xfrm>
            <a:off x="371475" y="6404374"/>
            <a:ext cx="79130" cy="162658"/>
          </a:xfrm>
          <a:prstGeom prst="rect">
            <a:avLst/>
          </a:prstGeom>
          <a:solidFill>
            <a:srgbClr val="1C69D4"/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800" b="1" dirty="0">
              <a:solidFill>
                <a:srgbClr val="F7F2D1"/>
              </a:solidFill>
              <a:latin typeface="Calibri" charset="0"/>
              <a:ea typeface="Calibri" charset="0"/>
              <a:cs typeface="Calibri" charset="0"/>
              <a:sym typeface="微软雅黑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4E3E22-202D-490B-B9E4-CCDD6CCC1C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510" y="6341481"/>
            <a:ext cx="1236375" cy="27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6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425388F4-CCD8-4FC1-AA17-3879B38EE94A}"/>
              </a:ext>
            </a:extLst>
          </p:cNvPr>
          <p:cNvSpPr txBox="1"/>
          <p:nvPr userDrawn="1"/>
        </p:nvSpPr>
        <p:spPr>
          <a:xfrm>
            <a:off x="411040" y="6366987"/>
            <a:ext cx="3312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苹方 细体" panose="020B0200000000000000" pitchFamily="34" charset="-122"/>
                <a:ea typeface="苹方 细体" panose="020B0200000000000000" pitchFamily="34" charset="-122"/>
              </a:rPr>
              <a:t>Copyright© 2020 Neocrm. All rights reserved. 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苹方 细体" panose="020B0200000000000000" pitchFamily="34" charset="-122"/>
              <a:ea typeface="苹方 细体" panose="020B02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64EF26-0CED-4F46-92B3-C49E6ECC0204}"/>
              </a:ext>
            </a:extLst>
          </p:cNvPr>
          <p:cNvSpPr/>
          <p:nvPr userDrawn="1"/>
        </p:nvSpPr>
        <p:spPr>
          <a:xfrm>
            <a:off x="371475" y="6404374"/>
            <a:ext cx="79130" cy="162658"/>
          </a:xfrm>
          <a:prstGeom prst="rect">
            <a:avLst/>
          </a:prstGeom>
          <a:solidFill>
            <a:srgbClr val="1C69D4"/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800" b="1" dirty="0">
              <a:solidFill>
                <a:srgbClr val="F7F2D1"/>
              </a:solidFill>
              <a:latin typeface="Calibri" charset="0"/>
              <a:ea typeface="Calibri" charset="0"/>
              <a:cs typeface="Calibri" charset="0"/>
              <a:sym typeface="微软雅黑"/>
            </a:endParaRPr>
          </a:p>
        </p:txBody>
      </p:sp>
      <p:sp>
        <p:nvSpPr>
          <p:cNvPr id="14" name="Rectangle 61">
            <a:extLst>
              <a:ext uri="{FF2B5EF4-FFF2-40B4-BE49-F238E27FC236}">
                <a16:creationId xmlns:a16="http://schemas.microsoft.com/office/drawing/2014/main" id="{0D4729C2-05D5-4993-9A98-DD717D936EEC}"/>
              </a:ext>
            </a:extLst>
          </p:cNvPr>
          <p:cNvSpPr/>
          <p:nvPr userDrawn="1"/>
        </p:nvSpPr>
        <p:spPr>
          <a:xfrm>
            <a:off x="0" y="294394"/>
            <a:ext cx="536331" cy="505706"/>
          </a:xfrm>
          <a:prstGeom prst="rect">
            <a:avLst/>
          </a:prstGeom>
          <a:solidFill>
            <a:srgbClr val="1C69D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8FD983E-0DCF-49FB-90F2-07E6D64243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510" y="6341481"/>
            <a:ext cx="1236375" cy="27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6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64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2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482131D-1E19-481F-B518-7CEB937AFE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45195"/>
            <a:ext cx="997743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None/>
              <a:defRPr lang="zh-CN" altLang="en-US" sz="2400" b="1" dirty="0" smtClean="0">
                <a:solidFill>
                  <a:srgbClr val="1C69D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  <a:lvl2pPr>
              <a:defRPr lang="zh-CN" altLang="en-US" sz="1800" dirty="0" smtClean="0"/>
            </a:lvl2pPr>
            <a:lvl3pPr>
              <a:defRPr lang="zh-CN" altLang="en-US" sz="1800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marL="0" lvl="0"/>
            <a:r>
              <a:rPr lang="zh-CN" altLang="en-US" dirty="0"/>
              <a:t>单击此处编辑母版文本样式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425388F4-CCD8-4FC1-AA17-3879B38EE94A}"/>
              </a:ext>
            </a:extLst>
          </p:cNvPr>
          <p:cNvSpPr txBox="1"/>
          <p:nvPr userDrawn="1"/>
        </p:nvSpPr>
        <p:spPr>
          <a:xfrm>
            <a:off x="411040" y="6366987"/>
            <a:ext cx="3312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苹方 细体" panose="020B0200000000000000" pitchFamily="34" charset="-122"/>
                <a:ea typeface="苹方 细体" panose="020B0200000000000000" pitchFamily="34" charset="-122"/>
              </a:rPr>
              <a:t>Copyright© 2021 Neocrm. All rights reserved. 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苹方 细体" panose="020B0200000000000000" pitchFamily="34" charset="-122"/>
              <a:ea typeface="苹方 细体" panose="020B02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64EF26-0CED-4F46-92B3-C49E6ECC0204}"/>
              </a:ext>
            </a:extLst>
          </p:cNvPr>
          <p:cNvSpPr/>
          <p:nvPr userDrawn="1"/>
        </p:nvSpPr>
        <p:spPr>
          <a:xfrm>
            <a:off x="371475" y="6404374"/>
            <a:ext cx="79130" cy="162658"/>
          </a:xfrm>
          <a:prstGeom prst="rect">
            <a:avLst/>
          </a:prstGeom>
          <a:solidFill>
            <a:srgbClr val="1C69D4"/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800" b="1" dirty="0">
              <a:solidFill>
                <a:srgbClr val="F7F2D1"/>
              </a:solidFill>
              <a:latin typeface="Calibri" charset="0"/>
              <a:ea typeface="Calibri" charset="0"/>
              <a:cs typeface="Calibri" charset="0"/>
              <a:sym typeface="微软雅黑"/>
            </a:endParaRPr>
          </a:p>
        </p:txBody>
      </p:sp>
      <p:sp>
        <p:nvSpPr>
          <p:cNvPr id="14" name="Rectangle 61">
            <a:extLst>
              <a:ext uri="{FF2B5EF4-FFF2-40B4-BE49-F238E27FC236}">
                <a16:creationId xmlns:a16="http://schemas.microsoft.com/office/drawing/2014/main" id="{0D4729C2-05D5-4993-9A98-DD717D936EEC}"/>
              </a:ext>
            </a:extLst>
          </p:cNvPr>
          <p:cNvSpPr/>
          <p:nvPr userDrawn="1"/>
        </p:nvSpPr>
        <p:spPr>
          <a:xfrm>
            <a:off x="0" y="294394"/>
            <a:ext cx="536331" cy="505706"/>
          </a:xfrm>
          <a:prstGeom prst="rect">
            <a:avLst/>
          </a:prstGeom>
          <a:solidFill>
            <a:srgbClr val="1C69D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8FD983E-0DCF-49FB-90F2-07E6D64243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510" y="6341481"/>
            <a:ext cx="1236375" cy="27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2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12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2" b="35322"/>
          <a:stretch>
            <a:fillRect/>
          </a:stretch>
        </p:blipFill>
        <p:spPr>
          <a:xfrm>
            <a:off x="0" y="1"/>
            <a:ext cx="12192000" cy="3838096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515628" y="4612050"/>
            <a:ext cx="3633788" cy="13779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8000" dirty="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</a:rPr>
              <a:t>A</a:t>
            </a:r>
            <a:r>
              <a:rPr kumimoji="1" lang="en-US" altLang="zh-CN" sz="6000" dirty="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</a:rPr>
              <a:t>genda</a:t>
            </a:r>
            <a:endParaRPr kumimoji="1" lang="zh-CN" altLang="en-US" sz="6000" dirty="0">
              <a:solidFill>
                <a:srgbClr val="1C69D4"/>
              </a:solidFill>
              <a:latin typeface="微软雅黑" panose="020B0503020204020204" charset="-122"/>
              <a:ea typeface="微软雅黑" panose="020B0503020204020204" charset="-122"/>
              <a:cs typeface=".苹方-简" panose="02000000000000000000" pitchFamily="2" charset="-12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028590" y="4114800"/>
            <a:ext cx="0" cy="24841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577724" y="4580905"/>
            <a:ext cx="716252" cy="142343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1"/>
          <p:cNvSpPr/>
          <p:nvPr/>
        </p:nvSpPr>
        <p:spPr>
          <a:xfrm>
            <a:off x="4523414" y="4785709"/>
            <a:ext cx="3519172" cy="376597"/>
          </a:xfrm>
          <a:prstGeom prst="rect">
            <a:avLst/>
          </a:prstGeom>
        </p:spPr>
        <p:txBody>
          <a:bodyPr wrap="square" lIns="90634" tIns="45317" rIns="90634" bIns="45317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  <a:sym typeface="+mn-ea"/>
              </a:rPr>
              <a:t>1.   </a:t>
            </a:r>
            <a:r>
              <a:rPr lang="zh-CN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  <a:sym typeface="+mn-ea"/>
              </a:rPr>
              <a:t>系统登录与登出</a:t>
            </a:r>
          </a:p>
        </p:txBody>
      </p:sp>
      <p:sp>
        <p:nvSpPr>
          <p:cNvPr id="7" name="Textbox 1"/>
          <p:cNvSpPr/>
          <p:nvPr/>
        </p:nvSpPr>
        <p:spPr>
          <a:xfrm>
            <a:off x="4523414" y="5410124"/>
            <a:ext cx="3176909" cy="376597"/>
          </a:xfrm>
          <a:prstGeom prst="rect">
            <a:avLst/>
          </a:prstGeom>
        </p:spPr>
        <p:txBody>
          <a:bodyPr wrap="square" lIns="90634" tIns="45317" rIns="90634" bIns="45317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  <a:sym typeface="+mn-ea"/>
              </a:rPr>
              <a:t>2.   </a:t>
            </a:r>
            <a:r>
              <a:rPr lang="zh-CN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  <a:sym typeface="+mn-ea"/>
              </a:rPr>
              <a:t>系统后台设置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5" name="Straight Connector 18"/>
          <p:cNvSpPr/>
          <p:nvPr/>
        </p:nvSpPr>
        <p:spPr>
          <a:xfrm>
            <a:off x="519033" y="4484370"/>
            <a:ext cx="5502519" cy="0"/>
          </a:xfrm>
          <a:prstGeom prst="line">
            <a:avLst/>
          </a:prstGeom>
          <a:ln w="6350">
            <a:solidFill>
              <a:srgbClr val="1C69D4"/>
            </a:solidFill>
            <a:prstDash val="solid"/>
            <a:miter/>
          </a:ln>
        </p:spPr>
        <p:txBody>
          <a:bodyPr lIns="45719" rIns="45719"/>
          <a:lstStyle/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dirty="0"/>
          </a:p>
        </p:txBody>
      </p:sp>
      <p:sp>
        <p:nvSpPr>
          <p:cNvPr id="7" name="Straight Connector 18"/>
          <p:cNvSpPr/>
          <p:nvPr/>
        </p:nvSpPr>
        <p:spPr>
          <a:xfrm>
            <a:off x="519033" y="2441637"/>
            <a:ext cx="5502519" cy="0"/>
          </a:xfrm>
          <a:prstGeom prst="line">
            <a:avLst/>
          </a:prstGeom>
          <a:ln w="6350">
            <a:solidFill>
              <a:srgbClr val="1C69D4"/>
            </a:solidFill>
            <a:prstDash val="solid"/>
            <a:miter/>
          </a:ln>
        </p:spPr>
        <p:txBody>
          <a:bodyPr lIns="45719" rIns="45719"/>
          <a:lstStyle/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dirty="0"/>
          </a:p>
        </p:txBody>
      </p:sp>
      <p:sp>
        <p:nvSpPr>
          <p:cNvPr id="17" name="矩形 16"/>
          <p:cNvSpPr/>
          <p:nvPr/>
        </p:nvSpPr>
        <p:spPr>
          <a:xfrm>
            <a:off x="0" y="2441637"/>
            <a:ext cx="400050" cy="2042733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FF67EC5-316C-425B-8EFF-F31E7B215D42}"/>
              </a:ext>
            </a:extLst>
          </p:cNvPr>
          <p:cNvGrpSpPr/>
          <p:nvPr/>
        </p:nvGrpSpPr>
        <p:grpSpPr>
          <a:xfrm>
            <a:off x="465405" y="2914520"/>
            <a:ext cx="5339600" cy="1569656"/>
            <a:chOff x="465405" y="2914520"/>
            <a:chExt cx="5339600" cy="1569656"/>
          </a:xfrm>
        </p:grpSpPr>
        <p:sp>
          <p:nvSpPr>
            <p:cNvPr id="6567" name="文本框 15"/>
            <p:cNvSpPr txBox="1"/>
            <p:nvPr/>
          </p:nvSpPr>
          <p:spPr>
            <a:xfrm>
              <a:off x="1302494" y="2914520"/>
              <a:ext cx="1535032" cy="156965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8" tIns="45718" rIns="45718" bIns="45718">
              <a:spAutoFit/>
            </a:bodyPr>
            <a:lstStyle/>
            <a:p>
              <a:pPr>
                <a:defRPr sz="5000">
                  <a:solidFill>
                    <a:schemeClr val="accent1">
                      <a:satOff val="-33162"/>
                      <a:lumOff val="-12659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  <a:r>
                <a:rPr sz="9600" dirty="0">
                  <a:solidFill>
                    <a:srgbClr val="1C69D4"/>
                  </a:solidFill>
                  <a:latin typeface="微软雅黑" panose="020B0503020204020204" charset="-122"/>
                  <a:ea typeface="微软雅黑" panose="020B0503020204020204" charset="-122"/>
                  <a:cs typeface=".苹方-简" panose="02000000000000000000" pitchFamily="2" charset="-120"/>
                </a:rPr>
                <a:t>0</a:t>
              </a:r>
              <a:r>
                <a:rPr lang="en-US" altLang="zh-CN" sz="9600" dirty="0">
                  <a:solidFill>
                    <a:srgbClr val="1C69D4"/>
                  </a:solidFill>
                  <a:latin typeface="微软雅黑" panose="020B0503020204020204" charset="-122"/>
                  <a:ea typeface="微软雅黑" panose="020B0503020204020204" charset="-122"/>
                  <a:cs typeface=".苹方-简" panose="02000000000000000000" pitchFamily="2" charset="-120"/>
                </a:rPr>
                <a:t>1</a:t>
              </a:r>
              <a:endParaRPr sz="9600" dirty="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65405" y="3806660"/>
              <a:ext cx="83708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 sz="5000">
                  <a:solidFill>
                    <a:schemeClr val="accent1">
                      <a:satOff val="-33162"/>
                      <a:lumOff val="-12659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  <a:r>
                <a:rPr lang="en-US" altLang="zh-CN" sz="2000" dirty="0">
                  <a:solidFill>
                    <a:srgbClr val="1C69D4"/>
                  </a:solidFill>
                  <a:latin typeface="微软雅黑" panose="020B0503020204020204" charset="-122"/>
                  <a:ea typeface="微软雅黑" panose="020B0503020204020204" charset="-122"/>
                  <a:cs typeface=".苹方-简" panose="02000000000000000000" pitchFamily="2" charset="-120"/>
                </a:rPr>
                <a:t>PART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575467" y="3760941"/>
              <a:ext cx="514350" cy="45719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2837526" y="3406372"/>
              <a:ext cx="296747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spc="300" dirty="0">
                  <a:solidFill>
                    <a:srgbClr val="1C69D4"/>
                  </a:solidFill>
                  <a:latin typeface="微软雅黑" panose="020B0503020204020204" charset="-122"/>
                  <a:ea typeface="微软雅黑" panose="020B0503020204020204" charset="-122"/>
                  <a:cs typeface=".苹方-简" panose="02000000000000000000" pitchFamily="2" charset="-120"/>
                  <a:sym typeface="+mn-ea"/>
                </a:rPr>
                <a:t>系统登录与登出</a:t>
              </a:r>
              <a:endParaRPr lang="en-US" altLang="zh-CN" sz="2800" b="1" spc="300" dirty="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  <a:sym typeface="+mn-ea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6123554" y="2441637"/>
            <a:ext cx="6068446" cy="2042539"/>
          </a:xfrm>
          <a:prstGeom prst="rect">
            <a:avLst/>
          </a:prstGeom>
          <a:solidFill>
            <a:srgbClr val="1C69D4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10491E-1EA2-4359-8109-6306555475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9"/>
          <a:stretch/>
        </p:blipFill>
        <p:spPr>
          <a:xfrm>
            <a:off x="6121793" y="2441638"/>
            <a:ext cx="6070205" cy="20425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56291B-CDCF-413F-995B-F78657B66B9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361" y="3323493"/>
            <a:ext cx="1524290" cy="3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6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5844" y="321966"/>
            <a:ext cx="9670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b="1" dirty="0">
                <a:solidFill>
                  <a:srgbClr val="1C69D4"/>
                </a:solidFill>
                <a:latin typeface="Microsoft YaHei" charset="-122"/>
                <a:ea typeface="Microsoft YaHei" charset="-122"/>
                <a:cs typeface="Microsoft YaHei" charset="-122"/>
              </a:rPr>
              <a:t>系统登录与登出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C69D4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CA49945-B5B4-664A-A178-2A4F898B4E75}"/>
              </a:ext>
            </a:extLst>
          </p:cNvPr>
          <p:cNvGrpSpPr/>
          <p:nvPr/>
        </p:nvGrpSpPr>
        <p:grpSpPr>
          <a:xfrm>
            <a:off x="2750857" y="1233703"/>
            <a:ext cx="6690286" cy="4390595"/>
            <a:chOff x="1679238" y="1057705"/>
            <a:chExt cx="6690286" cy="4390595"/>
          </a:xfrm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0D0545B-52E1-2542-988F-C75E675BA14D}"/>
                </a:ext>
              </a:extLst>
            </p:cNvPr>
            <p:cNvSpPr/>
            <p:nvPr/>
          </p:nvSpPr>
          <p:spPr bwMode="auto">
            <a:xfrm>
              <a:off x="1814115" y="1057705"/>
              <a:ext cx="891827" cy="112712"/>
            </a:xfrm>
            <a:custGeom>
              <a:avLst/>
              <a:gdLst/>
              <a:ahLst/>
              <a:cxnLst>
                <a:cxn ang="0">
                  <a:pos x="111" y="0"/>
                </a:cxn>
                <a:cxn ang="0">
                  <a:pos x="1045" y="0"/>
                </a:cxn>
                <a:cxn ang="0">
                  <a:pos x="1156" y="142"/>
                </a:cxn>
                <a:cxn ang="0">
                  <a:pos x="0" y="142"/>
                </a:cxn>
                <a:cxn ang="0">
                  <a:pos x="111" y="0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91654C02-C9B0-C84D-8227-FE5A7E7C3443}"/>
                </a:ext>
              </a:extLst>
            </p:cNvPr>
            <p:cNvSpPr/>
            <p:nvPr/>
          </p:nvSpPr>
          <p:spPr bwMode="auto">
            <a:xfrm>
              <a:off x="1679238" y="1141248"/>
              <a:ext cx="6690286" cy="615060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8475" y="0"/>
                </a:cxn>
                <a:cxn ang="0">
                  <a:pos x="8676" y="202"/>
                </a:cxn>
                <a:cxn ang="0">
                  <a:pos x="8676" y="788"/>
                </a:cxn>
                <a:cxn ang="0">
                  <a:pos x="8579" y="884"/>
                </a:cxn>
                <a:cxn ang="0">
                  <a:pos x="97" y="884"/>
                </a:cxn>
                <a:cxn ang="0">
                  <a:pos x="0" y="788"/>
                </a:cxn>
                <a:cxn ang="0">
                  <a:pos x="0" y="96"/>
                </a:cxn>
                <a:cxn ang="0">
                  <a:pos x="97" y="0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chemeClr val="accent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cene3d>
                <a:camera prst="orthographicFront"/>
                <a:lightRig rig="threePt" dir="t"/>
              </a:scene3d>
            </a:bodyPr>
            <a:lstStyle/>
            <a:p>
              <a:endParaRPr lang="zh-CN" altLang="en-US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endParaRPr>
            </a:p>
          </p:txBody>
        </p:sp>
        <p:sp>
          <p:nvSpPr>
            <p:cNvPr id="47" name="TextBox 105">
              <a:extLst>
                <a:ext uri="{FF2B5EF4-FFF2-40B4-BE49-F238E27FC236}">
                  <a16:creationId xmlns:a16="http://schemas.microsoft.com/office/drawing/2014/main" id="{AD183722-0E1A-984A-8A44-F40C0E6E1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140" y="1234482"/>
              <a:ext cx="2316480" cy="4603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40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系统登录与退出</a:t>
              </a:r>
            </a:p>
          </p:txBody>
        </p:sp>
        <p:grpSp>
          <p:nvGrpSpPr>
            <p:cNvPr id="48" name="组合 37">
              <a:extLst>
                <a:ext uri="{FF2B5EF4-FFF2-40B4-BE49-F238E27FC236}">
                  <a16:creationId xmlns:a16="http://schemas.microsoft.com/office/drawing/2014/main" id="{2AB24F7F-BBDA-B64D-829B-F337558DBE36}"/>
                </a:ext>
              </a:extLst>
            </p:cNvPr>
            <p:cNvGrpSpPr/>
            <p:nvPr/>
          </p:nvGrpSpPr>
          <p:grpSpPr>
            <a:xfrm>
              <a:off x="1938469" y="1148512"/>
              <a:ext cx="653483" cy="658808"/>
              <a:chOff x="870517" y="1282882"/>
              <a:chExt cx="653483" cy="658808"/>
            </a:xfrm>
            <a:solidFill>
              <a:srgbClr val="FFC000"/>
            </a:solidFill>
          </p:grpSpPr>
          <p:sp>
            <p:nvSpPr>
              <p:cNvPr id="49" name="Rectangle 12">
                <a:extLst>
                  <a:ext uri="{FF2B5EF4-FFF2-40B4-BE49-F238E27FC236}">
                    <a16:creationId xmlns:a16="http://schemas.microsoft.com/office/drawing/2014/main" id="{644CE38A-B158-EB42-86FE-D65D21A82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517" y="1282882"/>
                <a:ext cx="653483" cy="65880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50" name="TextBox 106">
                <a:extLst>
                  <a:ext uri="{FF2B5EF4-FFF2-40B4-BE49-F238E27FC236}">
                    <a16:creationId xmlns:a16="http://schemas.microsoft.com/office/drawing/2014/main" id="{41881543-B0BD-F349-991C-115AE53309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8425" y="1314457"/>
                <a:ext cx="437940" cy="584775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32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1" name="五边形 50">
              <a:extLst>
                <a:ext uri="{FF2B5EF4-FFF2-40B4-BE49-F238E27FC236}">
                  <a16:creationId xmlns:a16="http://schemas.microsoft.com/office/drawing/2014/main" id="{081A3928-7CA1-B144-AAE0-CA968645D0AE}"/>
                </a:ext>
              </a:extLst>
            </p:cNvPr>
            <p:cNvSpPr/>
            <p:nvPr/>
          </p:nvSpPr>
          <p:spPr>
            <a:xfrm>
              <a:off x="2138045" y="2098040"/>
              <a:ext cx="4641850" cy="576580"/>
            </a:xfrm>
            <a:prstGeom prst="homePlate">
              <a:avLst/>
            </a:prstGeom>
            <a:solidFill>
              <a:srgbClr val="C2044B"/>
            </a:solidFill>
            <a:ln w="25400" cap="flat" cmpd="sng" algn="ctr">
              <a:noFill/>
              <a:prstDash val="solid"/>
            </a:ln>
          </p:spPr>
          <p:txBody>
            <a:bodyPr rot="0" vertOverflow="overflow" horzOverflow="overflow" vert="horz" wrap="square" lIns="215900" tIns="0" rIns="0" bIns="0" numCol="1" spcCol="0" rtlCol="0" fromWordArt="0" anchor="ctr" anchorCtr="0" compatLnSpc="1">
              <a:noAutofit/>
            </a:bodyPr>
            <a:lstStyle/>
            <a:p>
              <a:pPr marL="285750" indent="-285750" algn="l" defTabSz="913765">
                <a:buFont typeface="Wingdings" panose="05000000000000000000" charset="0"/>
                <a:buChar char=""/>
              </a:pP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手机端和</a:t>
              </a:r>
              <a:r>
                <a:rPr lang="en-US" altLang="zh-CN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PC</a:t>
              </a: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端登录</a:t>
              </a:r>
            </a:p>
          </p:txBody>
        </p:sp>
        <p:sp>
          <p:nvSpPr>
            <p:cNvPr id="52" name="五边形 51">
              <a:extLst>
                <a:ext uri="{FF2B5EF4-FFF2-40B4-BE49-F238E27FC236}">
                  <a16:creationId xmlns:a16="http://schemas.microsoft.com/office/drawing/2014/main" id="{0FB1B569-4279-C648-B181-BB2AF31EE4B9}"/>
                </a:ext>
              </a:extLst>
            </p:cNvPr>
            <p:cNvSpPr/>
            <p:nvPr/>
          </p:nvSpPr>
          <p:spPr>
            <a:xfrm>
              <a:off x="2138045" y="2814320"/>
              <a:ext cx="4641850" cy="576580"/>
            </a:xfrm>
            <a:prstGeom prst="homePlate">
              <a:avLst/>
            </a:prstGeom>
            <a:solidFill>
              <a:srgbClr val="C2044B"/>
            </a:solidFill>
            <a:ln w="25400" cap="flat" cmpd="sng" algn="ctr">
              <a:noFill/>
              <a:prstDash val="solid"/>
            </a:ln>
          </p:spPr>
          <p:txBody>
            <a:bodyPr rot="0" vertOverflow="overflow" horzOverflow="overflow" vert="horz" wrap="square" lIns="215900" tIns="0" rIns="0" bIns="0" numCol="1" spcCol="0" rtlCol="0" fromWordArt="0" anchor="ctr" anchorCtr="0" compatLnSpc="1">
              <a:noAutofit/>
            </a:bodyPr>
            <a:lstStyle/>
            <a:p>
              <a:pPr marL="285750" indent="-285750" algn="l" defTabSz="913765">
                <a:buFont typeface="Wingdings" panose="05000000000000000000" charset="0"/>
                <a:buChar char=""/>
              </a:pP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初次登录设置密码</a:t>
              </a:r>
            </a:p>
          </p:txBody>
        </p:sp>
        <p:sp>
          <p:nvSpPr>
            <p:cNvPr id="53" name="五边形 52">
              <a:extLst>
                <a:ext uri="{FF2B5EF4-FFF2-40B4-BE49-F238E27FC236}">
                  <a16:creationId xmlns:a16="http://schemas.microsoft.com/office/drawing/2014/main" id="{0660F9BE-9306-E94E-B66F-87C2F01AB88B}"/>
                </a:ext>
              </a:extLst>
            </p:cNvPr>
            <p:cNvSpPr/>
            <p:nvPr/>
          </p:nvSpPr>
          <p:spPr>
            <a:xfrm>
              <a:off x="2138045" y="3513455"/>
              <a:ext cx="4641850" cy="576580"/>
            </a:xfrm>
            <a:prstGeom prst="homePlate">
              <a:avLst/>
            </a:prstGeom>
            <a:solidFill>
              <a:srgbClr val="C2044B"/>
            </a:solidFill>
            <a:ln w="25400" cap="flat" cmpd="sng" algn="ctr">
              <a:noFill/>
              <a:prstDash val="solid"/>
            </a:ln>
          </p:spPr>
          <p:txBody>
            <a:bodyPr rot="0" vertOverflow="overflow" horzOverflow="overflow" vert="horz" wrap="square" lIns="215900" tIns="0" rIns="0" bIns="0" numCol="1" spcCol="0" rtlCol="0" fromWordArt="0" anchor="ctr" anchorCtr="0" compatLnSpc="1">
              <a:noAutofit/>
            </a:bodyPr>
            <a:lstStyle/>
            <a:p>
              <a:pPr marL="285750" indent="-285750" algn="l" defTabSz="913765">
                <a:buFont typeface="Wingdings" panose="05000000000000000000" charset="0"/>
                <a:buChar char=""/>
              </a:pP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首页介绍</a:t>
              </a:r>
            </a:p>
          </p:txBody>
        </p:sp>
        <p:sp>
          <p:nvSpPr>
            <p:cNvPr id="54" name="五边形 53">
              <a:extLst>
                <a:ext uri="{FF2B5EF4-FFF2-40B4-BE49-F238E27FC236}">
                  <a16:creationId xmlns:a16="http://schemas.microsoft.com/office/drawing/2014/main" id="{4F57714F-81BC-754D-BE10-3B1C9B1C4D6C}"/>
                </a:ext>
              </a:extLst>
            </p:cNvPr>
            <p:cNvSpPr/>
            <p:nvPr/>
          </p:nvSpPr>
          <p:spPr>
            <a:xfrm>
              <a:off x="2138045" y="4193540"/>
              <a:ext cx="4641850" cy="576580"/>
            </a:xfrm>
            <a:prstGeom prst="homePlate">
              <a:avLst/>
            </a:prstGeom>
            <a:solidFill>
              <a:srgbClr val="C2044B"/>
            </a:solidFill>
            <a:ln w="25400" cap="flat" cmpd="sng" algn="ctr">
              <a:noFill/>
              <a:prstDash val="solid"/>
            </a:ln>
          </p:spPr>
          <p:txBody>
            <a:bodyPr rot="0" vertOverflow="overflow" horzOverflow="overflow" vert="horz" wrap="square" lIns="215900" tIns="0" rIns="0" bIns="0" numCol="1" spcCol="0" rtlCol="0" fromWordArt="0" anchor="ctr" anchorCtr="0" compatLnSpc="1">
              <a:noAutofit/>
            </a:bodyPr>
            <a:lstStyle/>
            <a:p>
              <a:pPr marL="285750" indent="-285750" algn="l" defTabSz="913765">
                <a:buFont typeface="Wingdings" panose="05000000000000000000" charset="0"/>
                <a:buChar char=""/>
              </a:pPr>
              <a:r>
                <a:rPr lang="zh-CN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个人设置</a:t>
              </a:r>
            </a:p>
          </p:txBody>
        </p:sp>
        <p:sp>
          <p:nvSpPr>
            <p:cNvPr id="55" name="五边形 54">
              <a:extLst>
                <a:ext uri="{FF2B5EF4-FFF2-40B4-BE49-F238E27FC236}">
                  <a16:creationId xmlns:a16="http://schemas.microsoft.com/office/drawing/2014/main" id="{2213B835-06C2-E645-9C9C-0917E97F6F9E}"/>
                </a:ext>
              </a:extLst>
            </p:cNvPr>
            <p:cNvSpPr/>
            <p:nvPr/>
          </p:nvSpPr>
          <p:spPr>
            <a:xfrm>
              <a:off x="2138045" y="4871720"/>
              <a:ext cx="4641850" cy="576580"/>
            </a:xfrm>
            <a:prstGeom prst="homePlate">
              <a:avLst/>
            </a:prstGeom>
            <a:solidFill>
              <a:srgbClr val="C2044B"/>
            </a:solidFill>
            <a:ln w="25400" cap="flat" cmpd="sng" algn="ctr">
              <a:noFill/>
              <a:prstDash val="solid"/>
            </a:ln>
          </p:spPr>
          <p:txBody>
            <a:bodyPr rot="0" vertOverflow="overflow" horzOverflow="overflow" vert="horz" wrap="square" lIns="215900" tIns="0" rIns="0" bIns="0" numCol="1" spcCol="0" rtlCol="0" fromWordArt="0" anchor="ctr" anchorCtr="0" compatLnSpc="1">
              <a:noAutofit/>
            </a:bodyPr>
            <a:lstStyle/>
            <a:p>
              <a:pPr marL="285750" indent="-285750" algn="l" defTabSz="913765">
                <a:buFont typeface="Wingdings" panose="05000000000000000000" charset="0"/>
                <a:buChar char=""/>
              </a:pP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系统退出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2D3BE79-1EAD-114A-A5FA-F6CB361C0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4355"/>
            <a:ext cx="9977437" cy="424732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手机端和</a:t>
            </a:r>
            <a:r>
              <a:rPr kumimoji="1"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</a:t>
            </a:r>
            <a:r>
              <a:rPr kumimoji="1"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端登录方式</a:t>
            </a:r>
            <a:endParaRPr kumimoji="1"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C09AA6E-5E16-CB43-BCDE-EC8DA5817367}"/>
              </a:ext>
            </a:extLst>
          </p:cNvPr>
          <p:cNvGrpSpPr/>
          <p:nvPr/>
        </p:nvGrpSpPr>
        <p:grpSpPr>
          <a:xfrm>
            <a:off x="642892" y="1073270"/>
            <a:ext cx="10736177" cy="4711460"/>
            <a:chOff x="458469" y="1510270"/>
            <a:chExt cx="10736177" cy="471146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0EE2CA5-67DB-DC4A-9754-D73A43B5AE2C}"/>
                </a:ext>
              </a:extLst>
            </p:cNvPr>
            <p:cNvSpPr txBox="1"/>
            <p:nvPr/>
          </p:nvSpPr>
          <p:spPr>
            <a:xfrm>
              <a:off x="458469" y="1510270"/>
              <a:ext cx="6712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PC</a:t>
              </a:r>
              <a:r>
                <a:rPr lang="zh-CN" alt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端登录：</a:t>
              </a:r>
              <a:r>
                <a:rPr lang="en-US" altLang="zh-CN" sz="2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https://</a:t>
              </a:r>
              <a:r>
                <a:rPr lang="en-US" altLang="zh-CN" sz="24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crm.xiaoshouyi.com</a:t>
              </a:r>
              <a:endPara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9211CEB-4F8E-AB40-AF8B-4D154D5884D0}"/>
                </a:ext>
              </a:extLst>
            </p:cNvPr>
            <p:cNvSpPr txBox="1"/>
            <p:nvPr/>
          </p:nvSpPr>
          <p:spPr>
            <a:xfrm>
              <a:off x="8991271" y="1571853"/>
              <a:ext cx="220337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手机</a:t>
              </a:r>
              <a:r>
                <a:rPr lang="en-US" altLang="zh-CN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APP</a:t>
              </a:r>
              <a:r>
                <a:rPr lang="zh-CN" alt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登录</a:t>
              </a: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4B6FB00-E710-FB4B-A503-8CE41433B1F3}"/>
                </a:ext>
              </a:extLst>
            </p:cNvPr>
            <p:cNvGrpSpPr/>
            <p:nvPr/>
          </p:nvGrpSpPr>
          <p:grpSpPr>
            <a:xfrm>
              <a:off x="598113" y="2243636"/>
              <a:ext cx="7136039" cy="3978094"/>
              <a:chOff x="244475" y="1711960"/>
              <a:chExt cx="7903210" cy="4970145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3BCBDA9A-E718-E64A-B873-E5E7EFCA78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4475" y="1711960"/>
                <a:ext cx="5607685" cy="4970145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4F003BFA-917D-6748-AB3D-4572386E9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64" t="717" r="927" b="-645"/>
              <a:stretch>
                <a:fillRect/>
              </a:stretch>
            </p:blipFill>
            <p:spPr>
              <a:xfrm>
                <a:off x="5852160" y="2258060"/>
                <a:ext cx="2295525" cy="4424045"/>
              </a:xfrm>
              <a:prstGeom prst="rect">
                <a:avLst/>
              </a:prstGeom>
            </p:spPr>
          </p:pic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62D72DC8-896D-BA4B-B689-DF11D94C5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081" y="3046799"/>
            <a:ext cx="25146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0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83F87CF-9B13-B042-8954-DB3B5A9DB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4355"/>
            <a:ext cx="9977437" cy="424732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系统登录与退出-设置密码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DEA7D33-FACD-3F4C-88E9-55DAFE734550}"/>
              </a:ext>
            </a:extLst>
          </p:cNvPr>
          <p:cNvGrpSpPr/>
          <p:nvPr/>
        </p:nvGrpSpPr>
        <p:grpSpPr>
          <a:xfrm>
            <a:off x="609179" y="1060270"/>
            <a:ext cx="10973641" cy="4737460"/>
            <a:chOff x="814705" y="1411605"/>
            <a:chExt cx="10973641" cy="473746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840EFE1-2A33-1E40-8202-556057216ABE}"/>
                </a:ext>
              </a:extLst>
            </p:cNvPr>
            <p:cNvSpPr txBox="1"/>
            <p:nvPr/>
          </p:nvSpPr>
          <p:spPr>
            <a:xfrm>
              <a:off x="3651610" y="1535173"/>
              <a:ext cx="8136736" cy="461389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fontAlgn="auto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  <a:sym typeface="+mn-ea"/>
                </a:rPr>
                <a:t>输入用户名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  <a:sym typeface="+mn-ea"/>
                </a:rPr>
                <a:t>和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  <a:sym typeface="+mn-ea"/>
                </a:rPr>
                <a:t>密码，点击“登陆”按钮</a:t>
              </a:r>
              <a:r>
                <a:rPr 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  <a:sym typeface="+mn-ea"/>
                </a:rPr>
                <a:t>。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  <a:sym typeface="+mn-ea"/>
              </a:endParaRPr>
            </a:p>
            <a:p>
              <a:pPr marL="285750" indent="-285750" fontAlgn="auto">
                <a:lnSpc>
                  <a:spcPct val="150000"/>
                </a:lnSpc>
                <a:buFont typeface="Wingdings" pitchFamily="2" charset="2"/>
                <a:buChar char="Ø"/>
              </a:pP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endParaRPr>
            </a:p>
            <a:p>
              <a:pPr marL="285750" indent="-285750" fontAlgn="auto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初次登录系统时，系统会提示：初次登录，请设置您的登录密码。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</a:pPr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endParaRPr>
            </a:p>
            <a:p>
              <a:pPr marL="285750" indent="-285750" fontAlgn="auto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按照密码策略设置新的登录密码，提交即可。密码修改成功后可以重新登录系统，进入到系统首页。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endParaRPr>
            </a:p>
            <a:p>
              <a:pPr marL="285750" indent="-285750" fontAlgn="auto">
                <a:lnSpc>
                  <a:spcPct val="150000"/>
                </a:lnSpc>
                <a:buFont typeface="Wingdings" pitchFamily="2" charset="2"/>
                <a:buChar char="Ø"/>
              </a:pP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备注：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如果没有收到初始化的手机验证码，可以联系丽星</a:t>
              </a:r>
              <a:r>
                <a: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CRM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系统管理员进行密码重置，重新发送验证码。或者，在页面直接点“忘记密码”，进行临时验证码登录及设置新的密码。也可以使用企业微信扫描二维码进行登录</a:t>
              </a:r>
              <a:r>
                <a: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CRM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系统。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0AA913A-261D-F149-AFAA-65658F5F9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705" y="1411605"/>
              <a:ext cx="2717165" cy="33204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036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FDC61AC-6830-3445-BEC2-4F5A03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4355"/>
            <a:ext cx="9977437" cy="424732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系统登录与退出-系统主界面</a:t>
            </a:r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53E759C-818E-B746-84DE-B453954240AF}"/>
              </a:ext>
            </a:extLst>
          </p:cNvPr>
          <p:cNvGrpSpPr/>
          <p:nvPr/>
        </p:nvGrpSpPr>
        <p:grpSpPr>
          <a:xfrm>
            <a:off x="1079818" y="953673"/>
            <a:ext cx="10032365" cy="4950654"/>
            <a:chOff x="814705" y="1285875"/>
            <a:chExt cx="10032365" cy="4950654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85BA42C-CF91-DA46-A642-9F65EA65A0A1}"/>
                </a:ext>
              </a:extLst>
            </p:cNvPr>
            <p:cNvSpPr txBox="1"/>
            <p:nvPr/>
          </p:nvSpPr>
          <p:spPr>
            <a:xfrm>
              <a:off x="814705" y="1285875"/>
              <a:ext cx="10032365" cy="8744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fontAlgn="auto">
                <a:lnSpc>
                  <a:spcPct val="150000"/>
                </a:lnSpc>
              </a:pPr>
              <a:r>
                <a:rPr 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    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登录成功后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进入</a:t>
              </a:r>
              <a:r>
                <a:rPr 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系统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主界面，左侧是</a:t>
              </a:r>
              <a:r>
                <a:rPr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“</a:t>
              </a:r>
              <a:r>
                <a:rPr 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功能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菜单栏</a:t>
              </a:r>
              <a:r>
                <a:rPr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”，右侧分别是“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新消息通知</a:t>
              </a:r>
              <a:r>
                <a:rPr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”，“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办公菜单栏</a:t>
              </a:r>
              <a:r>
                <a:rPr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”</a:t>
              </a:r>
              <a:r>
                <a:rPr 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 </a:t>
              </a:r>
              <a:r>
                <a:rPr 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。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E6336F2-104E-3F4F-BCBF-F803508C9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1631" y="2291546"/>
              <a:ext cx="1801822" cy="394498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5DAF5E5-5E4D-6B46-B79B-E913FC76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52075" y="2291546"/>
              <a:ext cx="5283200" cy="2095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810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A3E8CE-D786-0E4B-9DAC-8BE7BB508D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4355"/>
            <a:ext cx="9977437" cy="424732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系统登录与退出-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首页介绍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12EA7AD-92F0-8D41-A0CE-338D25F32875}"/>
              </a:ext>
            </a:extLst>
          </p:cNvPr>
          <p:cNvGrpSpPr/>
          <p:nvPr/>
        </p:nvGrpSpPr>
        <p:grpSpPr>
          <a:xfrm>
            <a:off x="1066975" y="1131609"/>
            <a:ext cx="10058051" cy="4594782"/>
            <a:chOff x="776963" y="1598573"/>
            <a:chExt cx="10058051" cy="459478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F06A7C7-B566-294A-A6DC-74FA92AF5D10}"/>
                </a:ext>
              </a:extLst>
            </p:cNvPr>
            <p:cNvSpPr txBox="1"/>
            <p:nvPr/>
          </p:nvSpPr>
          <p:spPr>
            <a:xfrm>
              <a:off x="3263152" y="1598573"/>
              <a:ext cx="7571862" cy="752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进入销售易</a:t>
              </a:r>
              <a:r>
                <a:rPr 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系统</a:t>
              </a:r>
              <a:r>
                <a:rPr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首页，左侧有</a:t>
              </a:r>
              <a:r>
                <a:rPr lang="en-US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CRM</a:t>
              </a:r>
              <a:r>
                <a:rPr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、统计分析</a:t>
              </a:r>
              <a:r>
                <a:rPr 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、智能分析云、等</a:t>
              </a:r>
              <a:r>
                <a:rPr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导航栏</a:t>
              </a: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注：应用的设置和授权需系统管理员在后台进行相关的设置。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02B8620-466C-104B-AA7A-08D460EA8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963" y="1714308"/>
              <a:ext cx="2045749" cy="4479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1403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59EC107-B951-1043-AA29-1FA4E832B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4355"/>
            <a:ext cx="9977437" cy="424732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系统登录与退出-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系统退出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6222D2-FC8A-AF49-8C8B-F23ABEDCCEDF}"/>
              </a:ext>
            </a:extLst>
          </p:cNvPr>
          <p:cNvGrpSpPr/>
          <p:nvPr/>
        </p:nvGrpSpPr>
        <p:grpSpPr>
          <a:xfrm>
            <a:off x="1963420" y="1060450"/>
            <a:ext cx="8265160" cy="4737100"/>
            <a:chOff x="1819504" y="1299255"/>
            <a:chExt cx="8265160" cy="47371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96F0AB9-B5C1-9F46-BE53-A11F4FB1EB89}"/>
                </a:ext>
              </a:extLst>
            </p:cNvPr>
            <p:cNvSpPr txBox="1"/>
            <p:nvPr/>
          </p:nvSpPr>
          <p:spPr>
            <a:xfrm>
              <a:off x="3518764" y="1299255"/>
              <a:ext cx="6565900" cy="874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    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点击左下角</a:t>
              </a:r>
              <a:r>
                <a:rPr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        </a:t>
              </a:r>
              <a:r>
                <a:rPr 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按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钮</a:t>
              </a:r>
              <a:r>
                <a:rPr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，</a:t>
              </a:r>
              <a:r>
                <a:rPr 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再</a:t>
              </a:r>
              <a:r>
                <a:rPr dirty="0" err="1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点击“退出登录</a:t>
              </a:r>
              <a:r>
                <a:rPr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”</a:t>
              </a:r>
              <a:r>
                <a:rPr 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宋体" panose="02010600030101010101" pitchFamily="2" charset="-122"/>
                </a:rPr>
                <a:t>按钮，系统退出到登录界面。</a:t>
              </a:r>
            </a:p>
          </p:txBody>
        </p:sp>
        <p:pic>
          <p:nvPicPr>
            <p:cNvPr id="4" name="图片 7">
              <a:extLst>
                <a:ext uri="{FF2B5EF4-FFF2-40B4-BE49-F238E27FC236}">
                  <a16:creationId xmlns:a16="http://schemas.microsoft.com/office/drawing/2014/main" id="{792B6953-2733-9649-ADA4-58F02FC3C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3996" y="1469758"/>
              <a:ext cx="371475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1029043-8F1F-F34B-B0A0-1EED88C8B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504" y="1299255"/>
              <a:ext cx="1612900" cy="4737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820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CEACCA9-E0E5-E243-80E6-71A9E6998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添加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菜单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7B8FA7-FD71-FC40-A98E-5D5C7FCE72A3}"/>
              </a:ext>
            </a:extLst>
          </p:cNvPr>
          <p:cNvGrpSpPr/>
          <p:nvPr/>
        </p:nvGrpSpPr>
        <p:grpSpPr>
          <a:xfrm>
            <a:off x="429834" y="1582341"/>
            <a:ext cx="11618004" cy="3693319"/>
            <a:chOff x="429834" y="1631950"/>
            <a:chExt cx="11618004" cy="369331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1AFE87-5841-8649-B650-6A7E9A8C2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9834" y="1631950"/>
              <a:ext cx="2474726" cy="3367055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7E4D698-48BA-CC47-8A01-3A2080FA5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4560" y="1631950"/>
              <a:ext cx="4249991" cy="3367055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C552FB0-9CD9-6D47-AA67-18129453F2AF}"/>
                </a:ext>
              </a:extLst>
            </p:cNvPr>
            <p:cNvSpPr txBox="1"/>
            <p:nvPr/>
          </p:nvSpPr>
          <p:spPr>
            <a:xfrm>
              <a:off x="7432678" y="1631950"/>
              <a:ext cx="4615160" cy="369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操作步骤：</a:t>
              </a:r>
              <a:endParaRPr kumimoji="1"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、鼠标移动到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CRM-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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点击“         ”；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2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、进入到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CRM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菜单管理；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3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、搜索需要添加到在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CRM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下级需要显示的菜单；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4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、打勾选中；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5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、点击保存。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342900" indent="-342900">
                <a:buFont typeface="+mj-lt"/>
                <a:buAutoNum type="arabicPeriod"/>
              </a:pPr>
              <a:endPara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09938F5-08E7-B845-BE2E-C715DC4E8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6308" y="2232114"/>
              <a:ext cx="558800" cy="393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331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EF60DE8-7132-8947-B1B6-F70E620D4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菜单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09619C5-3C23-3C44-AB3D-B9F78AAC5C58}"/>
              </a:ext>
            </a:extLst>
          </p:cNvPr>
          <p:cNvGrpSpPr/>
          <p:nvPr/>
        </p:nvGrpSpPr>
        <p:grpSpPr>
          <a:xfrm>
            <a:off x="1048757" y="1564234"/>
            <a:ext cx="10094486" cy="3729532"/>
            <a:chOff x="701694" y="1595738"/>
            <a:chExt cx="10094486" cy="37295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3A77C43-5990-FD40-BF39-AC53B9ECF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694" y="1631950"/>
              <a:ext cx="2474726" cy="3367055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CC62A76-3050-B847-AD48-678E7430432A}"/>
                </a:ext>
              </a:extLst>
            </p:cNvPr>
            <p:cNvSpPr txBox="1"/>
            <p:nvPr/>
          </p:nvSpPr>
          <p:spPr>
            <a:xfrm>
              <a:off x="6181020" y="1595738"/>
              <a:ext cx="4615160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操作步骤：</a:t>
              </a:r>
              <a:endParaRPr kumimoji="1"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、鼠标移动到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CRM-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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点击“         ”；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2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、进入到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CRM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菜单管理；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3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、在右侧的已选择菜单选项中，点击右侧的叉，可以删除对应的菜单；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endParaRPr>
            </a:p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5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、点击保存，保存后生效，已经移除的菜单将不在</a:t>
              </a:r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CRM</a:t>
              </a:r>
              <a:r>
                <a:rPr kumimoji="1"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Wingdings" pitchFamily="2" charset="2"/>
                </a:rPr>
                <a:t>的二级导航中显示。</a:t>
              </a:r>
              <a:endPara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342900" indent="-342900">
                <a:buFont typeface="+mj-lt"/>
                <a:buAutoNum type="arabicPeriod"/>
              </a:pPr>
              <a:endPara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46428B4-1556-8D43-9510-E50010DB4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4650" y="2195902"/>
              <a:ext cx="558800" cy="3937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30ED21C-DE81-5F42-8186-D083E8A81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3602" y="1631950"/>
              <a:ext cx="1924688" cy="3693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979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6" t="20621" r="1840" b="14051"/>
          <a:stretch>
            <a:fillRect/>
          </a:stretch>
        </p:blipFill>
        <p:spPr>
          <a:xfrm>
            <a:off x="6125250" y="2426147"/>
            <a:ext cx="6068447" cy="2066689"/>
          </a:xfrm>
          <a:prstGeom prst="rect">
            <a:avLst/>
          </a:prstGeom>
        </p:spPr>
      </p:pic>
      <p:sp>
        <p:nvSpPr>
          <p:cNvPr id="6565" name="Straight Connector 18"/>
          <p:cNvSpPr/>
          <p:nvPr/>
        </p:nvSpPr>
        <p:spPr>
          <a:xfrm>
            <a:off x="519033" y="4484370"/>
            <a:ext cx="5502519" cy="0"/>
          </a:xfrm>
          <a:prstGeom prst="line">
            <a:avLst/>
          </a:prstGeom>
          <a:ln w="6350">
            <a:solidFill>
              <a:srgbClr val="1C69D4"/>
            </a:solidFill>
            <a:prstDash val="solid"/>
            <a:miter/>
          </a:ln>
        </p:spPr>
        <p:txBody>
          <a:bodyPr lIns="45719" rIns="45719"/>
          <a:lstStyle/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dirty="0"/>
          </a:p>
        </p:txBody>
      </p:sp>
      <p:sp>
        <p:nvSpPr>
          <p:cNvPr id="6567" name="文本框 15"/>
          <p:cNvSpPr txBox="1"/>
          <p:nvPr/>
        </p:nvSpPr>
        <p:spPr>
          <a:xfrm>
            <a:off x="1302494" y="2914520"/>
            <a:ext cx="1535032" cy="1569656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/>
          <a:p>
            <a:pPr>
              <a:defRPr sz="5000">
                <a:solidFill>
                  <a:schemeClr val="accent1">
                    <a:satOff val="-33162"/>
                    <a:lumOff val="-1265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960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</a:rPr>
              <a:t>0</a:t>
            </a:r>
            <a:r>
              <a:rPr lang="en-US" altLang="zh-CN" sz="960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</a:rPr>
              <a:t>2</a:t>
            </a:r>
            <a:endParaRPr sz="9600" dirty="0">
              <a:solidFill>
                <a:srgbClr val="1C69D4"/>
              </a:solidFill>
              <a:latin typeface="微软雅黑" panose="020B0503020204020204" charset="-122"/>
              <a:ea typeface="微软雅黑" panose="020B0503020204020204" charset="-122"/>
              <a:cs typeface=".苹方-简" panose="02000000000000000000" pitchFamily="2" charset="-120"/>
            </a:endParaRPr>
          </a:p>
        </p:txBody>
      </p:sp>
      <p:sp>
        <p:nvSpPr>
          <p:cNvPr id="7" name="Straight Connector 18"/>
          <p:cNvSpPr/>
          <p:nvPr/>
        </p:nvSpPr>
        <p:spPr>
          <a:xfrm>
            <a:off x="519033" y="2441637"/>
            <a:ext cx="5502519" cy="0"/>
          </a:xfrm>
          <a:prstGeom prst="line">
            <a:avLst/>
          </a:prstGeom>
          <a:ln w="6350">
            <a:solidFill>
              <a:srgbClr val="1C69D4"/>
            </a:solidFill>
            <a:prstDash val="solid"/>
            <a:miter/>
          </a:ln>
        </p:spPr>
        <p:txBody>
          <a:bodyPr lIns="45719" rIns="45719"/>
          <a:lstStyle/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dirty="0"/>
          </a:p>
        </p:txBody>
      </p:sp>
      <p:sp>
        <p:nvSpPr>
          <p:cNvPr id="11" name="矩形 10"/>
          <p:cNvSpPr/>
          <p:nvPr/>
        </p:nvSpPr>
        <p:spPr>
          <a:xfrm>
            <a:off x="465405" y="3806660"/>
            <a:ext cx="837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5000">
                <a:solidFill>
                  <a:schemeClr val="accent1">
                    <a:satOff val="-33162"/>
                    <a:lumOff val="-1265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2000" dirty="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</a:rPr>
              <a:t>PART</a:t>
            </a:r>
          </a:p>
        </p:txBody>
      </p:sp>
      <p:sp>
        <p:nvSpPr>
          <p:cNvPr id="18" name="矩形 17"/>
          <p:cNvSpPr/>
          <p:nvPr/>
        </p:nvSpPr>
        <p:spPr>
          <a:xfrm>
            <a:off x="575467" y="3760941"/>
            <a:ext cx="514350" cy="45719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2441637"/>
            <a:ext cx="400050" cy="2042733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936927" y="3406960"/>
            <a:ext cx="28777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spc="300" dirty="0">
                <a:solidFill>
                  <a:srgbClr val="1C69D4"/>
                </a:solidFill>
                <a:latin typeface="微软雅黑" panose="020B0503020204020204" charset="-122"/>
                <a:ea typeface="微软雅黑" panose="020B0503020204020204" charset="-122"/>
                <a:cs typeface=".苹方-简" panose="02000000000000000000" pitchFamily="2" charset="-120"/>
                <a:sym typeface="+mn-ea"/>
              </a:rPr>
              <a:t>系统后台设置</a:t>
            </a:r>
            <a:endParaRPr lang="en-US" altLang="zh-CN" sz="3200" b="1" spc="300" dirty="0">
              <a:solidFill>
                <a:srgbClr val="1C69D4"/>
              </a:solidFill>
              <a:latin typeface="微软雅黑" panose="020B0503020204020204" charset="-122"/>
              <a:ea typeface="微软雅黑" panose="020B0503020204020204" charset="-122"/>
              <a:cs typeface=".苹方-简" panose="02000000000000000000" pitchFamily="2" charset="-12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15" b="24867"/>
          <a:stretch>
            <a:fillRect/>
          </a:stretch>
        </p:blipFill>
        <p:spPr>
          <a:xfrm>
            <a:off x="6123492" y="2426148"/>
            <a:ext cx="6068507" cy="205822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125251" y="2421914"/>
            <a:ext cx="6068446" cy="2066689"/>
          </a:xfrm>
          <a:prstGeom prst="rect">
            <a:avLst/>
          </a:prstGeom>
          <a:solidFill>
            <a:srgbClr val="1C69D4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5844" y="321966"/>
            <a:ext cx="9670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C69D4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系统后台设置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C69D4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90D0545B-52E1-2542-988F-C75E675BA14D}"/>
              </a:ext>
            </a:extLst>
          </p:cNvPr>
          <p:cNvSpPr/>
          <p:nvPr/>
        </p:nvSpPr>
        <p:spPr bwMode="auto">
          <a:xfrm>
            <a:off x="2885734" y="941603"/>
            <a:ext cx="891827" cy="112712"/>
          </a:xfrm>
          <a:custGeom>
            <a:avLst/>
            <a:gdLst/>
            <a:ahLst/>
            <a:cxnLst>
              <a:cxn ang="0">
                <a:pos x="111" y="0"/>
              </a:cxn>
              <a:cxn ang="0">
                <a:pos x="1045" y="0"/>
              </a:cxn>
              <a:cxn ang="0">
                <a:pos x="1156" y="142"/>
              </a:cxn>
              <a:cxn ang="0">
                <a:pos x="0" y="142"/>
              </a:cxn>
              <a:cxn ang="0">
                <a:pos x="111" y="0"/>
              </a:cxn>
            </a:cxnLst>
            <a:rect l="0" t="0" r="r" b="b"/>
            <a:pathLst>
              <a:path w="1156" h="142">
                <a:moveTo>
                  <a:pt x="111" y="0"/>
                </a:moveTo>
                <a:lnTo>
                  <a:pt x="1045" y="0"/>
                </a:lnTo>
                <a:lnTo>
                  <a:pt x="1156" y="142"/>
                </a:lnTo>
                <a:lnTo>
                  <a:pt x="0" y="142"/>
                </a:lnTo>
                <a:lnTo>
                  <a:pt x="111" y="0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/>
          <a:lstStyle/>
          <a:p>
            <a:endParaRPr lang="zh-CN" altLang="en-US" sz="1100"/>
          </a:p>
        </p:txBody>
      </p:sp>
      <p:sp>
        <p:nvSpPr>
          <p:cNvPr id="46" name="Freeform 10">
            <a:extLst>
              <a:ext uri="{FF2B5EF4-FFF2-40B4-BE49-F238E27FC236}">
                <a16:creationId xmlns:a16="http://schemas.microsoft.com/office/drawing/2014/main" id="{91654C02-C9B0-C84D-8227-FE5A7E7C3443}"/>
              </a:ext>
            </a:extLst>
          </p:cNvPr>
          <p:cNvSpPr/>
          <p:nvPr/>
        </p:nvSpPr>
        <p:spPr bwMode="auto">
          <a:xfrm>
            <a:off x="2750857" y="1025146"/>
            <a:ext cx="5351743" cy="615060"/>
          </a:xfrm>
          <a:custGeom>
            <a:avLst/>
            <a:gdLst/>
            <a:ahLst/>
            <a:cxnLst>
              <a:cxn ang="0">
                <a:pos x="97" y="0"/>
              </a:cxn>
              <a:cxn ang="0">
                <a:pos x="8475" y="0"/>
              </a:cxn>
              <a:cxn ang="0">
                <a:pos x="8676" y="202"/>
              </a:cxn>
              <a:cxn ang="0">
                <a:pos x="8676" y="788"/>
              </a:cxn>
              <a:cxn ang="0">
                <a:pos x="8579" y="884"/>
              </a:cxn>
              <a:cxn ang="0">
                <a:pos x="97" y="884"/>
              </a:cxn>
              <a:cxn ang="0">
                <a:pos x="0" y="788"/>
              </a:cxn>
              <a:cxn ang="0">
                <a:pos x="0" y="96"/>
              </a:cxn>
              <a:cxn ang="0">
                <a:pos x="97" y="0"/>
              </a:cxn>
            </a:cxnLst>
            <a:rect l="0" t="0" r="r" b="b"/>
            <a:pathLst>
              <a:path w="8676" h="884">
                <a:moveTo>
                  <a:pt x="97" y="0"/>
                </a:moveTo>
                <a:lnTo>
                  <a:pt x="8475" y="0"/>
                </a:lnTo>
                <a:lnTo>
                  <a:pt x="8676" y="202"/>
                </a:lnTo>
                <a:lnTo>
                  <a:pt x="8676" y="788"/>
                </a:lnTo>
                <a:cubicBezTo>
                  <a:pt x="8676" y="841"/>
                  <a:pt x="8632" y="884"/>
                  <a:pt x="8579" y="884"/>
                </a:cubicBezTo>
                <a:lnTo>
                  <a:pt x="97" y="884"/>
                </a:lnTo>
                <a:cubicBezTo>
                  <a:pt x="44" y="884"/>
                  <a:pt x="0" y="841"/>
                  <a:pt x="0" y="788"/>
                </a:cubicBezTo>
                <a:lnTo>
                  <a:pt x="0" y="96"/>
                </a:lnTo>
                <a:cubicBezTo>
                  <a:pt x="0" y="43"/>
                  <a:pt x="44" y="0"/>
                  <a:pt x="97" y="0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threePt" dir="t"/>
            </a:scene3d>
          </a:bodyPr>
          <a:lstStyle/>
          <a:p>
            <a:endParaRPr lang="zh-CN" altLang="en-US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sp>
        <p:nvSpPr>
          <p:cNvPr id="47" name="TextBox 105">
            <a:extLst>
              <a:ext uri="{FF2B5EF4-FFF2-40B4-BE49-F238E27FC236}">
                <a16:creationId xmlns:a16="http://schemas.microsoft.com/office/drawing/2014/main" id="{AD183722-0E1A-984A-8A44-F40C0E6E1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2759" y="1118380"/>
            <a:ext cx="264687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系统后台设置目录</a:t>
            </a:r>
          </a:p>
        </p:txBody>
      </p:sp>
      <p:grpSp>
        <p:nvGrpSpPr>
          <p:cNvPr id="48" name="组合 37">
            <a:extLst>
              <a:ext uri="{FF2B5EF4-FFF2-40B4-BE49-F238E27FC236}">
                <a16:creationId xmlns:a16="http://schemas.microsoft.com/office/drawing/2014/main" id="{2AB24F7F-BBDA-B64D-829B-F337558DBE36}"/>
              </a:ext>
            </a:extLst>
          </p:cNvPr>
          <p:cNvGrpSpPr/>
          <p:nvPr/>
        </p:nvGrpSpPr>
        <p:grpSpPr>
          <a:xfrm>
            <a:off x="3010088" y="1032410"/>
            <a:ext cx="653483" cy="658808"/>
            <a:chOff x="870517" y="1282882"/>
            <a:chExt cx="653483" cy="658808"/>
          </a:xfrm>
          <a:solidFill>
            <a:srgbClr val="FFC000"/>
          </a:solidFill>
        </p:grpSpPr>
        <p:sp>
          <p:nvSpPr>
            <p:cNvPr id="49" name="Rectangle 12">
              <a:extLst>
                <a:ext uri="{FF2B5EF4-FFF2-40B4-BE49-F238E27FC236}">
                  <a16:creationId xmlns:a16="http://schemas.microsoft.com/office/drawing/2014/main" id="{644CE38A-B158-EB42-86FE-D65D21A82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17" y="1282882"/>
              <a:ext cx="653483" cy="65880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50" name="TextBox 106">
              <a:extLst>
                <a:ext uri="{FF2B5EF4-FFF2-40B4-BE49-F238E27FC236}">
                  <a16:creationId xmlns:a16="http://schemas.microsoft.com/office/drawing/2014/main" id="{41881543-B0BD-F349-991C-115AE5330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425" y="1314457"/>
              <a:ext cx="437940" cy="5847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" name="五边形 50">
            <a:extLst>
              <a:ext uri="{FF2B5EF4-FFF2-40B4-BE49-F238E27FC236}">
                <a16:creationId xmlns:a16="http://schemas.microsoft.com/office/drawing/2014/main" id="{081A3928-7CA1-B144-AAE0-CA968645D0AE}"/>
              </a:ext>
            </a:extLst>
          </p:cNvPr>
          <p:cNvSpPr/>
          <p:nvPr/>
        </p:nvSpPr>
        <p:spPr>
          <a:xfrm>
            <a:off x="3209664" y="1981938"/>
            <a:ext cx="4641850" cy="576580"/>
          </a:xfrm>
          <a:prstGeom prst="homePlate">
            <a:avLst/>
          </a:prstGeom>
          <a:solidFill>
            <a:srgbClr val="C2044B"/>
          </a:solidFill>
          <a:ln w="25400" cap="flat" cmpd="sng" algn="ctr">
            <a:noFill/>
            <a:prstDash val="solid"/>
          </a:ln>
        </p:spPr>
        <p:txBody>
          <a:bodyPr rot="0" vertOverflow="overflow" horzOverflow="overflow" vert="horz" wrap="square" lIns="215900" tIns="0" rIns="0" bIns="0" numCol="1" spcCol="0" rtlCol="0" fromWordArt="0" anchor="ctr" anchorCtr="0" compatLnSpc="1">
            <a:noAutofit/>
          </a:bodyPr>
          <a:lstStyle/>
          <a:p>
            <a:pPr marL="285750" indent="-285750" algn="l" defTabSz="913765">
              <a:buFont typeface="Wingdings" panose="05000000000000000000" charset="0"/>
              <a:buChar char=""/>
            </a:pP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用户新建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授权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角色职能分配</a:t>
            </a:r>
          </a:p>
        </p:txBody>
      </p:sp>
      <p:sp>
        <p:nvSpPr>
          <p:cNvPr id="52" name="五边形 51">
            <a:extLst>
              <a:ext uri="{FF2B5EF4-FFF2-40B4-BE49-F238E27FC236}">
                <a16:creationId xmlns:a16="http://schemas.microsoft.com/office/drawing/2014/main" id="{0FB1B569-4279-C648-B181-BB2AF31EE4B9}"/>
              </a:ext>
            </a:extLst>
          </p:cNvPr>
          <p:cNvSpPr/>
          <p:nvPr/>
        </p:nvSpPr>
        <p:spPr>
          <a:xfrm>
            <a:off x="3209664" y="2698218"/>
            <a:ext cx="4641850" cy="576580"/>
          </a:xfrm>
          <a:prstGeom prst="homePlate">
            <a:avLst/>
          </a:prstGeom>
          <a:solidFill>
            <a:srgbClr val="C2044B"/>
          </a:solidFill>
          <a:ln w="25400" cap="flat" cmpd="sng" algn="ctr">
            <a:noFill/>
            <a:prstDash val="solid"/>
          </a:ln>
        </p:spPr>
        <p:txBody>
          <a:bodyPr rot="0" vertOverflow="overflow" horzOverflow="overflow" vert="horz" wrap="square" lIns="215900" tIns="0" rIns="0" bIns="0" numCol="1" spcCol="0" rtlCol="0" fromWordArt="0" anchor="ctr" anchorCtr="0" compatLnSpc="1">
            <a:noAutofit/>
          </a:bodyPr>
          <a:lstStyle/>
          <a:p>
            <a:pPr marL="285750" indent="-285750" algn="l" defTabSz="913765">
              <a:buFont typeface="Wingdings" panose="05000000000000000000" charset="0"/>
              <a:buChar char=""/>
            </a:pP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角色与权限管理</a:t>
            </a:r>
          </a:p>
        </p:txBody>
      </p:sp>
      <p:sp>
        <p:nvSpPr>
          <p:cNvPr id="53" name="五边形 52">
            <a:extLst>
              <a:ext uri="{FF2B5EF4-FFF2-40B4-BE49-F238E27FC236}">
                <a16:creationId xmlns:a16="http://schemas.microsoft.com/office/drawing/2014/main" id="{0660F9BE-9306-E94E-B66F-87C2F01AB88B}"/>
              </a:ext>
            </a:extLst>
          </p:cNvPr>
          <p:cNvSpPr/>
          <p:nvPr/>
        </p:nvSpPr>
        <p:spPr>
          <a:xfrm>
            <a:off x="3209664" y="3397353"/>
            <a:ext cx="4641850" cy="576580"/>
          </a:xfrm>
          <a:prstGeom prst="homePlate">
            <a:avLst/>
          </a:prstGeom>
          <a:solidFill>
            <a:srgbClr val="C2044B"/>
          </a:solidFill>
          <a:ln w="25400" cap="flat" cmpd="sng" algn="ctr">
            <a:noFill/>
            <a:prstDash val="solid"/>
          </a:ln>
        </p:spPr>
        <p:txBody>
          <a:bodyPr rot="0" vertOverflow="overflow" horzOverflow="overflow" vert="horz" wrap="square" lIns="215900" tIns="0" rIns="0" bIns="0" numCol="1" spcCol="0" rtlCol="0" fromWordArt="0" anchor="ctr" anchorCtr="0" compatLnSpc="1">
            <a:noAutofit/>
          </a:bodyPr>
          <a:lstStyle/>
          <a:p>
            <a:pPr marL="285750" indent="-285750" algn="l" defTabSz="913765">
              <a:buFont typeface="Wingdings" panose="05000000000000000000" charset="0"/>
              <a:buChar char=""/>
            </a:pP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标准实体与字段维护</a:t>
            </a:r>
          </a:p>
        </p:txBody>
      </p:sp>
      <p:sp>
        <p:nvSpPr>
          <p:cNvPr id="54" name="五边形 53">
            <a:extLst>
              <a:ext uri="{FF2B5EF4-FFF2-40B4-BE49-F238E27FC236}">
                <a16:creationId xmlns:a16="http://schemas.microsoft.com/office/drawing/2014/main" id="{4F57714F-81BC-754D-BE10-3B1C9B1C4D6C}"/>
              </a:ext>
            </a:extLst>
          </p:cNvPr>
          <p:cNvSpPr/>
          <p:nvPr/>
        </p:nvSpPr>
        <p:spPr>
          <a:xfrm>
            <a:off x="3209664" y="4077438"/>
            <a:ext cx="4641850" cy="576580"/>
          </a:xfrm>
          <a:prstGeom prst="homePlate">
            <a:avLst/>
          </a:prstGeom>
          <a:solidFill>
            <a:srgbClr val="C2044B"/>
          </a:solidFill>
          <a:ln w="25400" cap="flat" cmpd="sng" algn="ctr">
            <a:noFill/>
            <a:prstDash val="solid"/>
          </a:ln>
        </p:spPr>
        <p:txBody>
          <a:bodyPr rot="0" vertOverflow="overflow" horzOverflow="overflow" vert="horz" wrap="square" lIns="215900" tIns="0" rIns="0" bIns="0" numCol="1" spcCol="0" rtlCol="0" fromWordArt="0" anchor="ctr" anchorCtr="0" compatLnSpc="1">
            <a:noAutofit/>
          </a:bodyPr>
          <a:lstStyle/>
          <a:p>
            <a:pPr marL="285750" indent="-285750" algn="l" defTabSz="913765">
              <a:buFont typeface="Wingdings" panose="05000000000000000000" charset="0"/>
              <a:buChar char=""/>
            </a:pP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自定义实体与字段维护</a:t>
            </a:r>
            <a:endParaRPr lang="zh-CN" dirty="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五边形 54">
            <a:extLst>
              <a:ext uri="{FF2B5EF4-FFF2-40B4-BE49-F238E27FC236}">
                <a16:creationId xmlns:a16="http://schemas.microsoft.com/office/drawing/2014/main" id="{2213B835-06C2-E645-9C9C-0917E97F6F9E}"/>
              </a:ext>
            </a:extLst>
          </p:cNvPr>
          <p:cNvSpPr/>
          <p:nvPr/>
        </p:nvSpPr>
        <p:spPr>
          <a:xfrm>
            <a:off x="3209664" y="4755618"/>
            <a:ext cx="4641850" cy="576580"/>
          </a:xfrm>
          <a:prstGeom prst="homePlate">
            <a:avLst/>
          </a:prstGeom>
          <a:solidFill>
            <a:srgbClr val="C2044B"/>
          </a:solidFill>
          <a:ln w="25400" cap="flat" cmpd="sng" algn="ctr">
            <a:noFill/>
            <a:prstDash val="solid"/>
          </a:ln>
        </p:spPr>
        <p:txBody>
          <a:bodyPr rot="0" vertOverflow="overflow" horzOverflow="overflow" vert="horz" wrap="square" lIns="215900" tIns="0" rIns="0" bIns="0" numCol="1" spcCol="0" rtlCol="0" fromWordArt="0" anchor="ctr" anchorCtr="0" compatLnSpc="1">
            <a:noAutofit/>
          </a:bodyPr>
          <a:lstStyle/>
          <a:p>
            <a:pPr marL="285750" indent="-285750" algn="l" defTabSz="913765">
              <a:buFont typeface="Wingdings" panose="05000000000000000000" charset="0"/>
              <a:buChar char=""/>
            </a:pP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审批流程新建与维护</a:t>
            </a:r>
          </a:p>
        </p:txBody>
      </p:sp>
      <p:sp>
        <p:nvSpPr>
          <p:cNvPr id="15" name="五边形 14">
            <a:extLst>
              <a:ext uri="{FF2B5EF4-FFF2-40B4-BE49-F238E27FC236}">
                <a16:creationId xmlns:a16="http://schemas.microsoft.com/office/drawing/2014/main" id="{E997165E-D4B2-6E4B-B55F-DFD887E41795}"/>
              </a:ext>
            </a:extLst>
          </p:cNvPr>
          <p:cNvSpPr/>
          <p:nvPr/>
        </p:nvSpPr>
        <p:spPr>
          <a:xfrm>
            <a:off x="3209664" y="5433798"/>
            <a:ext cx="4641850" cy="576580"/>
          </a:xfrm>
          <a:prstGeom prst="homePlate">
            <a:avLst/>
          </a:prstGeom>
          <a:solidFill>
            <a:srgbClr val="C2044B"/>
          </a:solidFill>
          <a:ln w="25400" cap="flat" cmpd="sng" algn="ctr">
            <a:noFill/>
            <a:prstDash val="solid"/>
          </a:ln>
        </p:spPr>
        <p:txBody>
          <a:bodyPr rot="0" vertOverflow="overflow" horzOverflow="overflow" vert="horz" wrap="square" lIns="215900" tIns="0" rIns="0" bIns="0" numCol="1" spcCol="0" rtlCol="0" fromWordArt="0" anchor="ctr" anchorCtr="0" compatLnSpc="1">
            <a:noAutofit/>
          </a:bodyPr>
          <a:lstStyle/>
          <a:p>
            <a:pPr marL="285750" indent="-285750" algn="l" defTabSz="913765">
              <a:buFont typeface="Wingdings" panose="05000000000000000000" charset="0"/>
              <a:buChar char=""/>
            </a:pP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数据导入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452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EF60DE8-7132-8947-B1B6-F70E620D4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7895"/>
            <a:ext cx="9977437" cy="424732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系统设置的入口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8DB111-44EF-D349-BFE4-D0454B661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47" y="1091554"/>
            <a:ext cx="1543754" cy="50488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FA0C56E-B2CA-2F4F-8BCF-57D42ACD79C0}"/>
              </a:ext>
            </a:extLst>
          </p:cNvPr>
          <p:cNvSpPr txBox="1"/>
          <p:nvPr/>
        </p:nvSpPr>
        <p:spPr>
          <a:xfrm>
            <a:off x="3086100" y="1091554"/>
            <a:ext cx="80461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操作路径：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CRM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系统首页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设置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系统设置。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备注：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如果你的账号没有出现“系统设置”这个菜单，请联系管理员开通对应的权限。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6612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5FBA42D-B180-2949-AEE0-6E5083B588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70595"/>
            <a:ext cx="9977437" cy="424732"/>
          </a:xfrm>
        </p:spPr>
        <p:txBody>
          <a:bodyPr/>
          <a:lstStyle/>
          <a:p>
            <a:r>
              <a:rPr kumimoji="1" lang="zh-CN" altLang="en-US" dirty="0"/>
              <a:t>新建用户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8E9BF3-1E59-734F-A20E-F84E1A26FDF1}"/>
              </a:ext>
            </a:extLst>
          </p:cNvPr>
          <p:cNvSpPr txBox="1"/>
          <p:nvPr/>
        </p:nvSpPr>
        <p:spPr>
          <a:xfrm>
            <a:off x="7136026" y="3860816"/>
            <a:ext cx="50559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、系统设置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用户和权限管理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部门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新建用户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、填写登录手机或邮箱、姓名、选择部门、填写直属上级，性别等资料。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、点击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即可 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9AE046-CEB3-5C41-A671-0532796B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865" y="795327"/>
            <a:ext cx="8509000" cy="23241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BE4D221-AAE7-514A-8A0F-C90147F23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35" y="1220059"/>
            <a:ext cx="6888892" cy="467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24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415CBCB-02FC-AA41-B78B-07F32ED46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编辑用户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033697-DAA5-A643-B8D8-D98A3FA7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00" y="969584"/>
            <a:ext cx="10224600" cy="39023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E4999EF-5508-C745-929E-C92AA9FBE15F}"/>
              </a:ext>
            </a:extLst>
          </p:cNvPr>
          <p:cNvSpPr txBox="1"/>
          <p:nvPr/>
        </p:nvSpPr>
        <p:spPr>
          <a:xfrm>
            <a:off x="983700" y="5071555"/>
            <a:ext cx="105677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用户和权限管理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部门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勾选某个要编辑的用户；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、点击上方的“编辑”，在编辑弹出框中编辑用户的信息，并点击保存即可。</a:t>
            </a:r>
          </a:p>
        </p:txBody>
      </p:sp>
    </p:spTree>
    <p:extLst>
      <p:ext uri="{BB962C8B-B14F-4D97-AF65-F5344CB8AC3E}">
        <p14:creationId xmlns:p14="http://schemas.microsoft.com/office/powerpoint/2010/main" val="32758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CD69579-B9D8-F943-9B3C-92CFD4CC1B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用户授权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8C6F72-3BAC-0040-82A9-09F895993DAF}"/>
              </a:ext>
            </a:extLst>
          </p:cNvPr>
          <p:cNvSpPr txBox="1"/>
          <p:nvPr/>
        </p:nvSpPr>
        <p:spPr>
          <a:xfrm>
            <a:off x="579438" y="3721102"/>
            <a:ext cx="7269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用户和权限管理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部门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勾选某个要授权的用户；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     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(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支持批量用户授权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)</a:t>
            </a: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、点击上方的“用户授权”，弹出分配许可的页面；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、在左边选择要分配给用户的许可，点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”&gt;”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（向右）；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、如果要回收某个用户的许可，在右边选中要回收的许可，点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”&lt;”(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向左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、点击“确认”即可。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1339D1-269A-9C4C-BAD6-E44A7454E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6" y="1143000"/>
            <a:ext cx="9664700" cy="1828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6BB7B3-324D-E146-8658-4EB44CAB4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15" y="1143000"/>
            <a:ext cx="5522159" cy="371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47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1ACCEA4-627A-F542-B13A-B7DC74FD2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分配角色和职能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6B0238-F6DE-D74E-A91D-B3234249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8" y="952500"/>
            <a:ext cx="6324600" cy="23749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9AA8355-BC1E-2340-834F-3B98619862C9}"/>
              </a:ext>
            </a:extLst>
          </p:cNvPr>
          <p:cNvSpPr txBox="1"/>
          <p:nvPr/>
        </p:nvSpPr>
        <p:spPr>
          <a:xfrm>
            <a:off x="579438" y="3695918"/>
            <a:ext cx="92630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用户和权限管理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部门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用户管理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勾选某个要分配的用户；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     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(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支持批量分配角色和职能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)</a:t>
            </a: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、点击上方的“分配角色和职能”；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、在弹出的页面中，勾选这个用户的“角色”和“职能”。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endParaRPr kumimoji="1"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角色和职能，根据实际情况去选择，不能乱选。不同的角色和职能代表了不同的权限。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控制用户操作 数据的范围 ，职能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控制用户对功 能模块的操作权限。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96B202-A665-9E42-B7D8-08E840481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119" y="952500"/>
            <a:ext cx="5133181" cy="395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52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4DA086D-EC1C-8341-B17E-28B6C3CB94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7895"/>
            <a:ext cx="9977437" cy="424732"/>
          </a:xfrm>
        </p:spPr>
        <p:txBody>
          <a:bodyPr/>
          <a:lstStyle/>
          <a:p>
            <a:r>
              <a:rPr kumimoji="1" lang="zh-CN" altLang="en-US" dirty="0"/>
              <a:t>角色管理与维护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65E12B-0756-6548-9A17-F3931CD39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8" y="1187450"/>
            <a:ext cx="5436951" cy="44831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11B024C-2E59-D14A-81CD-20A18BC658A5}"/>
              </a:ext>
            </a:extLst>
          </p:cNvPr>
          <p:cNvSpPr/>
          <p:nvPr/>
        </p:nvSpPr>
        <p:spPr>
          <a:xfrm>
            <a:off x="6265862" y="1280636"/>
            <a:ext cx="5346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用户和权限管理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角色管理。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2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、针对每个角色进行角色对应的数据权限的维护。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89442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947E29-CC17-6D44-9143-FCC6CEE166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职能管理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669C65-BB23-6C45-BDF3-EC5526D2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8" y="1144226"/>
            <a:ext cx="4175622" cy="476127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9648111-8558-564F-8A2B-0D7AA989AE1F}"/>
              </a:ext>
            </a:extLst>
          </p:cNvPr>
          <p:cNvSpPr/>
          <p:nvPr/>
        </p:nvSpPr>
        <p:spPr>
          <a:xfrm>
            <a:off x="5059362" y="1306036"/>
            <a:ext cx="5346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用户和权限管理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职能管理。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2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、然后维护每种职能的功能权限，然后点击保存。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80361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58C33F-4C19-3F48-9017-599078560D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7895"/>
            <a:ext cx="9977437" cy="424732"/>
          </a:xfrm>
        </p:spPr>
        <p:txBody>
          <a:bodyPr/>
          <a:lstStyle/>
          <a:p>
            <a:r>
              <a:rPr kumimoji="1" lang="zh-CN" altLang="en-US" dirty="0"/>
              <a:t>标准实体与字段维护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F78B89-F7B8-5C47-8600-E7BDCA34A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8" y="1171356"/>
            <a:ext cx="7390534" cy="33927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5134453-3E91-A04E-958F-685B055FB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25" y="1171356"/>
            <a:ext cx="6095999" cy="348342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A4627C-EE38-0149-9A71-08DB2850E43C}"/>
              </a:ext>
            </a:extLst>
          </p:cNvPr>
          <p:cNvSpPr/>
          <p:nvPr/>
        </p:nvSpPr>
        <p:spPr>
          <a:xfrm>
            <a:off x="338138" y="4654784"/>
            <a:ext cx="106346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、系统设置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平台工具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标准对象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2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、点击进入对应的实体，然后可以进行字段的维护，如字段新增，修改，删除，启用或禁用。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3652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1CE40C9-95D1-CD48-8A7D-81EA1B6827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57895"/>
            <a:ext cx="9977437" cy="424732"/>
          </a:xfrm>
        </p:spPr>
        <p:txBody>
          <a:bodyPr/>
          <a:lstStyle/>
          <a:p>
            <a:r>
              <a:rPr kumimoji="1" lang="zh-CN" altLang="en-US" dirty="0"/>
              <a:t>自定义实体与字段维护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9F4383-6435-1F4B-A2A4-86645712F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1" y="969640"/>
            <a:ext cx="9207500" cy="37074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9118298-77D5-F642-A544-BB5E200C41A9}"/>
              </a:ext>
            </a:extLst>
          </p:cNvPr>
          <p:cNvSpPr/>
          <p:nvPr/>
        </p:nvSpPr>
        <p:spPr>
          <a:xfrm>
            <a:off x="985838" y="4718668"/>
            <a:ext cx="106346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、系统设置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平台工具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自定义对象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2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、点击进入对应的自定义实体，然后可以进行字段的维护，如字段新增，修改，删除，启用或禁用。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9712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4D949FD-6E95-BC43-B84E-7867C6CF87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新建审批流程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7DAAC3-F960-5544-98FF-DF39CA6E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7" y="1035729"/>
            <a:ext cx="4351823" cy="27603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A3CA85-3B04-7E45-986F-7B5953826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542" y="1035728"/>
            <a:ext cx="9024719" cy="27488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EEB9ECB-C8AF-AC4C-A235-74470A85C8EE}"/>
              </a:ext>
            </a:extLst>
          </p:cNvPr>
          <p:cNvSpPr/>
          <p:nvPr/>
        </p:nvSpPr>
        <p:spPr>
          <a:xfrm>
            <a:off x="232876" y="4050401"/>
            <a:ext cx="1162892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、流程中心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审批流程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添加审批流程；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2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、填写流程名称、业务对象、序号、选择是否阶段流程；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3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、进入到流程设计页面，根据组织的审批流程，从左边的流程元素选择合适的组件元素到画布中，并连线，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设计好对应的网关判断条件，每个节点的审批人；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4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、检测流程是否设计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OK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 ，设计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OK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后点击保存，然后点击启用；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5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、在对应的业务对象模块新建数据，测试审批流程是否符合需要。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61221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D46CBF3-AA5E-D046-9109-0B403E3BB4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70595"/>
            <a:ext cx="9977437" cy="424732"/>
          </a:xfrm>
        </p:spPr>
        <p:txBody>
          <a:bodyPr/>
          <a:lstStyle/>
          <a:p>
            <a:r>
              <a:rPr kumimoji="1" lang="zh-CN" altLang="en-US" dirty="0"/>
              <a:t>审批流程维护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54FCE7-DB81-C345-B090-FBD7AD2BA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998528"/>
            <a:ext cx="8356600" cy="306408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88DFB01-5396-E84E-BA36-9FDC26BA86D6}"/>
              </a:ext>
            </a:extLst>
          </p:cNvPr>
          <p:cNvSpPr/>
          <p:nvPr/>
        </p:nvSpPr>
        <p:spPr>
          <a:xfrm>
            <a:off x="973138" y="4382144"/>
            <a:ext cx="106346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、系统设置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流程中心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审批流程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---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进入到审批流程列表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2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、点击要维护的审批流程名称，进入流程的配置页面；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94054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D46CBF3-AA5E-D046-9109-0B403E3BB4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8" y="370595"/>
            <a:ext cx="9977437" cy="424732"/>
          </a:xfrm>
        </p:spPr>
        <p:txBody>
          <a:bodyPr/>
          <a:lstStyle/>
          <a:p>
            <a:r>
              <a:rPr kumimoji="1" lang="zh-CN" altLang="en-US" dirty="0"/>
              <a:t>审批流程维护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DFB01-5396-E84E-BA36-9FDC26BA86D6}"/>
              </a:ext>
            </a:extLst>
          </p:cNvPr>
          <p:cNvSpPr/>
          <p:nvPr/>
        </p:nvSpPr>
        <p:spPr>
          <a:xfrm>
            <a:off x="304800" y="4796443"/>
            <a:ext cx="7950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启动的流程可以维护的内容：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、流程的标题，基本信息，初始条件配置；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2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、流程分支的属性，判断条件；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3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、审批人维护；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  <a:p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4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、审批编辑，触发事件等。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Wingdings" pitchFamily="2" charset="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F30F47-01AC-6E48-8354-D51F51CB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96927"/>
            <a:ext cx="8201540" cy="37127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02A08D-7873-F648-A449-EB39D9452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7930"/>
            <a:ext cx="5486400" cy="3013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7E3A73D-BFD9-7144-ADC1-0542C652B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113" y="896927"/>
            <a:ext cx="2653587" cy="46540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A4B667-B89C-274B-89D4-6DFAF824E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29" y="3765315"/>
            <a:ext cx="3296471" cy="25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24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19820A7-8D25-1843-8D8A-3C1051092A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数据导入</a:t>
            </a:r>
            <a:r>
              <a:rPr kumimoji="1" lang="en-US" altLang="zh-CN" dirty="0"/>
              <a:t>-</a:t>
            </a:r>
            <a:r>
              <a:rPr kumimoji="1" lang="zh-CN" altLang="en-US" dirty="0"/>
              <a:t>选择导入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83F7167-C767-2740-9606-E37AA9958F71}"/>
              </a:ext>
            </a:extLst>
          </p:cNvPr>
          <p:cNvGrpSpPr/>
          <p:nvPr/>
        </p:nvGrpSpPr>
        <p:grpSpPr>
          <a:xfrm>
            <a:off x="2112420" y="1289671"/>
            <a:ext cx="7529658" cy="4758198"/>
            <a:chOff x="1803327" y="1044973"/>
            <a:chExt cx="7529658" cy="475819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25C24E1-A980-F541-8E3A-50F7E5106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3327" y="1493786"/>
              <a:ext cx="7529658" cy="4309385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6AEB217-FA25-A440-9D59-BD359DBEB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3327" y="1044973"/>
              <a:ext cx="7529658" cy="3389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3199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3935947-CFF0-4346-8A3D-DCF9B29712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数据导入</a:t>
            </a:r>
            <a:r>
              <a:rPr kumimoji="1" lang="en-US" altLang="zh-CN" dirty="0"/>
              <a:t>-</a:t>
            </a:r>
            <a:r>
              <a:rPr kumimoji="1" lang="zh-CN" altLang="en-US" dirty="0"/>
              <a:t>编辑映射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FF6D2E-2681-2644-93B7-050E4A4A1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62" y="1277687"/>
            <a:ext cx="9684913" cy="4929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666DD1F-3E25-4F43-9DA8-E51992785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74" y="1770632"/>
            <a:ext cx="9809901" cy="19788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FDC687-EB3E-6B4E-A633-B528DD53F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785" y="4041118"/>
            <a:ext cx="2990090" cy="40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63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775B31-D143-E543-B526-0A820B33BF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数据导入</a:t>
            </a:r>
            <a:r>
              <a:rPr kumimoji="1" lang="en-US" altLang="zh-CN" dirty="0"/>
              <a:t>-</a:t>
            </a:r>
            <a:r>
              <a:rPr kumimoji="1" lang="zh-CN" altLang="en-US" dirty="0"/>
              <a:t>开始导入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449FAC-CF65-9B4C-8FAB-BE59DD17EAFC}"/>
              </a:ext>
            </a:extLst>
          </p:cNvPr>
          <p:cNvGrpSpPr/>
          <p:nvPr/>
        </p:nvGrpSpPr>
        <p:grpSpPr>
          <a:xfrm>
            <a:off x="1596979" y="1881285"/>
            <a:ext cx="8792470" cy="3530907"/>
            <a:chOff x="1764405" y="1095674"/>
            <a:chExt cx="8792470" cy="353090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E70504C-77AE-6549-A6B2-9F1597C4C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4405" y="1095674"/>
              <a:ext cx="7959144" cy="2650434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A4098A7-2D8B-5143-97F5-B6CCBF85A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0757" y="4071855"/>
              <a:ext cx="8706118" cy="554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2511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6530418-6629-F14C-8F1D-9FD6FC1B46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数据导入</a:t>
            </a:r>
            <a:r>
              <a:rPr kumimoji="1" lang="en-US" altLang="zh-CN" dirty="0"/>
              <a:t>-</a:t>
            </a:r>
            <a:r>
              <a:rPr kumimoji="1" lang="zh-CN" altLang="en-US" dirty="0"/>
              <a:t>导入结果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667E949-030D-4D43-B599-B42B25209B00}"/>
              </a:ext>
            </a:extLst>
          </p:cNvPr>
          <p:cNvGrpSpPr/>
          <p:nvPr/>
        </p:nvGrpSpPr>
        <p:grpSpPr>
          <a:xfrm>
            <a:off x="1116772" y="1295528"/>
            <a:ext cx="9105957" cy="4276745"/>
            <a:chOff x="1116772" y="1295528"/>
            <a:chExt cx="9105957" cy="427674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C1850B6-5D03-D743-B699-8CD2F8129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6772" y="1295528"/>
              <a:ext cx="8860665" cy="56370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1484D8B-C28B-984A-9A1E-0F667E2B9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4563" y="1846206"/>
              <a:ext cx="6461527" cy="315256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A8D8F51-5DD0-8E47-8B59-498CA9B86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6773" y="4855334"/>
              <a:ext cx="9105956" cy="716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92434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0948;#404446;#404144;#400796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0948;#404446;#404144;#400796;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1C69D4"/>
      </a:dk2>
      <a:lt2>
        <a:srgbClr val="FFC700"/>
      </a:lt2>
      <a:accent1>
        <a:srgbClr val="17BBFF"/>
      </a:accent1>
      <a:accent2>
        <a:srgbClr val="2CC09F"/>
      </a:accent2>
      <a:accent3>
        <a:srgbClr val="87C94E"/>
      </a:accent3>
      <a:accent4>
        <a:srgbClr val="7765F3"/>
      </a:accent4>
      <a:accent5>
        <a:srgbClr val="FF8626"/>
      </a:accent5>
      <a:accent6>
        <a:srgbClr val="FA6470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1187</Words>
  <Application>Microsoft Office PowerPoint</Application>
  <PresentationFormat>宽屏</PresentationFormat>
  <Paragraphs>161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等线</vt:lpstr>
      <vt:lpstr>苹方 细体</vt:lpstr>
      <vt:lpstr>微软雅黑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IT</dc:creator>
  <cp:lastModifiedBy>RKHD</cp:lastModifiedBy>
  <cp:revision>265</cp:revision>
  <dcterms:created xsi:type="dcterms:W3CDTF">2020-11-03T08:41:34Z</dcterms:created>
  <dcterms:modified xsi:type="dcterms:W3CDTF">2021-11-30T09:54:06Z</dcterms:modified>
</cp:coreProperties>
</file>