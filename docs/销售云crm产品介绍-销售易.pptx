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emf" ContentType="image/x-emf"/>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1.svg" ContentType="image/svg+xml"/>
  <Override PartName="/ppt/media/image33.svg" ContentType="image/svg+xml"/>
  <Override PartName="/ppt/media/image3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8" r:id="rId3"/>
  </p:sldMasterIdLst>
  <p:notesMasterIdLst>
    <p:notesMasterId r:id="rId5"/>
  </p:notesMasterIdLst>
  <p:handoutMasterIdLst>
    <p:handoutMasterId r:id="rId36"/>
  </p:handoutMasterIdLst>
  <p:sldIdLst>
    <p:sldId id="12132" r:id="rId4"/>
    <p:sldId id="12133" r:id="rId6"/>
    <p:sldId id="16669356" r:id="rId7"/>
    <p:sldId id="12009" r:id="rId8"/>
    <p:sldId id="12035" r:id="rId9"/>
    <p:sldId id="12051" r:id="rId10"/>
    <p:sldId id="12135" r:id="rId11"/>
    <p:sldId id="12136" r:id="rId12"/>
    <p:sldId id="12075" r:id="rId13"/>
    <p:sldId id="12076" r:id="rId14"/>
    <p:sldId id="12077" r:id="rId15"/>
    <p:sldId id="12078" r:id="rId16"/>
    <p:sldId id="12079" r:id="rId17"/>
    <p:sldId id="12080" r:id="rId18"/>
    <p:sldId id="12081" r:id="rId19"/>
    <p:sldId id="12082" r:id="rId20"/>
    <p:sldId id="12083" r:id="rId21"/>
    <p:sldId id="12084" r:id="rId22"/>
    <p:sldId id="12085" r:id="rId23"/>
    <p:sldId id="12086" r:id="rId24"/>
    <p:sldId id="12087" r:id="rId25"/>
    <p:sldId id="12088" r:id="rId26"/>
    <p:sldId id="12089" r:id="rId27"/>
    <p:sldId id="12090" r:id="rId28"/>
    <p:sldId id="12091" r:id="rId29"/>
    <p:sldId id="12092" r:id="rId30"/>
    <p:sldId id="12094" r:id="rId31"/>
    <p:sldId id="16669347" r:id="rId32"/>
    <p:sldId id="16669355" r:id="rId33"/>
    <p:sldId id="14998260" r:id="rId34"/>
    <p:sldId id="12134"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6" userDrawn="1">
          <p15:clr>
            <a:srgbClr val="A4A3A4"/>
          </p15:clr>
        </p15:guide>
        <p15:guide id="2" pos="36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lan" initials="" lastIdx="0" clrIdx="0"/>
  <p:cmAuthor id="87" name="liviahu" initials="Microsof [12]" lastIdx="1" clrIdx="36"/>
  <p:cmAuthor id="1" name="William QIN_IBD" initials="WQ" lastIdx="1" clrIdx="0"/>
  <p:cmAuthor id="2" name="Susie Wang_IBD" initials="SW" lastIdx="7" clrIdx="1"/>
  <p:cmAuthor id="3" name="RKHD" initials="R" lastIdx="1" clrIdx="2"/>
  <p:cmAuthor id="4" name="未知用户3" initials="未知用户3" lastIdx="0" clrIdx="3"/>
  <p:cmAuthor id="5" name="未知用户4" initials="未知用户4" lastIdx="1" clrIdx="4"/>
  <p:cmAuthor id="6" name="未知用户5" initials="未知用户5" lastIdx="1" clrIdx="5"/>
  <p:cmAuthor id="8" name="Unknown User3" initials="Unknown User3" lastIdx="1" clrIdx="9"/>
  <p:cmAuthor id="9" name="Unknown User4" initials="Unknown User4" lastIdx="1" clrIdx="10"/>
  <p:cmAuthor id="10" name="Unknown User1" initials="Unknown User1" lastIdx="4" clrIdx="11"/>
  <p:cmAuthor id="11" name="Unknown User2" initials="Unknown User2" lastIdx="5" clrIdx="12"/>
  <p:cmAuthor id="12" name="Shen CC" initials="SC" lastIdx="2" clrIdx="13"/>
  <p:cmAuthor id="13" name="Claudia" initials="CLA" lastIdx="2" clrIdx="14"/>
  <p:cmAuthor id="14" name="Unknown User8" initials="Unknown User8" lastIdx="1" clrIdx="14"/>
  <p:cmAuthor id="15" name="Unknown User9" initials="Unknown User9" lastIdx="1" clrIdx="15"/>
  <p:cmAuthor id="16" name="李 李导群" initials="李" lastIdx="1" clrIdx="16"/>
  <p:cmAuthor id="75" name="作者" initials="A" lastIdx="0" clrIdx="24"/>
  <p:cmAuthor id="76" name="liang du" initials="l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F4FE"/>
    <a:srgbClr val="D2E3FD"/>
    <a:srgbClr val="4783E0"/>
    <a:srgbClr val="0070C0"/>
    <a:srgbClr val="FFFFFF"/>
    <a:srgbClr val="1E73F5"/>
    <a:srgbClr val="F2F2F2"/>
    <a:srgbClr val="78ABF9"/>
    <a:srgbClr val="2169D7"/>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howGuides="1">
      <p:cViewPr varScale="1">
        <p:scale>
          <a:sx n="121" d="100"/>
          <a:sy n="121" d="100"/>
        </p:scale>
        <p:origin x="744" y="176"/>
      </p:cViewPr>
      <p:guideLst>
        <p:guide orient="horz" pos="2276"/>
        <p:guide pos="3639"/>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commentAuthors" Target="commentAuthors.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B9A852-1A69-4E14-B087-5E5A24AF77E1}"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6D1AAE-4287-43AE-9DD8-DE713E28838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BD916-C897-48EE-842E-7A14DA99FB9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3824B8-12A0-4321-87C4-7E557319059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04FAADE-AF7C-674A-8416-E968B9033EF2}"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04FAADE-AF7C-674A-8416-E968B9033EF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1" lang="zh-CN" altLang="en-US">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D8C59CF-9CC1-0A48-BBCE-8927E77F46E4}"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万邑通在物流销售领域梳理和变革过程中，发现当前多套系统管理方式不足以支撑当前业务需求，难以支撑万邑通销售业务的合规、高效运转。故于现阶段开展万邑通</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CRM</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系统的建设工作，以支撑沉淀从市场活动及线索获客、商机跟进、客户跟进、销售预测、合同管理、折扣方案管理、钱包信息、海外仓的库存、海外仓出库、客户收入等数据</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360</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查询的完整销售管理体系。</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555555"/>
                </a:solidFill>
                <a:effectLst/>
                <a:latin typeface="XXX"/>
              </a:rPr>
              <a:t>1.</a:t>
            </a:r>
            <a:r>
              <a:rPr lang="zh-CN" altLang="en-US" b="0" i="0" dirty="0">
                <a:solidFill>
                  <a:srgbClr val="555555"/>
                </a:solidFill>
                <a:effectLst/>
                <a:latin typeface="XXX"/>
              </a:rPr>
              <a:t>市场管理：</a:t>
            </a:r>
            <a:r>
              <a:rPr lang="zh-CN" altLang="zh-CN" sz="1800" kern="100" dirty="0">
                <a:effectLst/>
                <a:latin typeface="等线" panose="02010600030101010101" charset="-122"/>
                <a:ea typeface="宋体" panose="02010600030101010101" pitchFamily="2" charset="-122"/>
                <a:cs typeface="宋体" panose="02010600030101010101" pitchFamily="2" charset="-122"/>
              </a:rPr>
              <a:t>现在主要是通过线上和线下宣传（展会，招商会、沙龙）及问卷星链接等方式发布对应的市场活动。通过多套系统（旧</a:t>
            </a:r>
            <a:r>
              <a:rPr lang="en-US" altLang="zh-CN" sz="1800" kern="100" dirty="0">
                <a:effectLst/>
                <a:latin typeface="等线" panose="02010600030101010101" charset="-122"/>
                <a:ea typeface="宋体" panose="02010600030101010101" pitchFamily="2" charset="-122"/>
                <a:cs typeface="宋体" panose="02010600030101010101" pitchFamily="2" charset="-122"/>
              </a:rPr>
              <a:t>CRM</a:t>
            </a:r>
            <a:r>
              <a:rPr lang="zh-CN" altLang="zh-CN" sz="1800" kern="100" dirty="0">
                <a:effectLst/>
                <a:latin typeface="等线" panose="02010600030101010101" charset="-122"/>
                <a:ea typeface="宋体" panose="02010600030101010101" pitchFamily="2" charset="-122"/>
                <a:cs typeface="宋体" panose="02010600030101010101" pitchFamily="2" charset="-122"/>
              </a:rPr>
              <a:t>系统、云表格、</a:t>
            </a:r>
            <a:r>
              <a:rPr lang="en-US" altLang="zh-CN" sz="1800" kern="100" dirty="0">
                <a:effectLst/>
                <a:latin typeface="等线" panose="02010600030101010101" charset="-122"/>
                <a:ea typeface="宋体" panose="02010600030101010101" pitchFamily="2" charset="-122"/>
                <a:cs typeface="宋体" panose="02010600030101010101" pitchFamily="2" charset="-122"/>
              </a:rPr>
              <a:t>TOM</a:t>
            </a:r>
            <a:r>
              <a:rPr lang="zh-CN" altLang="zh-CN" sz="1800" kern="100" dirty="0">
                <a:effectLst/>
                <a:latin typeface="等线" panose="02010600030101010101" charset="-122"/>
                <a:ea typeface="宋体" panose="02010600030101010101" pitchFamily="2" charset="-122"/>
                <a:cs typeface="宋体" panose="02010600030101010101" pitchFamily="2" charset="-122"/>
              </a:rPr>
              <a:t>）填写获取到的客户相关信息，</a:t>
            </a:r>
            <a:r>
              <a:rPr lang="en-US" altLang="zh-CN" sz="1800" kern="100" dirty="0">
                <a:effectLst/>
                <a:latin typeface="等线" panose="02010600030101010101" charset="-122"/>
                <a:ea typeface="宋体" panose="02010600030101010101" pitchFamily="2" charset="-122"/>
                <a:cs typeface="宋体" panose="02010600030101010101" pitchFamily="2" charset="-122"/>
              </a:rPr>
              <a:t>ROI</a:t>
            </a:r>
            <a:r>
              <a:rPr lang="zh-CN" altLang="zh-CN" sz="1800" kern="100" dirty="0">
                <a:effectLst/>
                <a:latin typeface="等线" panose="02010600030101010101" charset="-122"/>
                <a:ea typeface="宋体" panose="02010600030101010101" pitchFamily="2" charset="-122"/>
                <a:cs typeface="宋体" panose="02010600030101010101" pitchFamily="2" charset="-122"/>
              </a:rPr>
              <a:t>数据统计不准确。</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555555"/>
                </a:solidFill>
                <a:effectLst/>
                <a:latin typeface="XXX"/>
              </a:rPr>
              <a:t>2.</a:t>
            </a:r>
            <a:r>
              <a:rPr lang="zh-CN" altLang="en-US" b="0" i="0" dirty="0">
                <a:solidFill>
                  <a:srgbClr val="555555"/>
                </a:solidFill>
                <a:effectLst/>
                <a:latin typeface="XXX"/>
              </a:rPr>
              <a:t>线索管理：</a:t>
            </a:r>
            <a:r>
              <a:rPr lang="zh-CN" altLang="zh-CN" sz="1800" kern="100" dirty="0">
                <a:effectLst/>
                <a:latin typeface="等线" panose="02010600030101010101" charset="-122"/>
                <a:ea typeface="宋体" panose="02010600030101010101" pitchFamily="2" charset="-122"/>
                <a:cs typeface="宋体" panose="02010600030101010101" pitchFamily="2" charset="-122"/>
              </a:rPr>
              <a:t>现在销售线索主要是在旧</a:t>
            </a:r>
            <a:r>
              <a:rPr lang="en-US" altLang="zh-CN" sz="1800" kern="100" dirty="0">
                <a:effectLst/>
                <a:latin typeface="等线" panose="02010600030101010101" charset="-122"/>
                <a:ea typeface="宋体" panose="02010600030101010101" pitchFamily="2" charset="-122"/>
                <a:cs typeface="宋体" panose="02010600030101010101" pitchFamily="2" charset="-122"/>
              </a:rPr>
              <a:t>CRM</a:t>
            </a:r>
            <a:r>
              <a:rPr lang="zh-CN" altLang="zh-CN" sz="1800" kern="100" dirty="0">
                <a:effectLst/>
                <a:latin typeface="等线" panose="02010600030101010101" charset="-122"/>
                <a:ea typeface="宋体" panose="02010600030101010101" pitchFamily="2" charset="-122"/>
                <a:cs typeface="宋体" panose="02010600030101010101" pitchFamily="2" charset="-122"/>
              </a:rPr>
              <a:t>系统、云表格中录入，线索和客户信息两个单独的模块做不到重复信息的有效校验，在旧</a:t>
            </a:r>
            <a:r>
              <a:rPr lang="en-US" altLang="zh-CN" sz="1800" kern="100" dirty="0">
                <a:effectLst/>
                <a:latin typeface="等线" panose="02010600030101010101" charset="-122"/>
                <a:ea typeface="宋体" panose="02010600030101010101" pitchFamily="2" charset="-122"/>
                <a:cs typeface="宋体" panose="02010600030101010101" pitchFamily="2" charset="-122"/>
              </a:rPr>
              <a:t>CRM</a:t>
            </a:r>
            <a:r>
              <a:rPr lang="zh-CN" altLang="zh-CN" sz="1800" kern="100" dirty="0">
                <a:effectLst/>
                <a:latin typeface="等线" panose="02010600030101010101" charset="-122"/>
                <a:ea typeface="宋体" panose="02010600030101010101" pitchFamily="2" charset="-122"/>
                <a:cs typeface="宋体" panose="02010600030101010101" pitchFamily="2" charset="-122"/>
              </a:rPr>
              <a:t>系统录入之后又需要在云表格中再次重复录入，耗费大量的时间，效率比较低。线索跟进记录在云表格中如外出不在公司时无法查看线索的跟进情况。云表格线索转客户时无法带出线索中已经录入的信息资料需要再次重新手动录入造成工作重复。</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555555"/>
                </a:solidFill>
                <a:effectLst/>
                <a:latin typeface="XXX"/>
              </a:rPr>
              <a:t>3.</a:t>
            </a:r>
            <a:r>
              <a:rPr lang="zh-CN" altLang="en-US" b="0" i="0" dirty="0">
                <a:solidFill>
                  <a:srgbClr val="555555"/>
                </a:solidFill>
                <a:effectLst/>
                <a:latin typeface="XXX"/>
              </a:rPr>
              <a:t>客户管理：</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目前客户信息分别录入在旧</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CRM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系统、云表格、</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TOM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三套系统中，一个客户信息需要在三套系统中分别录入，不能通过一个系统完整的查看到客户的基本信息，多个系统间的某些字段重复记录，需要手工同步，花费大量时间。客户与现实数据没有关联打通存在销售部门负责人重复分配，销售人员重复跟进的情况。</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0" lvl="0" indent="0">
              <a:lnSpc>
                <a:spcPct val="150000"/>
              </a:lnSpc>
              <a:buFont typeface="+mj-lt"/>
              <a:buNone/>
            </a:pPr>
            <a:r>
              <a:rPr lang="en-US" altLang="zh-CN" b="0" i="0" dirty="0">
                <a:solidFill>
                  <a:srgbClr val="555555"/>
                </a:solidFill>
                <a:effectLst/>
                <a:latin typeface="XXX"/>
              </a:rPr>
              <a:t>4.</a:t>
            </a:r>
            <a:r>
              <a:rPr lang="zh-CN" altLang="en-US" b="0" i="0" dirty="0">
                <a:solidFill>
                  <a:srgbClr val="555555"/>
                </a:solidFill>
                <a:effectLst/>
                <a:latin typeface="XXX"/>
              </a:rPr>
              <a:t>销售机会：</a:t>
            </a:r>
            <a:r>
              <a:rPr lang="zh-CN" altLang="zh-CN" sz="1800" kern="0" dirty="0">
                <a:effectLst/>
                <a:latin typeface="Times New Roman" panose="02020603050405020304" pitchFamily="18" charset="0"/>
                <a:ea typeface="宋体" panose="02010600030101010101" pitchFamily="2" charset="-122"/>
                <a:cs typeface="Arial" panose="020B0604020202020204" pitchFamily="34" charset="0"/>
              </a:rPr>
              <a:t>在云表格中建立的商机无法和客户、产品线进行关联，不能按客户、产品线体现还未合作的商机。云表格无法统计商机痛点。销售机会跟进过程记录如：电话沟通记录，上门拜访记录。销售机会输单原因记录。商机子商机管理，痛点标签管理。</a:t>
            </a:r>
            <a:endParaRPr lang="en-US" altLang="zh-CN" b="0" i="0" dirty="0">
              <a:solidFill>
                <a:srgbClr val="555555"/>
              </a:solidFill>
              <a:effectLst/>
              <a:latin typeface="XXX"/>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555555"/>
                </a:solidFill>
                <a:effectLst/>
                <a:latin typeface="XXX"/>
              </a:rPr>
              <a:t>5.</a:t>
            </a:r>
            <a:r>
              <a:rPr lang="zh-CN" altLang="en-US" b="0" i="0" dirty="0">
                <a:solidFill>
                  <a:srgbClr val="555555"/>
                </a:solidFill>
                <a:effectLst/>
                <a:latin typeface="XXX"/>
              </a:rPr>
              <a:t>销售预测：</a:t>
            </a:r>
            <a:r>
              <a:rPr lang="zh-CN" altLang="zh-CN" sz="1800" kern="100" dirty="0">
                <a:solidFill>
                  <a:srgbClr val="000000"/>
                </a:solidFill>
                <a:effectLst/>
                <a:latin typeface="Times New Roman" panose="02020603050405020304" pitchFamily="18" charset="0"/>
                <a:ea typeface="宋体" panose="02010600030101010101" pitchFamily="2" charset="-122"/>
              </a:rPr>
              <a:t>目前线下手工数据来辅助销售判断客户的交易状态是正常还是异常，这种方式需要花费大量的时间来线下整理数据，做不到每日展现。</a:t>
            </a:r>
            <a:endParaRPr lang="zh-CN" altLang="zh-CN" sz="1800" kern="10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555555"/>
                </a:solidFill>
                <a:effectLst/>
                <a:latin typeface="XXX"/>
              </a:rPr>
              <a:t>6.</a:t>
            </a:r>
            <a:r>
              <a:rPr lang="zh-CN" altLang="en-US" b="0" i="0" dirty="0">
                <a:solidFill>
                  <a:srgbClr val="555555"/>
                </a:solidFill>
                <a:effectLst/>
                <a:latin typeface="XXX"/>
              </a:rPr>
              <a:t>目标管理：</a:t>
            </a:r>
            <a:r>
              <a:rPr lang="zh-CN" altLang="zh-CN" sz="1800" kern="100" dirty="0">
                <a:effectLst/>
                <a:latin typeface="等线" panose="02010600030101010101" charset="-122"/>
                <a:ea typeface="宋体" panose="02010600030101010101" pitchFamily="2" charset="-122"/>
                <a:cs typeface="宋体" panose="02010600030101010101" pitchFamily="2" charset="-122"/>
              </a:rPr>
              <a:t>目标查询维度分为：按团队和个人（销售员）进行统计分析</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D8C59CF-9CC1-0A48-BBCE-8927E77F46E4}"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75059"/>
                </a:solidFill>
                <a:effectLst/>
                <a:latin typeface="-apple-system"/>
              </a:rPr>
              <a:t>项目发起人：执行副总裁</a:t>
            </a:r>
            <a:br>
              <a:rPr lang="zh-CN" altLang="en-US" dirty="0"/>
            </a:br>
            <a:r>
              <a:rPr lang="zh-CN" altLang="en-US" b="0" i="0" dirty="0">
                <a:solidFill>
                  <a:srgbClr val="475059"/>
                </a:solidFill>
                <a:effectLst/>
                <a:latin typeface="-apple-system"/>
              </a:rPr>
              <a:t>项目发起原因：大客户</a:t>
            </a:r>
            <a:r>
              <a:rPr lang="en-US" altLang="zh-CN" b="0" i="0" dirty="0">
                <a:solidFill>
                  <a:srgbClr val="475059"/>
                </a:solidFill>
                <a:effectLst/>
                <a:latin typeface="-apple-system"/>
              </a:rPr>
              <a:t>KAM</a:t>
            </a:r>
            <a:r>
              <a:rPr lang="zh-CN" altLang="en-US" b="0" i="0" dirty="0">
                <a:solidFill>
                  <a:srgbClr val="475059"/>
                </a:solidFill>
                <a:effectLst/>
                <a:latin typeface="-apple-system"/>
              </a:rPr>
              <a:t>信息无法集中管理，希望能够通过系统规范化管理大客户信息，从而提升客户满意度</a:t>
            </a:r>
            <a:endParaRPr lang="zh-CN" altLang="en-US" dirty="0"/>
          </a:p>
        </p:txBody>
      </p:sp>
      <p:sp>
        <p:nvSpPr>
          <p:cNvPr id="4" name="灯片编号占位符 3"/>
          <p:cNvSpPr>
            <a:spLocks noGrp="1"/>
          </p:cNvSpPr>
          <p:nvPr>
            <p:ph type="sldNum" sz="quarter" idx="5"/>
          </p:nvPr>
        </p:nvSpPr>
        <p:spPr/>
        <p:txBody>
          <a:bodyPr/>
          <a:lstStyle/>
          <a:p>
            <a:fld id="{B480B2BE-9D82-41EC-8AE6-6E0C9846010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tags" Target="../tags/tag2.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4.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city-1">
    <p:bg>
      <p:bgPr>
        <a:solidFill>
          <a:schemeClr val="bg1"/>
        </a:solidFill>
        <a:effectLst/>
      </p:bgPr>
    </p:bg>
    <p:spTree>
      <p:nvGrpSpPr>
        <p:cNvPr id="1" name=""/>
        <p:cNvGrpSpPr/>
        <p:nvPr/>
      </p:nvGrpSpPr>
      <p:grpSpPr>
        <a:xfrm>
          <a:off x="0" y="0"/>
          <a:ext cx="0" cy="0"/>
          <a:chOff x="0" y="0"/>
          <a:chExt cx="0" cy="0"/>
        </a:xfrm>
      </p:grpSpPr>
      <p:sp>
        <p:nvSpPr>
          <p:cNvPr id="2" name="Do not remove" hidden="1"/>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灯片编号占位符 3"/>
          <p:cNvSpPr>
            <a:spLocks noGrp="1"/>
          </p:cNvSpPr>
          <p:nvPr>
            <p:ph type="sldNum" sz="quarter" idx="12"/>
          </p:nvPr>
        </p:nvSpPr>
        <p:spPr>
          <a:xfrm>
            <a:off x="8610600" y="6356350"/>
            <a:ext cx="2743200" cy="365125"/>
          </a:xfrm>
        </p:spPr>
        <p:txBody>
          <a:bodyPr/>
          <a:lstStyle/>
          <a:p>
            <a:fld id="{B7F7B65C-2824-9347-9C05-39D42996E2F4}" type="slidenum">
              <a:rPr lang="fr-FR" smtClean="0"/>
            </a:fld>
            <a:endParaRPr lang="fr-FR"/>
          </a:p>
        </p:txBody>
      </p:sp>
      <p:sp>
        <p:nvSpPr>
          <p:cNvPr id="20" name="Freeform 200"/>
          <p:cNvSpPr/>
          <p:nvPr userDrawn="1"/>
        </p:nvSpPr>
        <p:spPr bwMode="auto">
          <a:xfrm>
            <a:off x="-1588" y="0"/>
            <a:ext cx="12193588" cy="3882189"/>
          </a:xfrm>
          <a:custGeom>
            <a:avLst/>
            <a:gdLst>
              <a:gd name="T0" fmla="*/ 0 w 7674"/>
              <a:gd name="T1" fmla="*/ 0 h 2920"/>
              <a:gd name="T2" fmla="*/ 7674 w 7674"/>
              <a:gd name="T3" fmla="*/ 0 h 2920"/>
              <a:gd name="T4" fmla="*/ 7674 w 7674"/>
              <a:gd name="T5" fmla="*/ 2920 h 2920"/>
              <a:gd name="T6" fmla="*/ 0 w 7674"/>
              <a:gd name="T7" fmla="*/ 1534 h 2920"/>
              <a:gd name="T8" fmla="*/ 0 w 7674"/>
              <a:gd name="T9" fmla="*/ 0 h 2920"/>
            </a:gdLst>
            <a:ahLst/>
            <a:cxnLst>
              <a:cxn ang="0">
                <a:pos x="T0" y="T1"/>
              </a:cxn>
              <a:cxn ang="0">
                <a:pos x="T2" y="T3"/>
              </a:cxn>
              <a:cxn ang="0">
                <a:pos x="T4" y="T5"/>
              </a:cxn>
              <a:cxn ang="0">
                <a:pos x="T6" y="T7"/>
              </a:cxn>
              <a:cxn ang="0">
                <a:pos x="T8" y="T9"/>
              </a:cxn>
            </a:cxnLst>
            <a:rect l="0" t="0" r="r" b="b"/>
            <a:pathLst>
              <a:path w="7674" h="2920">
                <a:moveTo>
                  <a:pt x="0" y="0"/>
                </a:moveTo>
                <a:lnTo>
                  <a:pt x="7674" y="0"/>
                </a:lnTo>
                <a:lnTo>
                  <a:pt x="7674" y="2920"/>
                </a:lnTo>
                <a:lnTo>
                  <a:pt x="0" y="1534"/>
                </a:lnTo>
                <a:lnTo>
                  <a:pt x="0" y="0"/>
                </a:lnTo>
                <a:close/>
              </a:path>
            </a:pathLst>
          </a:custGeom>
          <a:blipFill>
            <a:blip r:embed="rId3"/>
            <a:stretch>
              <a:fillRect t="-54876" b="-54518"/>
            </a:stretch>
          </a:blipFill>
          <a:ln w="6350" cap="flat">
            <a:noFill/>
            <a:prstDash val="solid"/>
            <a:miter lim="800000"/>
          </a:ln>
        </p:spPr>
        <p:txBody>
          <a:bodyPr vert="horz" wrap="square" lIns="91440" tIns="45720" rIns="91440" bIns="45720" numCol="1" anchor="t" anchorCtr="0" compatLnSpc="1"/>
          <a:lstStyle/>
          <a:p>
            <a:endParaRPr lang="zh-CN" altLang="en-US"/>
          </a:p>
        </p:txBody>
      </p:sp>
      <p:sp>
        <p:nvSpPr>
          <p:cNvPr id="21" name="Freeform 194"/>
          <p:cNvSpPr/>
          <p:nvPr userDrawn="1"/>
        </p:nvSpPr>
        <p:spPr bwMode="auto">
          <a:xfrm>
            <a:off x="1588" y="3176"/>
            <a:ext cx="3517900" cy="3271838"/>
          </a:xfrm>
          <a:custGeom>
            <a:avLst/>
            <a:gdLst>
              <a:gd name="T0" fmla="*/ 1340 w 2216"/>
              <a:gd name="T1" fmla="*/ 0 h 2061"/>
              <a:gd name="T2" fmla="*/ 0 w 2216"/>
              <a:gd name="T3" fmla="*/ 0 h 2061"/>
              <a:gd name="T4" fmla="*/ 0 w 2216"/>
              <a:gd name="T5" fmla="*/ 1031 h 2061"/>
              <a:gd name="T6" fmla="*/ 2216 w 2216"/>
              <a:gd name="T7" fmla="*/ 2061 h 2061"/>
              <a:gd name="T8" fmla="*/ 1340 w 2216"/>
              <a:gd name="T9" fmla="*/ 0 h 2061"/>
            </a:gdLst>
            <a:ahLst/>
            <a:cxnLst>
              <a:cxn ang="0">
                <a:pos x="T0" y="T1"/>
              </a:cxn>
              <a:cxn ang="0">
                <a:pos x="T2" y="T3"/>
              </a:cxn>
              <a:cxn ang="0">
                <a:pos x="T4" y="T5"/>
              </a:cxn>
              <a:cxn ang="0">
                <a:pos x="T6" y="T7"/>
              </a:cxn>
              <a:cxn ang="0">
                <a:pos x="T8" y="T9"/>
              </a:cxn>
            </a:cxnLst>
            <a:rect l="0" t="0" r="r" b="b"/>
            <a:pathLst>
              <a:path w="2216" h="2061">
                <a:moveTo>
                  <a:pt x="1340" y="0"/>
                </a:moveTo>
                <a:lnTo>
                  <a:pt x="0" y="0"/>
                </a:lnTo>
                <a:lnTo>
                  <a:pt x="0" y="1031"/>
                </a:lnTo>
                <a:lnTo>
                  <a:pt x="2216" y="2061"/>
                </a:lnTo>
                <a:lnTo>
                  <a:pt x="134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96"/>
          <p:cNvSpPr/>
          <p:nvPr userDrawn="1"/>
        </p:nvSpPr>
        <p:spPr bwMode="auto">
          <a:xfrm>
            <a:off x="2128838" y="3176"/>
            <a:ext cx="6819900" cy="3271838"/>
          </a:xfrm>
          <a:custGeom>
            <a:avLst/>
            <a:gdLst>
              <a:gd name="T0" fmla="*/ 0 w 4296"/>
              <a:gd name="T1" fmla="*/ 0 h 2061"/>
              <a:gd name="T2" fmla="*/ 876 w 4296"/>
              <a:gd name="T3" fmla="*/ 2061 h 2061"/>
              <a:gd name="T4" fmla="*/ 4296 w 4296"/>
              <a:gd name="T5" fmla="*/ 20 h 2061"/>
              <a:gd name="T6" fmla="*/ 0 w 4296"/>
              <a:gd name="T7" fmla="*/ 0 h 2061"/>
            </a:gdLst>
            <a:ahLst/>
            <a:cxnLst>
              <a:cxn ang="0">
                <a:pos x="T0" y="T1"/>
              </a:cxn>
              <a:cxn ang="0">
                <a:pos x="T2" y="T3"/>
              </a:cxn>
              <a:cxn ang="0">
                <a:pos x="T4" y="T5"/>
              </a:cxn>
              <a:cxn ang="0">
                <a:pos x="T6" y="T7"/>
              </a:cxn>
            </a:cxnLst>
            <a:rect l="0" t="0" r="r" b="b"/>
            <a:pathLst>
              <a:path w="4296" h="2061">
                <a:moveTo>
                  <a:pt x="0" y="0"/>
                </a:moveTo>
                <a:lnTo>
                  <a:pt x="876" y="2061"/>
                </a:lnTo>
                <a:lnTo>
                  <a:pt x="4296" y="2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nvGrpSpPr>
          <p:cNvPr id="23" name="组合 22"/>
          <p:cNvGrpSpPr/>
          <p:nvPr userDrawn="1"/>
        </p:nvGrpSpPr>
        <p:grpSpPr>
          <a:xfrm>
            <a:off x="-1588" y="-28604"/>
            <a:ext cx="12198184" cy="6886604"/>
            <a:chOff x="-1588" y="-28604"/>
            <a:chExt cx="12198184" cy="6886604"/>
          </a:xfrm>
        </p:grpSpPr>
        <p:sp>
          <p:nvSpPr>
            <p:cNvPr id="24" name="Freeform 191"/>
            <p:cNvSpPr/>
            <p:nvPr/>
          </p:nvSpPr>
          <p:spPr bwMode="auto">
            <a:xfrm>
              <a:off x="8092597" y="4154905"/>
              <a:ext cx="2020888" cy="2703095"/>
            </a:xfrm>
            <a:custGeom>
              <a:avLst/>
              <a:gdLst>
                <a:gd name="T0" fmla="*/ 1002 w 1273"/>
                <a:gd name="T1" fmla="*/ 0 h 1350"/>
                <a:gd name="T2" fmla="*/ 0 w 1273"/>
                <a:gd name="T3" fmla="*/ 1350 h 1350"/>
                <a:gd name="T4" fmla="*/ 1273 w 1273"/>
                <a:gd name="T5" fmla="*/ 1350 h 1350"/>
                <a:gd name="T6" fmla="*/ 1002 w 1273"/>
                <a:gd name="T7" fmla="*/ 0 h 1350"/>
              </a:gdLst>
              <a:ahLst/>
              <a:cxnLst>
                <a:cxn ang="0">
                  <a:pos x="T0" y="T1"/>
                </a:cxn>
                <a:cxn ang="0">
                  <a:pos x="T2" y="T3"/>
                </a:cxn>
                <a:cxn ang="0">
                  <a:pos x="T4" y="T5"/>
                </a:cxn>
                <a:cxn ang="0">
                  <a:pos x="T6" y="T7"/>
                </a:cxn>
              </a:cxnLst>
              <a:rect l="0" t="0" r="r" b="b"/>
              <a:pathLst>
                <a:path w="1273" h="1350">
                  <a:moveTo>
                    <a:pt x="1002" y="0"/>
                  </a:moveTo>
                  <a:lnTo>
                    <a:pt x="0" y="1350"/>
                  </a:lnTo>
                  <a:lnTo>
                    <a:pt x="1273" y="1350"/>
                  </a:lnTo>
                  <a:lnTo>
                    <a:pt x="1002" y="0"/>
                  </a:lnTo>
                  <a:close/>
                </a:path>
              </a:pathLst>
            </a:custGeom>
            <a:solidFill>
              <a:schemeClr val="tx1">
                <a:lumMod val="20000"/>
                <a:lumOff val="80000"/>
              </a:schemeClr>
            </a:solidFill>
            <a:ln>
              <a:noFill/>
            </a:ln>
          </p:spPr>
          <p:txBody>
            <a:bodyPr vert="horz" wrap="square" lIns="91440" tIns="45720" rIns="91440" bIns="45720" numCol="1" anchor="t" anchorCtr="0" compatLnSpc="1"/>
            <a:lstStyle/>
            <a:p>
              <a:endParaRPr lang="zh-CN" altLang="en-US"/>
            </a:p>
          </p:txBody>
        </p:sp>
        <p:sp>
          <p:nvSpPr>
            <p:cNvPr id="25" name="Freeform 192"/>
            <p:cNvSpPr/>
            <p:nvPr/>
          </p:nvSpPr>
          <p:spPr bwMode="auto">
            <a:xfrm>
              <a:off x="9675646" y="4154904"/>
              <a:ext cx="2520950" cy="2703096"/>
            </a:xfrm>
            <a:custGeom>
              <a:avLst/>
              <a:gdLst>
                <a:gd name="T0" fmla="*/ 1588 w 1588"/>
                <a:gd name="T1" fmla="*/ 547 h 1350"/>
                <a:gd name="T2" fmla="*/ 0 w 1588"/>
                <a:gd name="T3" fmla="*/ 0 h 1350"/>
                <a:gd name="T4" fmla="*/ 270 w 1588"/>
                <a:gd name="T5" fmla="*/ 1350 h 1350"/>
                <a:gd name="T6" fmla="*/ 1588 w 1588"/>
                <a:gd name="T7" fmla="*/ 1350 h 1350"/>
                <a:gd name="T8" fmla="*/ 1588 w 1588"/>
                <a:gd name="T9" fmla="*/ 547 h 1350"/>
              </a:gdLst>
              <a:ahLst/>
              <a:cxnLst>
                <a:cxn ang="0">
                  <a:pos x="T0" y="T1"/>
                </a:cxn>
                <a:cxn ang="0">
                  <a:pos x="T2" y="T3"/>
                </a:cxn>
                <a:cxn ang="0">
                  <a:pos x="T4" y="T5"/>
                </a:cxn>
                <a:cxn ang="0">
                  <a:pos x="T6" y="T7"/>
                </a:cxn>
                <a:cxn ang="0">
                  <a:pos x="T8" y="T9"/>
                </a:cxn>
              </a:cxnLst>
              <a:rect l="0" t="0" r="r" b="b"/>
              <a:pathLst>
                <a:path w="1588" h="1350">
                  <a:moveTo>
                    <a:pt x="1588" y="547"/>
                  </a:moveTo>
                  <a:lnTo>
                    <a:pt x="0" y="0"/>
                  </a:lnTo>
                  <a:lnTo>
                    <a:pt x="270" y="1350"/>
                  </a:lnTo>
                  <a:lnTo>
                    <a:pt x="1588" y="1350"/>
                  </a:lnTo>
                  <a:lnTo>
                    <a:pt x="1588" y="547"/>
                  </a:lnTo>
                  <a:close/>
                </a:path>
              </a:pathLst>
            </a:custGeom>
            <a:solidFill>
              <a:srgbClr val="1E73F5">
                <a:alpha val="84000"/>
              </a:srgbClr>
            </a:solidFill>
            <a:ln>
              <a:noFill/>
            </a:ln>
          </p:spPr>
          <p:txBody>
            <a:bodyPr vert="horz" wrap="square" lIns="91440" tIns="45720" rIns="91440" bIns="45720" numCol="1" anchor="t" anchorCtr="0" compatLnSpc="1"/>
            <a:lstStyle/>
            <a:p>
              <a:endParaRPr lang="zh-CN" altLang="en-US"/>
            </a:p>
          </p:txBody>
        </p:sp>
        <p:sp>
          <p:nvSpPr>
            <p:cNvPr id="26" name="Freeform 193"/>
            <p:cNvSpPr/>
            <p:nvPr/>
          </p:nvSpPr>
          <p:spPr bwMode="auto">
            <a:xfrm>
              <a:off x="-1588" y="-28604"/>
              <a:ext cx="3549069" cy="3275625"/>
            </a:xfrm>
            <a:custGeom>
              <a:avLst/>
              <a:gdLst>
                <a:gd name="T0" fmla="*/ 1340 w 2216"/>
                <a:gd name="T1" fmla="*/ 0 h 2061"/>
                <a:gd name="T2" fmla="*/ 0 w 2216"/>
                <a:gd name="T3" fmla="*/ 0 h 2061"/>
                <a:gd name="T4" fmla="*/ 0 w 2216"/>
                <a:gd name="T5" fmla="*/ 1031 h 2061"/>
                <a:gd name="T6" fmla="*/ 2216 w 2216"/>
                <a:gd name="T7" fmla="*/ 2061 h 2061"/>
                <a:gd name="T8" fmla="*/ 1340 w 2216"/>
                <a:gd name="T9" fmla="*/ 0 h 2061"/>
              </a:gdLst>
              <a:ahLst/>
              <a:cxnLst>
                <a:cxn ang="0">
                  <a:pos x="T0" y="T1"/>
                </a:cxn>
                <a:cxn ang="0">
                  <a:pos x="T2" y="T3"/>
                </a:cxn>
                <a:cxn ang="0">
                  <a:pos x="T4" y="T5"/>
                </a:cxn>
                <a:cxn ang="0">
                  <a:pos x="T6" y="T7"/>
                </a:cxn>
                <a:cxn ang="0">
                  <a:pos x="T8" y="T9"/>
                </a:cxn>
              </a:cxnLst>
              <a:rect l="0" t="0" r="r" b="b"/>
              <a:pathLst>
                <a:path w="2216" h="2061">
                  <a:moveTo>
                    <a:pt x="1340" y="0"/>
                  </a:moveTo>
                  <a:lnTo>
                    <a:pt x="0" y="0"/>
                  </a:lnTo>
                  <a:lnTo>
                    <a:pt x="0" y="1031"/>
                  </a:lnTo>
                  <a:lnTo>
                    <a:pt x="2216" y="2061"/>
                  </a:lnTo>
                  <a:lnTo>
                    <a:pt x="1340" y="0"/>
                  </a:lnTo>
                  <a:close/>
                </a:path>
              </a:pathLst>
            </a:custGeom>
            <a:solidFill>
              <a:srgbClr val="063884"/>
            </a:solidFill>
            <a:ln>
              <a:noFill/>
            </a:ln>
          </p:spPr>
          <p:txBody>
            <a:bodyPr vert="horz" wrap="square" lIns="91440" tIns="45720" rIns="91440" bIns="45720" numCol="1" anchor="t" anchorCtr="0" compatLnSpc="1"/>
            <a:lstStyle/>
            <a:p>
              <a:endParaRPr lang="zh-CN" altLang="en-US"/>
            </a:p>
          </p:txBody>
        </p:sp>
      </p:grpSp>
      <p:sp>
        <p:nvSpPr>
          <p:cNvPr id="27" name="等腰三角形 26"/>
          <p:cNvSpPr/>
          <p:nvPr userDrawn="1"/>
        </p:nvSpPr>
        <p:spPr>
          <a:xfrm rot="10800000">
            <a:off x="252537" y="-28604"/>
            <a:ext cx="11977561" cy="5286288"/>
          </a:xfrm>
          <a:prstGeom prst="triangle">
            <a:avLst>
              <a:gd name="adj" fmla="val 0"/>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Arial" panose="020B0604020202020204" pitchFamily="34" charset="0"/>
            </a:endParaRPr>
          </a:p>
        </p:txBody>
      </p:sp>
      <p:sp>
        <p:nvSpPr>
          <p:cNvPr id="28" name="Freeform 195"/>
          <p:cNvSpPr/>
          <p:nvPr userDrawn="1"/>
        </p:nvSpPr>
        <p:spPr bwMode="auto">
          <a:xfrm>
            <a:off x="2151623" y="-28604"/>
            <a:ext cx="6792036" cy="3271838"/>
          </a:xfrm>
          <a:custGeom>
            <a:avLst/>
            <a:gdLst>
              <a:gd name="T0" fmla="*/ 0 w 4296"/>
              <a:gd name="T1" fmla="*/ 0 h 2061"/>
              <a:gd name="T2" fmla="*/ 876 w 4296"/>
              <a:gd name="T3" fmla="*/ 2061 h 2061"/>
              <a:gd name="T4" fmla="*/ 4296 w 4296"/>
              <a:gd name="T5" fmla="*/ 20 h 2061"/>
              <a:gd name="T6" fmla="*/ 0 w 4296"/>
              <a:gd name="T7" fmla="*/ 0 h 2061"/>
            </a:gdLst>
            <a:ahLst/>
            <a:cxnLst>
              <a:cxn ang="0">
                <a:pos x="T0" y="T1"/>
              </a:cxn>
              <a:cxn ang="0">
                <a:pos x="T2" y="T3"/>
              </a:cxn>
              <a:cxn ang="0">
                <a:pos x="T4" y="T5"/>
              </a:cxn>
              <a:cxn ang="0">
                <a:pos x="T6" y="T7"/>
              </a:cxn>
            </a:cxnLst>
            <a:rect l="0" t="0" r="r" b="b"/>
            <a:pathLst>
              <a:path w="4296" h="2061">
                <a:moveTo>
                  <a:pt x="0" y="0"/>
                </a:moveTo>
                <a:lnTo>
                  <a:pt x="876" y="2061"/>
                </a:lnTo>
                <a:lnTo>
                  <a:pt x="4296" y="20"/>
                </a:lnTo>
                <a:lnTo>
                  <a:pt x="0" y="0"/>
                </a:lnTo>
                <a:close/>
              </a:path>
            </a:pathLst>
          </a:custGeom>
          <a:solidFill>
            <a:srgbClr val="1E73F5">
              <a:alpha val="70000"/>
            </a:srgbClr>
          </a:solidFill>
          <a:ln>
            <a:noFill/>
          </a:ln>
        </p:spPr>
        <p:txBody>
          <a:bodyPr vert="horz" wrap="square" lIns="91440" tIns="45720" rIns="91440" bIns="45720" numCol="1" anchor="t" anchorCtr="0" compatLnSpc="1"/>
          <a:lstStyle/>
          <a:p>
            <a:endParaRPr lang="zh-CN" altLang="en-US"/>
          </a:p>
        </p:txBody>
      </p:sp>
      <p:sp>
        <p:nvSpPr>
          <p:cNvPr id="12" name="标题 1"/>
          <p:cNvSpPr>
            <a:spLocks noGrp="1"/>
          </p:cNvSpPr>
          <p:nvPr>
            <p:ph type="ctrTitle"/>
          </p:nvPr>
        </p:nvSpPr>
        <p:spPr>
          <a:xfrm>
            <a:off x="1978025" y="4643175"/>
            <a:ext cx="9144000" cy="424732"/>
          </a:xfrm>
          <a:prstGeom prst="rect">
            <a:avLst/>
          </a:prstGeom>
        </p:spPr>
        <p:txBody>
          <a:bodyPr anchor="b"/>
          <a:lstStyle>
            <a:lvl1pPr algn="l">
              <a:defRPr lang="zh-CN" altLang="en-US" sz="2400" b="1" spc="100" baseline="0" dirty="0">
                <a:solidFill>
                  <a:schemeClr val="bg2">
                    <a:lumMod val="10000"/>
                  </a:schemeClr>
                </a:solidFill>
              </a:defRPr>
            </a:lvl1pPr>
          </a:lstStyle>
          <a:p>
            <a:r>
              <a:rPr lang="zh-CN" altLang="en-US"/>
              <a:t>单击此处编辑母版标题样式</a:t>
            </a:r>
            <a:endParaRPr lang="zh-CN" altLang="en-US"/>
          </a:p>
        </p:txBody>
      </p:sp>
      <p:pic>
        <p:nvPicPr>
          <p:cNvPr id="4" name="图片 3" descr="屏幕上有字&#10;&#10;中度可信度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474814" y="3770451"/>
            <a:ext cx="3303686" cy="48288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ity-section slide">
    <p:bg>
      <p:bgPr>
        <a:solidFill>
          <a:schemeClr val="bg1"/>
        </a:solidFill>
        <a:effectLst/>
      </p:bgPr>
    </p:bg>
    <p:spTree>
      <p:nvGrpSpPr>
        <p:cNvPr id="1" name=""/>
        <p:cNvGrpSpPr/>
        <p:nvPr/>
      </p:nvGrpSpPr>
      <p:grpSpPr>
        <a:xfrm>
          <a:off x="0" y="0"/>
          <a:ext cx="0" cy="0"/>
          <a:chOff x="0" y="0"/>
          <a:chExt cx="0" cy="0"/>
        </a:xfrm>
      </p:grpSpPr>
      <p:pic>
        <p:nvPicPr>
          <p:cNvPr id="33" name="图片 32"/>
          <p:cNvPicPr>
            <a:picLocks noChangeAspect="1"/>
          </p:cNvPicPr>
          <p:nvPr userDrawn="1"/>
        </p:nvPicPr>
        <p:blipFill>
          <a:blip r:embed="rId2"/>
          <a:stretch>
            <a:fillRect/>
          </a:stretch>
        </p:blipFill>
        <p:spPr>
          <a:xfrm>
            <a:off x="0" y="1"/>
            <a:ext cx="12204700" cy="6856946"/>
          </a:xfrm>
          <a:prstGeom prst="rect">
            <a:avLst/>
          </a:prstGeom>
        </p:spPr>
      </p:pic>
      <p:sp>
        <p:nvSpPr>
          <p:cNvPr id="4" name="Do not remove" hidden="1"/>
          <p:cNvSpPr/>
          <p:nvPr userDrawn="1">
            <p:custDataLst>
              <p:tags r:id="rId3"/>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iŝ1îďé"/>
          <p:cNvSpPr/>
          <p:nvPr userDrawn="1"/>
        </p:nvSpPr>
        <p:spPr bwMode="auto">
          <a:xfrm>
            <a:off x="0" y="3077386"/>
            <a:ext cx="12204700" cy="2121936"/>
          </a:xfrm>
          <a:prstGeom prst="rect">
            <a:avLst/>
          </a:prstGeom>
          <a:solidFill>
            <a:srgbClr val="1E73F5">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CADBC"/>
              </a:solidFill>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8" name="Titre 1"/>
          <p:cNvSpPr>
            <a:spLocks noGrp="1"/>
          </p:cNvSpPr>
          <p:nvPr>
            <p:ph type="title"/>
          </p:nvPr>
        </p:nvSpPr>
        <p:spPr>
          <a:xfrm>
            <a:off x="2625615" y="3867758"/>
            <a:ext cx="10466442" cy="528242"/>
          </a:xfrm>
          <a:prstGeom prst="rect">
            <a:avLst/>
          </a:prstGeom>
        </p:spPr>
        <p:txBody>
          <a:bodyPr anchor="t">
            <a:noAutofit/>
          </a:bodyPr>
          <a:lstStyle>
            <a:lvl1pPr marL="0" marR="0" indent="0" algn="l" defTabSz="914400" rtl="0" eaLnBrk="1" fontAlgn="auto" latinLnBrk="0" hangingPunct="1">
              <a:lnSpc>
                <a:spcPct val="90000"/>
              </a:lnSpc>
              <a:spcBef>
                <a:spcPct val="0"/>
              </a:spcBef>
              <a:spcAft>
                <a:spcPts val="0"/>
              </a:spcAft>
              <a:buClrTx/>
              <a:buSzTx/>
              <a:buFontTx/>
              <a:buNone/>
              <a:defRPr lang="fr-FR" sz="3200" b="1" i="0"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a:t>单击此处编辑母版标题样式</a:t>
            </a:r>
            <a:endParaRPr lang="fr-FR"/>
          </a:p>
        </p:txBody>
      </p:sp>
      <p:cxnSp>
        <p:nvCxnSpPr>
          <p:cNvPr id="19" name="直接连接符 18"/>
          <p:cNvCxnSpPr/>
          <p:nvPr userDrawn="1"/>
        </p:nvCxnSpPr>
        <p:spPr>
          <a:xfrm>
            <a:off x="1912734" y="3770150"/>
            <a:ext cx="0" cy="712744"/>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日期占位符 4"/>
          <p:cNvSpPr>
            <a:spLocks noGrp="1"/>
          </p:cNvSpPr>
          <p:nvPr>
            <p:ph type="dt" sz="half" idx="10"/>
          </p:nvPr>
        </p:nvSpPr>
        <p:spPr>
          <a:xfrm>
            <a:off x="696000" y="6356350"/>
            <a:ext cx="2743200" cy="365125"/>
          </a:xfrm>
        </p:spPr>
        <p:txBody>
          <a:bodyPr/>
          <a:lstStyle>
            <a:lvl1pPr>
              <a:defRPr>
                <a:solidFill>
                  <a:schemeClr val="bg1"/>
                </a:solidFill>
              </a:defRPr>
            </a:lvl1pPr>
          </a:lstStyle>
          <a:p>
            <a:fld id="{2B846CF2-6F68-4BD4-A17B-1D55689B69F7}" type="datetime1">
              <a:rPr lang="zh-CN" altLang="en-US" smtClean="0"/>
            </a:fld>
            <a:endParaRPr lang="zh-CN" altLang="en-US"/>
          </a:p>
        </p:txBody>
      </p:sp>
      <p:sp>
        <p:nvSpPr>
          <p:cNvPr id="23" name="页脚占位符 5"/>
          <p:cNvSpPr>
            <a:spLocks noGrp="1"/>
          </p:cNvSpPr>
          <p:nvPr>
            <p:ph type="ftr" sz="quarter" idx="11"/>
          </p:nvPr>
        </p:nvSpPr>
        <p:spPr>
          <a:xfrm>
            <a:off x="4038600" y="6356350"/>
            <a:ext cx="4114800" cy="365125"/>
          </a:xfrm>
        </p:spPr>
        <p:txBody>
          <a:bodyPr/>
          <a:lstStyle>
            <a:lvl1pPr>
              <a:defRPr>
                <a:solidFill>
                  <a:schemeClr val="bg1"/>
                </a:solidFill>
              </a:defRPr>
            </a:lvl1pPr>
          </a:lstStyle>
          <a:p>
            <a:endParaRPr lang="zh-CN" altLang="en-US"/>
          </a:p>
        </p:txBody>
      </p:sp>
      <p:sp>
        <p:nvSpPr>
          <p:cNvPr id="24" name="灯片编号占位符 6"/>
          <p:cNvSpPr>
            <a:spLocks noGrp="1"/>
          </p:cNvSpPr>
          <p:nvPr>
            <p:ph type="sldNum" sz="quarter" idx="12"/>
          </p:nvPr>
        </p:nvSpPr>
        <p:spPr>
          <a:xfrm>
            <a:off x="8752800" y="6356350"/>
            <a:ext cx="2743200" cy="365125"/>
          </a:xfrm>
        </p:spPr>
        <p:txBody>
          <a:bodyPr/>
          <a:lstStyle>
            <a:lvl1pPr>
              <a:defRPr>
                <a:solidFill>
                  <a:schemeClr val="bg1"/>
                </a:solidFill>
              </a:defRPr>
            </a:lvl1pPr>
          </a:lstStyle>
          <a:p>
            <a:fld id="{83FF20C7-02B7-4EF6-8B33-0F816EA93A6B}" type="slidenum">
              <a:rPr lang="zh-CN" altLang="en-US" smtClean="0"/>
            </a:fld>
            <a:endParaRPr lang="zh-CN" altLang="en-US"/>
          </a:p>
        </p:txBody>
      </p:sp>
      <p:pic>
        <p:nvPicPr>
          <p:cNvPr id="3" name="图片 2" descr="徽标&#10;&#10;描述已自动生成"/>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1772407">
            <a:off x="6234699" y="924541"/>
            <a:ext cx="2996151" cy="437933"/>
          </a:xfrm>
          <a:prstGeom prst="rect">
            <a:avLst/>
          </a:prstGeom>
        </p:spPr>
      </p:pic>
      <p:sp>
        <p:nvSpPr>
          <p:cNvPr id="35" name="直角三角形 34"/>
          <p:cNvSpPr>
            <a:spLocks noChangeAspect="1"/>
          </p:cNvSpPr>
          <p:nvPr userDrawn="1"/>
        </p:nvSpPr>
        <p:spPr>
          <a:xfrm rot="13500000">
            <a:off x="11442000" y="6484912"/>
            <a:ext cx="108000" cy="10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销售易">
    <p:spTree>
      <p:nvGrpSpPr>
        <p:cNvPr id="1" name=""/>
        <p:cNvGrpSpPr/>
        <p:nvPr/>
      </p:nvGrpSpPr>
      <p:grpSpPr>
        <a:xfrm>
          <a:off x="0" y="0"/>
          <a:ext cx="0" cy="0"/>
          <a:chOff x="0" y="0"/>
          <a:chExt cx="0" cy="0"/>
        </a:xfrm>
      </p:grpSpPr>
      <p:sp>
        <p:nvSpPr>
          <p:cNvPr id="7" name="Do not remove" hidden="1"/>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页脚占位符 3"/>
          <p:cNvSpPr>
            <a:spLocks noGrp="1"/>
          </p:cNvSpPr>
          <p:nvPr>
            <p:ph type="ftr" sz="quarter" idx="11"/>
          </p:nvPr>
        </p:nvSpPr>
        <p:spPr/>
        <p:txBody>
          <a:bodyPr/>
          <a:lstStyle/>
          <a:p>
            <a:endParaRPr lang="zh-CN" altLang="en-US"/>
          </a:p>
        </p:txBody>
      </p:sp>
      <p:grpSp>
        <p:nvGrpSpPr>
          <p:cNvPr id="25" name="组合 24"/>
          <p:cNvGrpSpPr/>
          <p:nvPr userDrawn="1"/>
        </p:nvGrpSpPr>
        <p:grpSpPr>
          <a:xfrm>
            <a:off x="-271462" y="-206971"/>
            <a:ext cx="922479" cy="1395017"/>
            <a:chOff x="-271462" y="-206971"/>
            <a:chExt cx="922479" cy="1395017"/>
          </a:xfrm>
        </p:grpSpPr>
        <p:grpSp>
          <p:nvGrpSpPr>
            <p:cNvPr id="26" name="组合 25"/>
            <p:cNvGrpSpPr/>
            <p:nvPr userDrawn="1"/>
          </p:nvGrpSpPr>
          <p:grpSpPr>
            <a:xfrm>
              <a:off x="-271462" y="227013"/>
              <a:ext cx="922479" cy="961033"/>
              <a:chOff x="-271462" y="227013"/>
              <a:chExt cx="922479" cy="961033"/>
            </a:xfrm>
          </p:grpSpPr>
          <p:sp>
            <p:nvSpPr>
              <p:cNvPr id="28" name="矩形 27"/>
              <p:cNvSpPr/>
              <p:nvPr/>
            </p:nvSpPr>
            <p:spPr bwMode="auto">
              <a:xfrm rot="2700000">
                <a:off x="-271462" y="227013"/>
                <a:ext cx="527051" cy="527051"/>
              </a:xfrm>
              <a:prstGeom prst="rect">
                <a:avLst/>
              </a:prstGeom>
              <a:solidFill>
                <a:srgbClr val="1E73F5"/>
              </a:soli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80404" tIns="80404" rIns="80404" bIns="80404" spcCol="953" anchor="ctr"/>
              <a:lstStyle/>
              <a:p>
                <a:pPr algn="ctr" defTabSz="633095" eaLnBrk="1" fontAlgn="auto" hangingPunct="1">
                  <a:lnSpc>
                    <a:spcPct val="90000"/>
                  </a:lnSpc>
                  <a:spcBef>
                    <a:spcPts val="0"/>
                  </a:spcBef>
                  <a:spcAft>
                    <a:spcPct val="35000"/>
                  </a:spcAft>
                  <a:defRPr/>
                </a:pPr>
                <a:endParaRPr lang="zh-CN" altLang="en-US" sz="1400" b="1">
                  <a:gradFill>
                    <a:gsLst>
                      <a:gs pos="0">
                        <a:schemeClr val="accent5">
                          <a:lumMod val="75000"/>
                        </a:schemeClr>
                      </a:gs>
                      <a:gs pos="30000">
                        <a:schemeClr val="bg1"/>
                      </a:gs>
                    </a:gsLst>
                    <a:lin ang="162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Sans Light" panose="020B0303020203040204" pitchFamily="34" charset="0"/>
                </a:endParaRPr>
              </a:p>
            </p:txBody>
          </p:sp>
          <p:sp>
            <p:nvSpPr>
              <p:cNvPr id="29" name="矩形 28"/>
              <p:cNvSpPr/>
              <p:nvPr userDrawn="1"/>
            </p:nvSpPr>
            <p:spPr bwMode="auto">
              <a:xfrm rot="2700000">
                <a:off x="73103" y="610133"/>
                <a:ext cx="577721" cy="578106"/>
              </a:xfrm>
              <a:prstGeom prst="rect">
                <a:avLst/>
              </a:prstGeom>
              <a:gradFill flip="none" rotWithShape="0">
                <a:gsLst>
                  <a:gs pos="0">
                    <a:srgbClr val="1E73F5"/>
                  </a:gs>
                  <a:gs pos="46000">
                    <a:schemeClr val="bg1">
                      <a:alpha val="30000"/>
                    </a:schemeClr>
                  </a:gs>
                </a:gsLst>
                <a:lin ang="5400000" scaled="0"/>
                <a:tileRect/>
              </a:gra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80404" tIns="80404" rIns="80404" bIns="80404" spcCol="953" anchor="ctr"/>
              <a:lstStyle/>
              <a:p>
                <a:pPr algn="ctr" defTabSz="633095" eaLnBrk="1" fontAlgn="auto" hangingPunct="1">
                  <a:lnSpc>
                    <a:spcPct val="90000"/>
                  </a:lnSpc>
                  <a:spcBef>
                    <a:spcPts val="0"/>
                  </a:spcBef>
                  <a:spcAft>
                    <a:spcPct val="35000"/>
                  </a:spcAft>
                  <a:defRPr/>
                </a:pPr>
                <a:endParaRPr lang="zh-CN" altLang="en-US" sz="1400" b="1">
                  <a:gradFill>
                    <a:gsLst>
                      <a:gs pos="0">
                        <a:schemeClr val="accent5">
                          <a:lumMod val="75000"/>
                        </a:schemeClr>
                      </a:gs>
                      <a:gs pos="30000">
                        <a:schemeClr val="bg1"/>
                      </a:gs>
                    </a:gsLst>
                    <a:lin ang="162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Sans Light" panose="020B0303020203040204" pitchFamily="34" charset="0"/>
                </a:endParaRPr>
              </a:p>
            </p:txBody>
          </p:sp>
        </p:grpSp>
        <p:sp>
          <p:nvSpPr>
            <p:cNvPr id="27" name="矩形 26"/>
            <p:cNvSpPr/>
            <p:nvPr userDrawn="1"/>
          </p:nvSpPr>
          <p:spPr bwMode="auto">
            <a:xfrm rot="2700000">
              <a:off x="73102" y="-207163"/>
              <a:ext cx="577721" cy="578106"/>
            </a:xfrm>
            <a:prstGeom prst="rect">
              <a:avLst/>
            </a:prstGeom>
            <a:gradFill flip="none" rotWithShape="0">
              <a:gsLst>
                <a:gs pos="0">
                  <a:srgbClr val="1E73F5">
                    <a:alpha val="55000"/>
                  </a:srgbClr>
                </a:gs>
                <a:gs pos="41000">
                  <a:schemeClr val="bg1"/>
                </a:gs>
              </a:gsLst>
              <a:lin ang="16200000" scaled="1"/>
              <a:tileRect/>
            </a:grad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80404" tIns="80404" rIns="80404" bIns="80404" spcCol="953" anchor="ctr"/>
            <a:lstStyle/>
            <a:p>
              <a:pPr algn="ctr" defTabSz="633095" eaLnBrk="1" fontAlgn="auto" hangingPunct="1">
                <a:lnSpc>
                  <a:spcPct val="90000"/>
                </a:lnSpc>
                <a:spcBef>
                  <a:spcPts val="0"/>
                </a:spcBef>
                <a:spcAft>
                  <a:spcPct val="35000"/>
                </a:spcAft>
                <a:defRPr/>
              </a:pPr>
              <a:endParaRPr lang="zh-CN" altLang="en-US" sz="1400" b="1">
                <a:gradFill>
                  <a:gsLst>
                    <a:gs pos="0">
                      <a:schemeClr val="accent5">
                        <a:lumMod val="75000"/>
                      </a:schemeClr>
                    </a:gs>
                    <a:gs pos="30000">
                      <a:schemeClr val="bg1"/>
                    </a:gs>
                  </a:gsLst>
                  <a:lin ang="16200000" scaled="1"/>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libaba Sans Light" panose="020B0303020203040204" pitchFamily="34" charset="0"/>
              </a:endParaRPr>
            </a:p>
          </p:txBody>
        </p:sp>
      </p:grpSp>
      <p:sp>
        <p:nvSpPr>
          <p:cNvPr id="9"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sym typeface="+mn-ea"/>
              </a:rPr>
              <a:t>Copyright© 2022 Neocrm. All rights reserved. </a:t>
            </a:r>
            <a:endParaRPr lang="en-US" altLang="zh-CN" sz="105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31150" y="6361801"/>
            <a:ext cx="1236375" cy="2794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FF20C7-02B7-4EF6-8B33-0F816EA93A6B}" type="slidenum">
              <a:rPr lang="zh-CN" altLang="en-US" smtClean="0"/>
            </a:fld>
            <a:endParaRPr lang="zh-CN" altLang="en-US"/>
          </a:p>
        </p:txBody>
      </p:sp>
      <p:sp>
        <p:nvSpPr>
          <p:cNvPr id="12"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sym typeface="+mn-ea"/>
              </a:rPr>
              <a:t>Copyright© 2022 Neocrm. All rights reserved. </a:t>
            </a:r>
            <a:endParaRPr lang="en-US" altLang="zh-CN" sz="1050" dirty="0">
              <a:solidFill>
                <a:schemeClr val="tx1"/>
              </a:solidFill>
              <a:latin typeface="微软雅黑" panose="020B0503020204020204" pitchFamily="34" charset="-122"/>
              <a:ea typeface="微软雅黑" panose="020B0503020204020204" pitchFamily="34" charset="-122"/>
              <a:sym typeface="+mn-ea"/>
            </a:endParaRPr>
          </a:p>
        </p:txBody>
      </p:sp>
      <p:sp>
        <p:nvSpPr>
          <p:cNvPr id="5" name="矩形 4"/>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22590" y="6341481"/>
            <a:ext cx="1236375" cy="2794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sym typeface="+mn-ea"/>
              </a:rPr>
              <a:t>Copyright© 2022 Neocrm. All rights reserved. </a:t>
            </a:r>
            <a:endParaRPr lang="en-US" altLang="zh-CN" sz="1050" dirty="0">
              <a:solidFill>
                <a:schemeClr val="tx1"/>
              </a:solidFill>
              <a:latin typeface="微软雅黑" panose="020B0503020204020204" pitchFamily="34" charset="-122"/>
              <a:ea typeface="微软雅黑" panose="020B0503020204020204" pitchFamily="34" charset="-122"/>
              <a:sym typeface="+mn-ea"/>
            </a:endParaRPr>
          </a:p>
        </p:txBody>
      </p:sp>
      <p:sp>
        <p:nvSpPr>
          <p:cNvPr id="14" name="矩形 13"/>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0510" y="6341481"/>
            <a:ext cx="1236375" cy="2794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rPr>
              <a:t>Copyright© 2021 Neocrm. All rights reserved. </a:t>
            </a:r>
            <a:endParaRPr lang="en-US" altLang="zh-CN" sz="105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
        <p:nvSpPr>
          <p:cNvPr id="14" name="Rectangle 61"/>
          <p:cNvSpPr/>
          <p:nvPr userDrawn="1"/>
        </p:nvSpPr>
        <p:spPr>
          <a:xfrm>
            <a:off x="0" y="294394"/>
            <a:ext cx="536331" cy="505706"/>
          </a:xfrm>
          <a:prstGeom prst="rect">
            <a:avLst/>
          </a:prstGeom>
          <a:solidFill>
            <a:srgbClr val="1C69D4"/>
          </a:solidFill>
          <a:ln w="12700">
            <a:miter lim="400000"/>
          </a:ln>
        </p:spPr>
        <p:txBody>
          <a:bodyPr lIns="45719" rIns="45719"/>
          <a:lstStyle/>
          <a:p>
            <a:pPr>
              <a:defRPr>
                <a:latin typeface="Arial" panose="020B0604020202020204"/>
                <a:ea typeface="Arial" panose="020B0604020202020204"/>
                <a:cs typeface="Arial" panose="020B0604020202020204"/>
                <a:sym typeface="Arial" panose="020B0604020202020204"/>
              </a:defRPr>
            </a:pPr>
            <a:endParaRPr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0510" y="6341481"/>
            <a:ext cx="1236375" cy="279421"/>
          </a:xfrm>
          <a:prstGeom prst="rect">
            <a:avLst/>
          </a:prstGeom>
        </p:spPr>
      </p:pic>
      <p:sp>
        <p:nvSpPr>
          <p:cNvPr id="7" name="矩形 6"/>
          <p:cNvSpPr/>
          <p:nvPr userDrawn="1"/>
        </p:nvSpPr>
        <p:spPr>
          <a:xfrm>
            <a:off x="385985" y="6405989"/>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peter-2020">
    <p:spTree>
      <p:nvGrpSpPr>
        <p:cNvPr id="1" name=""/>
        <p:cNvGrpSpPr/>
        <p:nvPr/>
      </p:nvGrpSpPr>
      <p:grpSpPr>
        <a:xfrm>
          <a:off x="0" y="0"/>
          <a:ext cx="0" cy="0"/>
          <a:chOff x="0" y="0"/>
          <a:chExt cx="0" cy="0"/>
        </a:xfrm>
      </p:grpSpPr>
      <p:sp>
        <p:nvSpPr>
          <p:cNvPr id="6" name="TextBox 35"/>
          <p:cNvSpPr txBox="1"/>
          <p:nvPr userDrawn="1"/>
        </p:nvSpPr>
        <p:spPr>
          <a:xfrm>
            <a:off x="411039" y="6366988"/>
            <a:ext cx="3955599" cy="254000"/>
          </a:xfrm>
          <a:prstGeom prst="rect">
            <a:avLst/>
          </a:prstGeom>
          <a:noFill/>
        </p:spPr>
        <p:txBody>
          <a:bodyPr wrap="square" rtlCol="0">
            <a:spAutoFit/>
          </a:bodyPr>
          <a:lstStyle/>
          <a:p>
            <a:pPr defTabSz="685800" hangingPunct="0"/>
            <a:r>
              <a:rPr lang="en-US" altLang="zh-CN" sz="1055" kern="0" dirty="0">
                <a:solidFill>
                  <a:schemeClr val="bg1"/>
                </a:solidFill>
                <a:latin typeface="苹方 细体" panose="020B0200000000000000" pitchFamily="34" charset="-122"/>
                <a:ea typeface="苹方 细体" panose="020B0200000000000000" pitchFamily="34" charset="-122"/>
                <a:cs typeface="+mj-cs"/>
                <a:sym typeface="Calibri" panose="020F0502020204030204"/>
              </a:rPr>
              <a:t>Copyright© 2021 </a:t>
            </a:r>
            <a:r>
              <a:rPr lang="en-US" altLang="zh-CN" sz="1055" kern="0" dirty="0" err="1">
                <a:solidFill>
                  <a:schemeClr val="bg1"/>
                </a:solidFill>
                <a:latin typeface="苹方 细体" panose="020B0200000000000000" pitchFamily="34" charset="-122"/>
                <a:ea typeface="苹方 细体" panose="020B0200000000000000" pitchFamily="34" charset="-122"/>
                <a:cs typeface="+mj-cs"/>
                <a:sym typeface="Calibri" panose="020F0502020204030204"/>
              </a:rPr>
              <a:t>Neocrm</a:t>
            </a:r>
            <a:r>
              <a:rPr lang="en-US" altLang="zh-CN" sz="1055" kern="0" dirty="0">
                <a:solidFill>
                  <a:schemeClr val="bg1"/>
                </a:solidFill>
                <a:latin typeface="苹方 细体" panose="020B0200000000000000" pitchFamily="34" charset="-122"/>
                <a:ea typeface="苹方 细体" panose="020B0200000000000000" pitchFamily="34" charset="-122"/>
                <a:cs typeface="+mj-cs"/>
                <a:sym typeface="Calibri" panose="020F0502020204030204"/>
              </a:rPr>
              <a:t> All rights reserved. </a:t>
            </a:r>
            <a:endParaRPr lang="en-US" altLang="zh-CN" sz="1055" kern="0" dirty="0">
              <a:solidFill>
                <a:schemeClr val="bg1"/>
              </a:solidFill>
              <a:latin typeface="苹方 细体" panose="020B0200000000000000" pitchFamily="34" charset="-122"/>
              <a:ea typeface="苹方 细体" panose="020B0200000000000000" pitchFamily="34" charset="-122"/>
              <a:cs typeface="+mj-cs"/>
              <a:sym typeface="Calibri" panose="020F0502020204030204"/>
            </a:endParaRPr>
          </a:p>
        </p:txBody>
      </p:sp>
      <p:sp>
        <p:nvSpPr>
          <p:cNvPr id="7" name="矩形 6"/>
          <p:cNvSpPr/>
          <p:nvPr userDrawn="1"/>
        </p:nvSpPr>
        <p:spPr>
          <a:xfrm>
            <a:off x="371475" y="6398702"/>
            <a:ext cx="79131" cy="173990"/>
          </a:xfrm>
          <a:prstGeom prst="rect">
            <a:avLst/>
          </a:prstGeom>
          <a:solidFill>
            <a:srgbClr val="1C69D4"/>
          </a:solidFill>
        </p:spPr>
        <p:txBody>
          <a:bodyPr wrap="square" rtlCol="0" anchor="ctr">
            <a:spAutoFit/>
          </a:bodyPr>
          <a:lstStyle/>
          <a:p>
            <a:pPr algn="ctr" defTabSz="685800" hangingPunct="0"/>
            <a:endParaRPr lang="zh-CN" altLang="en-US" sz="535" b="1" kern="0"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
        <p:nvSpPr>
          <p:cNvPr id="8" name="Rectangle 61"/>
          <p:cNvSpPr/>
          <p:nvPr userDrawn="1"/>
        </p:nvSpPr>
        <p:spPr>
          <a:xfrm>
            <a:off x="1" y="294393"/>
            <a:ext cx="536331" cy="505707"/>
          </a:xfrm>
          <a:prstGeom prst="rect">
            <a:avLst/>
          </a:prstGeom>
          <a:solidFill>
            <a:srgbClr val="1C69D4"/>
          </a:solidFill>
          <a:ln w="12700">
            <a:miter lim="400000"/>
          </a:ln>
        </p:spPr>
        <p:txBody>
          <a:bodyPr lIns="45718" rIns="45718"/>
          <a:lstStyle/>
          <a:p>
            <a:pPr defTabSz="685800" hangingPunct="0">
              <a:defRPr>
                <a:latin typeface="Arial" panose="020B0604020202020204"/>
                <a:ea typeface="Arial" panose="020B0604020202020204"/>
                <a:cs typeface="Arial" panose="020B0604020202020204"/>
                <a:sym typeface="Arial" panose="020B0604020202020204"/>
              </a:defRPr>
            </a:pPr>
            <a:endParaRPr kern="0"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标题 1"/>
          <p:cNvSpPr>
            <a:spLocks noGrp="1"/>
          </p:cNvSpPr>
          <p:nvPr>
            <p:ph type="title"/>
          </p:nvPr>
        </p:nvSpPr>
        <p:spPr>
          <a:xfrm>
            <a:off x="561800" y="288291"/>
            <a:ext cx="10515600" cy="520700"/>
          </a:xfrm>
          <a:prstGeom prst="rect">
            <a:avLst/>
          </a:prstGeom>
        </p:spPr>
        <p:txBody>
          <a:bodyPr/>
          <a:lstStyle>
            <a:lvl1pPr>
              <a:defRPr sz="2400" b="1">
                <a:solidFill>
                  <a:srgbClr val="1C69D4"/>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63249" y="6183629"/>
            <a:ext cx="1123951" cy="67437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Cover">
    <p:spTree>
      <p:nvGrpSpPr>
        <p:cNvPr id="1" name=""/>
        <p:cNvGrpSpPr/>
        <p:nvPr/>
      </p:nvGrpSpPr>
      <p:grpSpPr>
        <a:xfrm>
          <a:off x="0" y="0"/>
          <a:ext cx="0" cy="0"/>
          <a:chOff x="0" y="0"/>
          <a:chExt cx="0" cy="0"/>
        </a:xfrm>
      </p:grpSpPr>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duotone>
              <a:prstClr val="black"/>
              <a:schemeClr val="bg1">
                <a:lumMod val="95000"/>
                <a:tint val="45000"/>
                <a:satMod val="400000"/>
              </a:schemeClr>
            </a:duotone>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t="33117" b="33117"/>
          <a:stretch>
            <a:fillRect/>
          </a:stretch>
        </p:blipFill>
        <p:spPr>
          <a:xfrm>
            <a:off x="9740901" y="6259940"/>
            <a:ext cx="2451100" cy="598061"/>
          </a:xfrm>
          <a:prstGeom prst="rect">
            <a:avLst/>
          </a:prstGeom>
        </p:spPr>
      </p:pic>
      <p:sp>
        <p:nvSpPr>
          <p:cNvPr id="6" name="TextBox 35"/>
          <p:cNvSpPr txBox="1"/>
          <p:nvPr userDrawn="1"/>
        </p:nvSpPr>
        <p:spPr>
          <a:xfrm>
            <a:off x="411040" y="6573461"/>
            <a:ext cx="3312000" cy="2540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b="0" i="0" dirty="0">
                <a:solidFill>
                  <a:schemeClr val="bg1">
                    <a:lumMod val="50000"/>
                  </a:schemeClr>
                </a:solidFill>
                <a:latin typeface="TencentSans W3" panose="020C04030202040F0204" pitchFamily="34" charset="-122"/>
                <a:ea typeface="TencentSans W3" panose="020C04030202040F0204" pitchFamily="34" charset="-122"/>
              </a:rPr>
              <a:t>Copyright© 2022 </a:t>
            </a:r>
            <a:r>
              <a:rPr lang="en-US" altLang="zh-CN" sz="1050" b="0" i="0" dirty="0" err="1">
                <a:solidFill>
                  <a:schemeClr val="bg1">
                    <a:lumMod val="50000"/>
                  </a:schemeClr>
                </a:solidFill>
                <a:latin typeface="TencentSans W3" panose="020C04030202040F0204" pitchFamily="34" charset="-122"/>
                <a:ea typeface="TencentSans W3" panose="020C04030202040F0204" pitchFamily="34" charset="-122"/>
              </a:rPr>
              <a:t>Neocrm</a:t>
            </a:r>
            <a:r>
              <a:rPr lang="en-US" altLang="zh-CN" sz="1050" b="0" i="0" dirty="0">
                <a:solidFill>
                  <a:schemeClr val="bg1">
                    <a:lumMod val="50000"/>
                  </a:schemeClr>
                </a:solidFill>
                <a:latin typeface="TencentSans W3" panose="020C04030202040F0204" pitchFamily="34" charset="-122"/>
                <a:ea typeface="TencentSans W3" panose="020C04030202040F0204" pitchFamily="34" charset="-122"/>
              </a:rPr>
              <a:t>. All rights reserved. </a:t>
            </a:r>
            <a:endParaRPr lang="en-US" altLang="zh-CN" sz="1050" b="0" i="0" dirty="0">
              <a:solidFill>
                <a:schemeClr val="bg1">
                  <a:lumMod val="50000"/>
                </a:schemeClr>
              </a:solidFill>
              <a:latin typeface="TencentSans W3" panose="020C04030202040F0204" pitchFamily="34" charset="-122"/>
              <a:ea typeface="TencentSans W3" panose="020C04030202040F0204" pitchFamily="34" charset="-122"/>
            </a:endParaRPr>
          </a:p>
        </p:txBody>
      </p:sp>
      <p:sp>
        <p:nvSpPr>
          <p:cNvPr id="7" name="矩形 6"/>
          <p:cNvSpPr/>
          <p:nvPr userDrawn="1"/>
        </p:nvSpPr>
        <p:spPr>
          <a:xfrm>
            <a:off x="385985" y="6432180"/>
            <a:ext cx="79131" cy="523220"/>
          </a:xfrm>
          <a:prstGeom prst="rect">
            <a:avLst/>
          </a:prstGeom>
          <a:solidFill>
            <a:srgbClr val="FFCC00"/>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TextBox 35"/>
          <p:cNvSpPr txBox="1"/>
          <p:nvPr userDrawn="1"/>
        </p:nvSpPr>
        <p:spPr>
          <a:xfrm>
            <a:off x="415123" y="6475421"/>
            <a:ext cx="3312000" cy="253916"/>
          </a:xfrm>
          <a:prstGeom prst="rect">
            <a:avLst/>
          </a:prstGeom>
          <a:noFill/>
        </p:spPr>
        <p:txBody>
          <a:bodyPr wrap="square" rtlCol="0">
            <a:spAutoFit/>
          </a:bodyPr>
          <a:lstStyle/>
          <a:p>
            <a:r>
              <a:rPr lang="en-US" altLang="zh-CN" sz="1000" dirty="0">
                <a:solidFill>
                  <a:schemeClr val="bg1">
                    <a:lumMod val="50000"/>
                    <a:alpha val="46000"/>
                  </a:schemeClr>
                </a:solidFill>
                <a:latin typeface="微软雅黑" panose="020B0503020204020204" pitchFamily="34" charset="-122"/>
                <a:ea typeface="微软雅黑" panose="020B0503020204020204" pitchFamily="34" charset="-122"/>
              </a:rPr>
              <a:t>Copyright© 2022 Neocrm. All rights reserved. </a:t>
            </a:r>
            <a:endParaRPr lang="en-US" sz="1000" dirty="0">
              <a:solidFill>
                <a:schemeClr val="bg1">
                  <a:lumMod val="50000"/>
                  <a:alpha val="46000"/>
                </a:schemeClr>
              </a:solidFill>
              <a:latin typeface="微软雅黑" panose="020B0503020204020204" pitchFamily="34" charset="-122"/>
              <a:ea typeface="微软雅黑" panose="020B0503020204020204" pitchFamily="34" charset="-122"/>
            </a:endParaRPr>
          </a:p>
        </p:txBody>
      </p:sp>
      <p:sp>
        <p:nvSpPr>
          <p:cNvPr id="9" name="矩形 8"/>
          <p:cNvSpPr/>
          <p:nvPr userDrawn="1"/>
        </p:nvSpPr>
        <p:spPr>
          <a:xfrm>
            <a:off x="371475" y="6529387"/>
            <a:ext cx="90488" cy="147869"/>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11" name="图片 10"/>
          <p:cNvPicPr>
            <a:picLocks noChangeAspect="1"/>
          </p:cNvPicPr>
          <p:nvPr userDrawn="1"/>
        </p:nvPicPr>
        <p:blipFill rotWithShape="1">
          <a:blip r:embed="rId2" cstate="print">
            <a:extLst>
              <a:ext uri="{28A0092B-C50C-407E-A947-70E740481C1C}">
                <a14:useLocalDpi xmlns:a14="http://schemas.microsoft.com/office/drawing/2010/main" val="0"/>
              </a:ext>
            </a:extLst>
          </a:blip>
          <a:srcRect t="37222" b="37346"/>
          <a:stretch>
            <a:fillRect/>
          </a:stretch>
        </p:blipFill>
        <p:spPr>
          <a:xfrm>
            <a:off x="10788927" y="6515508"/>
            <a:ext cx="1031598" cy="157414"/>
          </a:xfrm>
          <a:prstGeom prst="rect">
            <a:avLst/>
          </a:prstGeom>
        </p:spPr>
      </p:pic>
      <p:sp>
        <p:nvSpPr>
          <p:cNvPr id="4" name="矩形 3"/>
          <p:cNvSpPr/>
          <p:nvPr userDrawn="1"/>
        </p:nvSpPr>
        <p:spPr>
          <a:xfrm>
            <a:off x="5160719" y="1"/>
            <a:ext cx="1870563" cy="114300"/>
          </a:xfrm>
          <a:prstGeom prst="rect">
            <a:avLst/>
          </a:prstGeom>
          <a:solidFill>
            <a:srgbClr val="1C69D4"/>
          </a:solidFill>
          <a:ln w="12700">
            <a:miter lim="400000"/>
          </a:ln>
          <a:effectLst>
            <a:outerShdw blurRad="215900" dist="38100" dir="5400000" algn="t" rotWithShape="0">
              <a:prstClr val="black">
                <a:alpha val="28000"/>
              </a:prstClr>
            </a:outerShdw>
          </a:effectLst>
        </p:spPr>
        <p:txBody>
          <a:bodyPr lIns="45719" rIns="45719"/>
          <a:lstStyle/>
          <a:p>
            <a:pPr lvl="0"/>
            <a:endParaRPr lang="zh-CN" altLang="en-US">
              <a:solidFill>
                <a:schemeClr val="tx1"/>
              </a:solidFill>
              <a:latin typeface="Arial" panose="020B0604020202020204"/>
              <a:cs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8" name="TextBox 35"/>
          <p:cNvSpPr txBox="1"/>
          <p:nvPr userDrawn="1"/>
        </p:nvSpPr>
        <p:spPr>
          <a:xfrm>
            <a:off x="415123" y="6475421"/>
            <a:ext cx="3312000" cy="253916"/>
          </a:xfrm>
          <a:prstGeom prst="rect">
            <a:avLst/>
          </a:prstGeom>
          <a:noFill/>
        </p:spPr>
        <p:txBody>
          <a:bodyPr wrap="square" rtlCol="0">
            <a:spAutoFit/>
          </a:bodyPr>
          <a:lstStyle/>
          <a:p>
            <a:r>
              <a:rPr lang="en-US" altLang="zh-CN" sz="1000" dirty="0">
                <a:solidFill>
                  <a:schemeClr val="bg1">
                    <a:lumMod val="50000"/>
                    <a:alpha val="46000"/>
                  </a:schemeClr>
                </a:solidFill>
                <a:latin typeface="微软雅黑" panose="020B0503020204020204" pitchFamily="34" charset="-122"/>
                <a:ea typeface="微软雅黑" panose="020B0503020204020204" pitchFamily="34" charset="-122"/>
              </a:rPr>
              <a:t>Copyright© 2022 Neocrm. All rights reserved. </a:t>
            </a:r>
            <a:endParaRPr lang="en-US" sz="1000" dirty="0">
              <a:solidFill>
                <a:schemeClr val="bg1">
                  <a:lumMod val="50000"/>
                  <a:alpha val="46000"/>
                </a:schemeClr>
              </a:solidFill>
              <a:latin typeface="微软雅黑" panose="020B0503020204020204" pitchFamily="34" charset="-122"/>
              <a:ea typeface="微软雅黑" panose="020B0503020204020204" pitchFamily="34" charset="-122"/>
            </a:endParaRPr>
          </a:p>
        </p:txBody>
      </p:sp>
      <p:sp>
        <p:nvSpPr>
          <p:cNvPr id="9" name="矩形 8"/>
          <p:cNvSpPr/>
          <p:nvPr userDrawn="1"/>
        </p:nvSpPr>
        <p:spPr>
          <a:xfrm>
            <a:off x="371475" y="6529387"/>
            <a:ext cx="90488" cy="147869"/>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cxnSp>
        <p:nvCxnSpPr>
          <p:cNvPr id="10" name="直接连接符 9"/>
          <p:cNvCxnSpPr/>
          <p:nvPr userDrawn="1"/>
        </p:nvCxnSpPr>
        <p:spPr>
          <a:xfrm>
            <a:off x="10779402" y="6514599"/>
            <a:ext cx="0" cy="1592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userDrawn="1"/>
        </p:nvPicPr>
        <p:blipFill rotWithShape="1">
          <a:blip r:embed="rId2" cstate="print">
            <a:extLst>
              <a:ext uri="{28A0092B-C50C-407E-A947-70E740481C1C}">
                <a14:useLocalDpi xmlns:a14="http://schemas.microsoft.com/office/drawing/2010/main" val="0"/>
              </a:ext>
            </a:extLst>
          </a:blip>
          <a:srcRect t="37222" b="37346"/>
          <a:stretch>
            <a:fillRect/>
          </a:stretch>
        </p:blipFill>
        <p:spPr>
          <a:xfrm>
            <a:off x="9668151" y="6515508"/>
            <a:ext cx="1031598" cy="157414"/>
          </a:xfrm>
          <a:prstGeom prst="rect">
            <a:avLst/>
          </a:prstGeom>
        </p:spPr>
      </p:pic>
      <p:pic>
        <p:nvPicPr>
          <p:cNvPr id="1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6720" t="36612" r="6770" b="37873"/>
          <a:stretch>
            <a:fillRect/>
          </a:stretch>
        </p:blipFill>
        <p:spPr bwMode="auto">
          <a:xfrm>
            <a:off x="10859056" y="6508891"/>
            <a:ext cx="1031598" cy="147815"/>
          </a:xfrm>
          <a:prstGeom prst="rect">
            <a:avLst/>
          </a:prstGeom>
          <a:noFill/>
          <a:extLst>
            <a:ext uri="{909E8E84-426E-40DD-AFC4-6F175D3DCCD1}">
              <a14:hiddenFill xmlns:a14="http://schemas.microsoft.com/office/drawing/2010/main">
                <a:solidFill>
                  <a:srgbClr val="FFFFFF"/>
                </a:solidFill>
              </a14:hiddenFill>
            </a:ext>
          </a:extLst>
        </p:spPr>
      </p:pic>
      <p:sp>
        <p:nvSpPr>
          <p:cNvPr id="2" name="梯形 1"/>
          <p:cNvSpPr/>
          <p:nvPr userDrawn="1"/>
        </p:nvSpPr>
        <p:spPr>
          <a:xfrm rot="10800000">
            <a:off x="5246263" y="-4470"/>
            <a:ext cx="1699474" cy="145451"/>
          </a:xfrm>
          <a:prstGeom prst="trapezoid">
            <a:avLst>
              <a:gd name="adj" fmla="val 179156"/>
            </a:avLst>
          </a:prstGeom>
          <a:solidFill>
            <a:srgbClr val="1C69D4"/>
          </a:solidFill>
          <a:ln w="12700">
            <a:miter lim="400000"/>
          </a:ln>
          <a:effectLst>
            <a:outerShdw blurRad="215900" dist="38100" dir="5400000" algn="t" rotWithShape="0">
              <a:prstClr val="black">
                <a:alpha val="28000"/>
              </a:prstClr>
            </a:outerShdw>
          </a:effectLst>
        </p:spPr>
        <p:txBody>
          <a:bodyPr lIns="45719" rIns="45719"/>
          <a:lstStyle/>
          <a:p>
            <a:pPr lvl="0"/>
            <a:endParaRPr lang="zh-CN" altLang="en-US">
              <a:solidFill>
                <a:schemeClr val="tx1"/>
              </a:solidFill>
              <a:latin typeface="Arial" panose="020B0604020202020204"/>
              <a:cs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TextBox 35"/>
          <p:cNvSpPr txBox="1"/>
          <p:nvPr userDrawn="1"/>
        </p:nvSpPr>
        <p:spPr>
          <a:xfrm>
            <a:off x="415123" y="6475421"/>
            <a:ext cx="3312000" cy="253916"/>
          </a:xfrm>
          <a:prstGeom prst="rect">
            <a:avLst/>
          </a:prstGeom>
          <a:noFill/>
        </p:spPr>
        <p:txBody>
          <a:bodyPr wrap="square" rtlCol="0">
            <a:spAutoFit/>
          </a:bodyPr>
          <a:lstStyle/>
          <a:p>
            <a:r>
              <a:rPr lang="en-US" altLang="zh-CN" sz="1000" dirty="0">
                <a:solidFill>
                  <a:schemeClr val="bg1">
                    <a:lumMod val="50000"/>
                    <a:alpha val="46000"/>
                  </a:schemeClr>
                </a:solidFill>
                <a:latin typeface="微软雅黑" panose="020B0503020204020204" pitchFamily="34" charset="-122"/>
                <a:ea typeface="微软雅黑" panose="020B0503020204020204" pitchFamily="34" charset="-122"/>
              </a:rPr>
              <a:t>Copyright© 2022 Neocrm. All rights reserved. </a:t>
            </a:r>
            <a:endParaRPr lang="en-US" sz="1000" dirty="0">
              <a:solidFill>
                <a:schemeClr val="bg1">
                  <a:lumMod val="50000"/>
                  <a:alpha val="46000"/>
                </a:schemeClr>
              </a:solidFill>
              <a:latin typeface="微软雅黑" panose="020B0503020204020204" pitchFamily="34" charset="-122"/>
              <a:ea typeface="微软雅黑" panose="020B0503020204020204" pitchFamily="34" charset="-122"/>
            </a:endParaRPr>
          </a:p>
        </p:txBody>
      </p:sp>
      <p:sp>
        <p:nvSpPr>
          <p:cNvPr id="3" name="矩形 2"/>
          <p:cNvSpPr/>
          <p:nvPr userDrawn="1"/>
        </p:nvSpPr>
        <p:spPr>
          <a:xfrm>
            <a:off x="371475" y="6529387"/>
            <a:ext cx="90488" cy="147869"/>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cxnSp>
        <p:nvCxnSpPr>
          <p:cNvPr id="4" name="直接连接符 3"/>
          <p:cNvCxnSpPr/>
          <p:nvPr userDrawn="1"/>
        </p:nvCxnSpPr>
        <p:spPr>
          <a:xfrm>
            <a:off x="10779402" y="6514599"/>
            <a:ext cx="0" cy="1592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t="37222" b="37346"/>
          <a:stretch>
            <a:fillRect/>
          </a:stretch>
        </p:blipFill>
        <p:spPr>
          <a:xfrm>
            <a:off x="9668151" y="6515508"/>
            <a:ext cx="1031598" cy="157414"/>
          </a:xfrm>
          <a:prstGeom prst="rect">
            <a:avLst/>
          </a:prstGeom>
        </p:spPr>
      </p:pic>
      <p:pic>
        <p:nvPicPr>
          <p:cNvPr id="6"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6720" t="36612" r="6770" b="37873"/>
          <a:stretch>
            <a:fillRect/>
          </a:stretch>
        </p:blipFill>
        <p:spPr bwMode="auto">
          <a:xfrm>
            <a:off x="10859056" y="6508891"/>
            <a:ext cx="1031598" cy="1478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35"/>
          <p:cNvSpPr txBox="1"/>
          <p:nvPr userDrawn="1"/>
        </p:nvSpPr>
        <p:spPr>
          <a:xfrm>
            <a:off x="415123" y="6475421"/>
            <a:ext cx="3312000" cy="253916"/>
          </a:xfrm>
          <a:prstGeom prst="rect">
            <a:avLst/>
          </a:prstGeom>
          <a:noFill/>
        </p:spPr>
        <p:txBody>
          <a:bodyPr wrap="square" rtlCol="0">
            <a:spAutoFit/>
          </a:bodyPr>
          <a:lstStyle/>
          <a:p>
            <a:r>
              <a:rPr lang="en-US" altLang="zh-CN" sz="1000" dirty="0">
                <a:solidFill>
                  <a:schemeClr val="bg1">
                    <a:lumMod val="50000"/>
                    <a:alpha val="46000"/>
                  </a:schemeClr>
                </a:solidFill>
                <a:latin typeface="微软雅黑" panose="020B0503020204020204" pitchFamily="34" charset="-122"/>
                <a:ea typeface="微软雅黑" panose="020B0503020204020204" pitchFamily="34" charset="-122"/>
              </a:rPr>
              <a:t>Copyright© 2022 Neocrm. All rights reserved. </a:t>
            </a:r>
            <a:endParaRPr lang="en-US" sz="1000" dirty="0">
              <a:solidFill>
                <a:schemeClr val="bg1">
                  <a:lumMod val="50000"/>
                  <a:alpha val="46000"/>
                </a:schemeClr>
              </a:solidFill>
              <a:latin typeface="微软雅黑" panose="020B0503020204020204" pitchFamily="34" charset="-122"/>
              <a:ea typeface="微软雅黑" panose="020B0503020204020204" pitchFamily="34" charset="-122"/>
            </a:endParaRPr>
          </a:p>
        </p:txBody>
      </p:sp>
      <p:sp>
        <p:nvSpPr>
          <p:cNvPr id="3" name="矩形 2"/>
          <p:cNvSpPr/>
          <p:nvPr userDrawn="1"/>
        </p:nvSpPr>
        <p:spPr>
          <a:xfrm>
            <a:off x="371475" y="6529387"/>
            <a:ext cx="90488" cy="147869"/>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7222" b="37346"/>
          <a:stretch>
            <a:fillRect/>
          </a:stretch>
        </p:blipFill>
        <p:spPr>
          <a:xfrm>
            <a:off x="10788927" y="6515508"/>
            <a:ext cx="1031598" cy="15741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eter-2020">
    <p:spTree>
      <p:nvGrpSpPr>
        <p:cNvPr id="1" name=""/>
        <p:cNvGrpSpPr/>
        <p:nvPr/>
      </p:nvGrpSpPr>
      <p:grpSpPr>
        <a:xfrm>
          <a:off x="0" y="0"/>
          <a:ext cx="0" cy="0"/>
          <a:chOff x="0" y="0"/>
          <a:chExt cx="0" cy="0"/>
        </a:xfrm>
      </p:grpSpPr>
      <p:sp>
        <p:nvSpPr>
          <p:cNvPr id="6" name="TextBox 35"/>
          <p:cNvSpPr txBox="1"/>
          <p:nvPr userDrawn="1"/>
        </p:nvSpPr>
        <p:spPr>
          <a:xfrm>
            <a:off x="411039" y="6366989"/>
            <a:ext cx="3955599" cy="254044"/>
          </a:xfrm>
          <a:prstGeom prst="rect">
            <a:avLst/>
          </a:prstGeom>
          <a:noFill/>
        </p:spPr>
        <p:txBody>
          <a:bodyPr wrap="square" rtlCol="0">
            <a:spAutoFit/>
          </a:bodyPr>
          <a:lstStyle/>
          <a:p>
            <a:pPr defTabSz="914400" hangingPunct="0"/>
            <a:r>
              <a:rPr lang="en-US" altLang="zh-CN" sz="1050" kern="0" dirty="0">
                <a:solidFill>
                  <a:schemeClr val="accent3"/>
                </a:solidFill>
                <a:latin typeface="苹方 细体" panose="020B0200000000000000" pitchFamily="34" charset="-122"/>
                <a:ea typeface="苹方 细体" panose="020B0200000000000000" pitchFamily="34" charset="-122"/>
                <a:cs typeface="+mj-cs"/>
                <a:sym typeface="Calibri" panose="020F0502020204030204"/>
              </a:rPr>
              <a:t>Copyright© 2020 </a:t>
            </a:r>
            <a:r>
              <a:rPr lang="en-US" altLang="zh-CN" sz="1050" kern="0" dirty="0" err="1">
                <a:solidFill>
                  <a:schemeClr val="accent3"/>
                </a:solidFill>
                <a:latin typeface="苹方 细体" panose="020B0200000000000000" pitchFamily="34" charset="-122"/>
                <a:ea typeface="苹方 细体" panose="020B0200000000000000" pitchFamily="34" charset="-122"/>
                <a:cs typeface="+mj-cs"/>
                <a:sym typeface="Calibri" panose="020F0502020204030204"/>
              </a:rPr>
              <a:t>Neocrm</a:t>
            </a:r>
            <a:r>
              <a:rPr lang="en-US" altLang="zh-CN" sz="1050" kern="0" dirty="0">
                <a:solidFill>
                  <a:schemeClr val="accent3"/>
                </a:solidFill>
                <a:latin typeface="苹方 细体" panose="020B0200000000000000" pitchFamily="34" charset="-122"/>
                <a:ea typeface="苹方 细体" panose="020B0200000000000000" pitchFamily="34" charset="-122"/>
                <a:cs typeface="+mj-cs"/>
                <a:sym typeface="Calibri" panose="020F0502020204030204"/>
              </a:rPr>
              <a:t> All rights reserved. </a:t>
            </a:r>
            <a:endParaRPr lang="en-US" altLang="zh-CN" sz="1050" kern="0" dirty="0">
              <a:solidFill>
                <a:schemeClr val="accent3"/>
              </a:solidFill>
              <a:latin typeface="苹方 细体" panose="020B0200000000000000" pitchFamily="34" charset="-122"/>
              <a:ea typeface="苹方 细体" panose="020B0200000000000000" pitchFamily="34" charset="-122"/>
              <a:cs typeface="+mj-cs"/>
              <a:sym typeface="Calibri" panose="020F0502020204030204"/>
            </a:endParaRPr>
          </a:p>
        </p:txBody>
      </p:sp>
      <p:sp>
        <p:nvSpPr>
          <p:cNvPr id="7" name="矩形 6"/>
          <p:cNvSpPr/>
          <p:nvPr userDrawn="1"/>
        </p:nvSpPr>
        <p:spPr>
          <a:xfrm>
            <a:off x="371475" y="6398527"/>
            <a:ext cx="79131" cy="174343"/>
          </a:xfrm>
          <a:prstGeom prst="rect">
            <a:avLst/>
          </a:prstGeom>
          <a:solidFill>
            <a:schemeClr val="accent1"/>
          </a:solidFill>
        </p:spPr>
        <p:txBody>
          <a:bodyPr wrap="square" rtlCol="0" anchor="ctr">
            <a:spAutoFit/>
          </a:bodyPr>
          <a:lstStyle/>
          <a:p>
            <a:pPr algn="ctr" defTabSz="914400" hangingPunct="0"/>
            <a:endParaRPr lang="zh-CN" altLang="en-US" sz="535" b="1" kern="0"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
        <p:nvSpPr>
          <p:cNvPr id="8" name="Rectangle 61"/>
          <p:cNvSpPr/>
          <p:nvPr userDrawn="1"/>
        </p:nvSpPr>
        <p:spPr>
          <a:xfrm>
            <a:off x="1" y="294393"/>
            <a:ext cx="536331" cy="505707"/>
          </a:xfrm>
          <a:prstGeom prst="rect">
            <a:avLst/>
          </a:prstGeom>
          <a:solidFill>
            <a:schemeClr val="accent1"/>
          </a:solidFill>
          <a:ln w="12700">
            <a:miter lim="400000"/>
          </a:ln>
        </p:spPr>
        <p:txBody>
          <a:bodyPr lIns="45719" rIns="45719"/>
          <a:lstStyle/>
          <a:p>
            <a:pPr defTabSz="914400" hangingPunct="0">
              <a:defRPr>
                <a:latin typeface="Arial" panose="020B0604020202020204"/>
                <a:ea typeface="Arial" panose="020B0604020202020204"/>
                <a:cs typeface="Arial" panose="020B0604020202020204"/>
                <a:sym typeface="Arial" panose="020B0604020202020204"/>
              </a:defRPr>
            </a:pPr>
            <a:endParaRPr sz="1800" kern="0"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标题 1"/>
          <p:cNvSpPr>
            <a:spLocks noGrp="1"/>
          </p:cNvSpPr>
          <p:nvPr>
            <p:ph type="title"/>
          </p:nvPr>
        </p:nvSpPr>
        <p:spPr>
          <a:xfrm>
            <a:off x="561800" y="288589"/>
            <a:ext cx="10515600" cy="520700"/>
          </a:xfrm>
          <a:prstGeom prst="rect">
            <a:avLst/>
          </a:prstGeom>
        </p:spPr>
        <p:txBody>
          <a:bodyPr/>
          <a:lstStyle>
            <a:lvl1pPr>
              <a:defRPr sz="2400" b="1">
                <a:solidFill>
                  <a:schemeClr val="accent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63250" y="6183629"/>
            <a:ext cx="1123951" cy="67437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销售易">
    <p:spTree>
      <p:nvGrpSpPr>
        <p:cNvPr id="1" name=""/>
        <p:cNvGrpSpPr/>
        <p:nvPr/>
      </p:nvGrpSpPr>
      <p:grpSpPr>
        <a:xfrm>
          <a:off x="0" y="0"/>
          <a:ext cx="0" cy="0"/>
          <a:chOff x="0" y="0"/>
          <a:chExt cx="0" cy="0"/>
        </a:xfrm>
      </p:grpSpPr>
      <p:sp>
        <p:nvSpPr>
          <p:cNvPr id="7" name="Do not remove" hidden="1"/>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9"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sym typeface="+mn-ea"/>
              </a:rPr>
              <a:t>Copyright© 2022 Neocrm. All rights reserved. </a:t>
            </a:r>
            <a:endParaRPr lang="en-US" altLang="zh-CN" sz="1050" dirty="0">
              <a:solidFill>
                <a:schemeClr val="tx1"/>
              </a:solidFill>
              <a:latin typeface="微软雅黑" panose="020B0503020204020204" pitchFamily="34" charset="-122"/>
              <a:ea typeface="微软雅黑" panose="020B0503020204020204" pitchFamily="34" charset="-122"/>
              <a:sym typeface="+mn-ea"/>
            </a:endParaRPr>
          </a:p>
        </p:txBody>
      </p:sp>
      <p:sp>
        <p:nvSpPr>
          <p:cNvPr id="10" name="矩形 9"/>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31150" y="6361801"/>
            <a:ext cx="1236375" cy="27942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10" name="TextBox 35"/>
          <p:cNvSpPr txBox="1"/>
          <p:nvPr userDrawn="1"/>
        </p:nvSpPr>
        <p:spPr>
          <a:xfrm>
            <a:off x="411040" y="6366987"/>
            <a:ext cx="331200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50" dirty="0">
                <a:solidFill>
                  <a:schemeClr val="tx1"/>
                </a:solidFill>
                <a:latin typeface="微软雅黑" panose="020B0503020204020204" pitchFamily="34" charset="-122"/>
                <a:ea typeface="微软雅黑" panose="020B0503020204020204" pitchFamily="34" charset="-122"/>
              </a:rPr>
              <a:t>Copyright© 2021 Neocrm. All rights reserved. </a:t>
            </a:r>
            <a:endParaRPr lang="en-US" altLang="zh-CN" sz="1050"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371475" y="6404374"/>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
        <p:nvSpPr>
          <p:cNvPr id="14" name="Rectangle 61"/>
          <p:cNvSpPr/>
          <p:nvPr userDrawn="1"/>
        </p:nvSpPr>
        <p:spPr>
          <a:xfrm>
            <a:off x="0" y="294394"/>
            <a:ext cx="536331" cy="505706"/>
          </a:xfrm>
          <a:prstGeom prst="rect">
            <a:avLst/>
          </a:prstGeom>
          <a:solidFill>
            <a:srgbClr val="1C69D4"/>
          </a:solidFill>
          <a:ln w="12700">
            <a:miter lim="400000"/>
          </a:ln>
        </p:spPr>
        <p:txBody>
          <a:bodyPr lIns="45719" rIns="45719"/>
          <a:lstStyle/>
          <a:p>
            <a:pPr>
              <a:defRPr>
                <a:latin typeface="Arial" panose="020B0604020202020204"/>
                <a:ea typeface="Arial" panose="020B0604020202020204"/>
                <a:cs typeface="Arial" panose="020B0604020202020204"/>
                <a:sym typeface="Arial" panose="020B0604020202020204"/>
              </a:defRPr>
            </a:pPr>
            <a:endParaRPr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0510" y="6341481"/>
            <a:ext cx="1236375" cy="279421"/>
          </a:xfrm>
          <a:prstGeom prst="rect">
            <a:avLst/>
          </a:prstGeom>
        </p:spPr>
      </p:pic>
      <p:sp>
        <p:nvSpPr>
          <p:cNvPr id="7" name="矩形 6"/>
          <p:cNvSpPr/>
          <p:nvPr userDrawn="1"/>
        </p:nvSpPr>
        <p:spPr>
          <a:xfrm>
            <a:off x="385985" y="6405989"/>
            <a:ext cx="79130" cy="162658"/>
          </a:xfrm>
          <a:prstGeom prst="rect">
            <a:avLst/>
          </a:prstGeom>
          <a:solidFill>
            <a:srgbClr val="1C69D4"/>
          </a:solidFill>
        </p:spPr>
        <p:txBody>
          <a:bodyPr wrap="square" rtlCol="0" anchor="ctr">
            <a:spAutoFit/>
          </a:bodyPr>
          <a:lstStyle/>
          <a:p>
            <a:pPr algn="ctr"/>
            <a:endParaRPr lang="zh-CN" altLang="en-US" sz="2800" b="1" dirty="0">
              <a:solidFill>
                <a:srgbClr val="F7F2D1"/>
              </a:solidFill>
              <a:latin typeface="Calibri" panose="020F0502020204030204" charset="0"/>
              <a:ea typeface="Calibri" panose="020F0502020204030204" charset="0"/>
              <a:cs typeface="Calibri" panose="020F0502020204030204" charset="0"/>
              <a:sym typeface="微软雅黑" panose="020B0503020204020204" pitchFamily="3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96000" y="479099"/>
            <a:ext cx="10800000" cy="369332"/>
          </a:xfrm>
          <a:prstGeom prst="rect">
            <a:avLst/>
          </a:prstGeom>
        </p:spPr>
        <p:txBody>
          <a:bodyPr vert="horz" wrap="square" lIns="91440" tIns="45720" rIns="91440" bIns="45720" rtlCol="0" anchor="ctr">
            <a:sp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96000" y="1200090"/>
            <a:ext cx="10800000" cy="4860000"/>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96000" y="6356350"/>
            <a:ext cx="2743200" cy="365125"/>
          </a:xfrm>
          <a:prstGeom prst="rect">
            <a:avLst/>
          </a:prstGeom>
        </p:spPr>
        <p:txBody>
          <a:bodyPr vert="horz" lIns="91440" tIns="45720" rIns="91440" bIns="45720" rtlCol="0" anchor="ctr"/>
          <a:lstStyle>
            <a:lvl1pPr algn="l">
              <a:defRPr sz="1200">
                <a:solidFill>
                  <a:schemeClr val="bg2">
                    <a:lumMod val="10000"/>
                  </a:schemeClr>
                </a:solidFill>
              </a:defRPr>
            </a:lvl1pPr>
          </a:lstStyle>
          <a:p>
            <a:fld id="{A2B1FDEA-636D-45BF-8A3B-C6AB95DABF54}"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10000"/>
                  </a:schemeClr>
                </a:solidFill>
              </a:defRPr>
            </a:lvl1pPr>
          </a:lstStyle>
          <a:p>
            <a:endParaRPr lang="zh-CN" altLang="en-US"/>
          </a:p>
        </p:txBody>
      </p:sp>
      <p:sp>
        <p:nvSpPr>
          <p:cNvPr id="6" name="灯片编号占位符 5"/>
          <p:cNvSpPr>
            <a:spLocks noGrp="1"/>
          </p:cNvSpPr>
          <p:nvPr>
            <p:ph type="sldNum" sz="quarter" idx="4"/>
          </p:nvPr>
        </p:nvSpPr>
        <p:spPr>
          <a:xfrm>
            <a:off x="8752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F20C7-02B7-4EF6-8B33-0F816EA93A6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lang="zh-CN" altLang="en-US" sz="2000" b="1" kern="1200" dirty="0">
          <a:solidFill>
            <a:schemeClr val="bg2">
              <a:lumMod val="10000"/>
            </a:schemeClr>
          </a:solidFill>
          <a:latin typeface="+mj-lt"/>
          <a:ea typeface="+mj-ea"/>
          <a:cs typeface="+mj-cs"/>
        </a:defRPr>
      </a:lvl1pPr>
    </p:titleStyle>
    <p:bodyStyle>
      <a:lvl1pPr marL="228600" indent="-228600" algn="l" defTabSz="914400" rtl="0" eaLnBrk="1" latinLnBrk="0" hangingPunct="1">
        <a:lnSpc>
          <a:spcPct val="120000"/>
        </a:lnSpc>
        <a:spcBef>
          <a:spcPts val="0"/>
        </a:spcBef>
        <a:spcAft>
          <a:spcPts val="0"/>
        </a:spcAft>
        <a:buClr>
          <a:schemeClr val="accent1"/>
        </a:buClr>
        <a:buSzPct val="80000"/>
        <a:buFont typeface="Arial" panose="020B0604020202020204" pitchFamily="34" charset="0"/>
        <a:buChar char="►"/>
        <a:defRPr sz="1400" kern="1200">
          <a:solidFill>
            <a:schemeClr val="bg2">
              <a:lumMod val="10000"/>
            </a:schemeClr>
          </a:solidFill>
          <a:latin typeface="+mn-lt"/>
          <a:ea typeface="+mn-ea"/>
          <a:cs typeface="+mn-cs"/>
        </a:defRPr>
      </a:lvl1pPr>
      <a:lvl2pPr marL="685800" indent="-228600" algn="l" defTabSz="914400" rtl="0" eaLnBrk="1" latinLnBrk="0" hangingPunct="1">
        <a:lnSpc>
          <a:spcPct val="120000"/>
        </a:lnSpc>
        <a:spcBef>
          <a:spcPts val="0"/>
        </a:spcBef>
        <a:spcAft>
          <a:spcPts val="0"/>
        </a:spcAft>
        <a:buClr>
          <a:schemeClr val="accent1"/>
        </a:buClr>
        <a:buSzPct val="80000"/>
        <a:buFont typeface="Wingdings" panose="05000000000000000000" pitchFamily="2" charset="2"/>
        <a:buChar char="n"/>
        <a:defRPr sz="1400" kern="1200">
          <a:solidFill>
            <a:schemeClr val="bg2">
              <a:lumMod val="10000"/>
            </a:schemeClr>
          </a:solidFill>
          <a:latin typeface="+mn-lt"/>
          <a:ea typeface="+mn-ea"/>
          <a:cs typeface="+mn-cs"/>
        </a:defRPr>
      </a:lvl2pPr>
      <a:lvl3pPr marL="1143000" indent="-228600" algn="l" defTabSz="914400" rtl="0" eaLnBrk="1" latinLnBrk="0" hangingPunct="1">
        <a:lnSpc>
          <a:spcPct val="120000"/>
        </a:lnSpc>
        <a:spcBef>
          <a:spcPts val="0"/>
        </a:spcBef>
        <a:spcAft>
          <a:spcPts val="0"/>
        </a:spcAft>
        <a:buClr>
          <a:schemeClr val="accent1"/>
        </a:buClr>
        <a:buSzPct val="80000"/>
        <a:buFont typeface="Wingdings" panose="05000000000000000000" pitchFamily="2" charset="2"/>
        <a:buChar char="n"/>
        <a:defRPr sz="1400" kern="1200">
          <a:solidFill>
            <a:schemeClr val="bg2">
              <a:lumMod val="10000"/>
            </a:schemeClr>
          </a:solidFill>
          <a:latin typeface="+mn-lt"/>
          <a:ea typeface="+mn-ea"/>
          <a:cs typeface="+mn-cs"/>
        </a:defRPr>
      </a:lvl3pPr>
      <a:lvl4pPr marL="1600200" indent="-228600" algn="l" defTabSz="914400" rtl="0" eaLnBrk="1" latinLnBrk="0" hangingPunct="1">
        <a:lnSpc>
          <a:spcPct val="120000"/>
        </a:lnSpc>
        <a:spcBef>
          <a:spcPts val="0"/>
        </a:spcBef>
        <a:spcAft>
          <a:spcPts val="0"/>
        </a:spcAft>
        <a:buClr>
          <a:schemeClr val="accent1"/>
        </a:buClr>
        <a:buSzPct val="80000"/>
        <a:buFont typeface="Wingdings" panose="05000000000000000000" pitchFamily="2" charset="2"/>
        <a:buChar char="n"/>
        <a:defRPr sz="1400" kern="1200">
          <a:solidFill>
            <a:schemeClr val="bg2">
              <a:lumMod val="10000"/>
            </a:schemeClr>
          </a:solidFill>
          <a:latin typeface="+mn-lt"/>
          <a:ea typeface="+mn-ea"/>
          <a:cs typeface="+mn-cs"/>
        </a:defRPr>
      </a:lvl4pPr>
      <a:lvl5pPr marL="2057400" indent="-228600" algn="l" defTabSz="914400" rtl="0" eaLnBrk="1" latinLnBrk="0" hangingPunct="1">
        <a:lnSpc>
          <a:spcPct val="120000"/>
        </a:lnSpc>
        <a:spcBef>
          <a:spcPts val="0"/>
        </a:spcBef>
        <a:spcAft>
          <a:spcPts val="0"/>
        </a:spcAft>
        <a:buClr>
          <a:schemeClr val="accent1"/>
        </a:buClr>
        <a:buSzPct val="80000"/>
        <a:buFont typeface="Wingdings" panose="05000000000000000000" pitchFamily="2" charset="2"/>
        <a:buChar char="n"/>
        <a:defRPr sz="14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1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 Id="rId3" Type="http://schemas.microsoft.com/office/2007/relationships/hdphoto" Target="../media/image18.wdp"/><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hyperlink" Target="http://www.rapidesign.cn/"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4" Type="http://schemas.openxmlformats.org/officeDocument/2006/relationships/notesSlide" Target="../notesSlides/notesSlide5.xml"/><Relationship Id="rId23" Type="http://schemas.openxmlformats.org/officeDocument/2006/relationships/slideLayout" Target="../slideLayouts/slideLayout4.xml"/><Relationship Id="rId22" Type="http://schemas.openxmlformats.org/officeDocument/2006/relationships/tags" Target="../tags/tag23.xml"/><Relationship Id="rId21" Type="http://schemas.openxmlformats.org/officeDocument/2006/relationships/image" Target="../media/image29.png"/><Relationship Id="rId20" Type="http://schemas.openxmlformats.org/officeDocument/2006/relationships/image" Target="../media/image28.png"/><Relationship Id="rId2" Type="http://schemas.openxmlformats.org/officeDocument/2006/relationships/tags" Target="../tags/tag7.xml"/><Relationship Id="rId19" Type="http://schemas.openxmlformats.org/officeDocument/2006/relationships/image" Target="../media/image27.png"/><Relationship Id="rId18" Type="http://schemas.openxmlformats.org/officeDocument/2006/relationships/image" Target="../media/image26.png"/><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1.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34.jpeg"/><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31.svg"/><Relationship Id="rId13" Type="http://schemas.openxmlformats.org/officeDocument/2006/relationships/notesSlide" Target="../notesSlides/notesSlide6.xml"/><Relationship Id="rId12" Type="http://schemas.openxmlformats.org/officeDocument/2006/relationships/slideLayout" Target="../slideLayouts/slideLayout4.xml"/><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41.png"/><Relationship Id="rId6" Type="http://schemas.openxmlformats.org/officeDocument/2006/relationships/image" Target="../media/image40.tiff"/><Relationship Id="rId5" Type="http://schemas.openxmlformats.org/officeDocument/2006/relationships/image" Target="../media/image39.png"/><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3.svg"/><Relationship Id="rId13" Type="http://schemas.openxmlformats.org/officeDocument/2006/relationships/notesSlide" Target="../notesSlides/notesSlide7.xml"/><Relationship Id="rId12" Type="http://schemas.openxmlformats.org/officeDocument/2006/relationships/slideLayout" Target="../slideLayouts/slideLayout4.xml"/><Relationship Id="rId11" Type="http://schemas.openxmlformats.org/officeDocument/2006/relationships/image" Target="../media/image29.png"/><Relationship Id="rId10" Type="http://schemas.openxmlformats.org/officeDocument/2006/relationships/image" Target="../media/image28.png"/><Relationship Id="rId1" Type="http://schemas.openxmlformats.org/officeDocument/2006/relationships/image" Target="../media/image32.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9.png"/><Relationship Id="rId3" Type="http://schemas.openxmlformats.org/officeDocument/2006/relationships/image" Target="../media/image44.png"/><Relationship Id="rId2" Type="http://schemas.openxmlformats.org/officeDocument/2006/relationships/image" Target="../media/image43.png"/><Relationship Id="rId10" Type="http://schemas.openxmlformats.org/officeDocument/2006/relationships/notesSlide" Target="../notesSlides/notesSlide8.xml"/><Relationship Id="rId1" Type="http://schemas.openxmlformats.org/officeDocument/2006/relationships/image" Target="../media/image42.png"/></Relationships>
</file>

<file path=ppt/slides/_rels/slide15.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46.png"/><Relationship Id="rId4" Type="http://schemas.openxmlformats.org/officeDocument/2006/relationships/image" Target="../media/image37.png"/><Relationship Id="rId3" Type="http://schemas.openxmlformats.org/officeDocument/2006/relationships/image" Target="../media/image44.png"/><Relationship Id="rId2" Type="http://schemas.openxmlformats.org/officeDocument/2006/relationships/image" Target="../media/image43.png"/><Relationship Id="rId11" Type="http://schemas.openxmlformats.org/officeDocument/2006/relationships/notesSlide" Target="../notesSlides/notesSlide9.xml"/><Relationship Id="rId10" Type="http://schemas.openxmlformats.org/officeDocument/2006/relationships/slideLayout" Target="../slideLayouts/slideLayout4.xml"/><Relationship Id="rId1" Type="http://schemas.openxmlformats.org/officeDocument/2006/relationships/image" Target="../media/image45.png"/></Relationships>
</file>

<file path=ppt/slides/_rels/slide16.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7.png"/><Relationship Id="rId3" Type="http://schemas.openxmlformats.org/officeDocument/2006/relationships/image" Target="../media/image43.png"/><Relationship Id="rId2" Type="http://schemas.openxmlformats.org/officeDocument/2006/relationships/image" Target="../media/image44.png"/><Relationship Id="rId11" Type="http://schemas.openxmlformats.org/officeDocument/2006/relationships/notesSlide" Target="../notesSlides/notesSlide10.xml"/><Relationship Id="rId10" Type="http://schemas.openxmlformats.org/officeDocument/2006/relationships/slideLayout" Target="../slideLayouts/slideLayout4.xml"/><Relationship Id="rId1" Type="http://schemas.openxmlformats.org/officeDocument/2006/relationships/image" Target="../media/image47.jpe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3.png"/><Relationship Id="rId3" Type="http://schemas.openxmlformats.org/officeDocument/2006/relationships/image" Target="../media/image44.png"/><Relationship Id="rId2" Type="http://schemas.openxmlformats.org/officeDocument/2006/relationships/image" Target="../media/image50.png"/><Relationship Id="rId10" Type="http://schemas.openxmlformats.org/officeDocument/2006/relationships/notesSlide" Target="../notesSlides/notesSlide11.xml"/><Relationship Id="rId1" Type="http://schemas.openxmlformats.org/officeDocument/2006/relationships/image" Target="../media/image49.png"/></Relationships>
</file>

<file path=ppt/slides/_rels/slide18.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43.png"/><Relationship Id="rId4" Type="http://schemas.openxmlformats.org/officeDocument/2006/relationships/image" Target="../media/image37.png"/><Relationship Id="rId3" Type="http://schemas.openxmlformats.org/officeDocument/2006/relationships/image" Target="../media/image44.png"/><Relationship Id="rId2" Type="http://schemas.openxmlformats.org/officeDocument/2006/relationships/image" Target="../media/image52.jpeg"/><Relationship Id="rId11" Type="http://schemas.openxmlformats.org/officeDocument/2006/relationships/notesSlide" Target="../notesSlides/notesSlide12.xml"/><Relationship Id="rId10" Type="http://schemas.openxmlformats.org/officeDocument/2006/relationships/slideLayout" Target="../slideLayouts/slideLayout4.xml"/><Relationship Id="rId1" Type="http://schemas.openxmlformats.org/officeDocument/2006/relationships/image" Target="../media/image5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44.png"/><Relationship Id="rId12" Type="http://schemas.openxmlformats.org/officeDocument/2006/relationships/notesSlide" Target="../notesSlides/notesSlide13.xml"/><Relationship Id="rId11" Type="http://schemas.openxmlformats.org/officeDocument/2006/relationships/slideLayout" Target="../slideLayouts/slideLayout4.xml"/><Relationship Id="rId10" Type="http://schemas.openxmlformats.org/officeDocument/2006/relationships/image" Target="../media/image29.png"/><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3.png"/><Relationship Id="rId3" Type="http://schemas.openxmlformats.org/officeDocument/2006/relationships/image" Target="../media/image44.png"/><Relationship Id="rId2" Type="http://schemas.openxmlformats.org/officeDocument/2006/relationships/image" Target="../media/image58.png"/><Relationship Id="rId10" Type="http://schemas.openxmlformats.org/officeDocument/2006/relationships/notesSlide" Target="../notesSlides/notesSlide14.xml"/><Relationship Id="rId1" Type="http://schemas.openxmlformats.org/officeDocument/2006/relationships/image" Target="../media/image57.tiff"/></Relationships>
</file>

<file path=ppt/slides/_rels/slide22.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60.png"/><Relationship Id="rId5" Type="http://schemas.openxmlformats.org/officeDocument/2006/relationships/image" Target="../media/image39.png"/><Relationship Id="rId4" Type="http://schemas.openxmlformats.org/officeDocument/2006/relationships/image" Target="../media/image37.png"/><Relationship Id="rId3" Type="http://schemas.openxmlformats.org/officeDocument/2006/relationships/image" Target="../media/image44.png"/><Relationship Id="rId2" Type="http://schemas.openxmlformats.org/officeDocument/2006/relationships/image" Target="../media/image43.png"/><Relationship Id="rId12" Type="http://schemas.openxmlformats.org/officeDocument/2006/relationships/notesSlide" Target="../notesSlides/notesSlide15.xml"/><Relationship Id="rId11" Type="http://schemas.openxmlformats.org/officeDocument/2006/relationships/slideLayout" Target="../slideLayouts/slideLayout4.xml"/><Relationship Id="rId10" Type="http://schemas.openxmlformats.org/officeDocument/2006/relationships/image" Target="../media/image29.png"/><Relationship Id="rId1" Type="http://schemas.openxmlformats.org/officeDocument/2006/relationships/image" Target="../media/image59.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2.jpeg"/><Relationship Id="rId3" Type="http://schemas.openxmlformats.org/officeDocument/2006/relationships/image" Target="../media/image37.png"/><Relationship Id="rId2" Type="http://schemas.openxmlformats.org/officeDocument/2006/relationships/image" Target="../media/image43.png"/><Relationship Id="rId10" Type="http://schemas.openxmlformats.org/officeDocument/2006/relationships/notesSlide" Target="../notesSlides/notesSlide16.xml"/><Relationship Id="rId1" Type="http://schemas.openxmlformats.org/officeDocument/2006/relationships/image" Target="../media/image61.png"/></Relationships>
</file>

<file path=ppt/slides/_rels/slide24.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65.jpe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44.png"/><Relationship Id="rId2" Type="http://schemas.openxmlformats.org/officeDocument/2006/relationships/image" Target="../media/image37.png"/><Relationship Id="rId12" Type="http://schemas.openxmlformats.org/officeDocument/2006/relationships/notesSlide" Target="../notesSlides/notesSlide17.xml"/><Relationship Id="rId11" Type="http://schemas.openxmlformats.org/officeDocument/2006/relationships/slideLayout" Target="../slideLayouts/slideLayout4.xml"/><Relationship Id="rId10" Type="http://schemas.openxmlformats.org/officeDocument/2006/relationships/image" Target="../media/image29.png"/><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39.png"/><Relationship Id="rId4" Type="http://schemas.openxmlformats.org/officeDocument/2006/relationships/image" Target="../media/image37.png"/><Relationship Id="rId3" Type="http://schemas.openxmlformats.org/officeDocument/2006/relationships/image" Target="../media/image44.png"/><Relationship Id="rId2" Type="http://schemas.openxmlformats.org/officeDocument/2006/relationships/image" Target="../media/image67.png"/><Relationship Id="rId11" Type="http://schemas.openxmlformats.org/officeDocument/2006/relationships/notesSlide" Target="../notesSlides/notesSlide18.xml"/><Relationship Id="rId10" Type="http://schemas.openxmlformats.org/officeDocument/2006/relationships/slideLayout" Target="../slideLayouts/slideLayout4.xml"/><Relationship Id="rId1"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9.png"/><Relationship Id="rId1" Type="http://schemas.openxmlformats.org/officeDocument/2006/relationships/image" Target="../media/image68.jpe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9.xml"/><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39.png"/><Relationship Id="rId2" Type="http://schemas.openxmlformats.org/officeDocument/2006/relationships/image" Target="../media/image71.png"/><Relationship Id="rId1" Type="http://schemas.openxmlformats.org/officeDocument/2006/relationships/image" Target="../media/image70.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9.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39.png"/><Relationship Id="rId2" Type="http://schemas.openxmlformats.org/officeDocument/2006/relationships/image" Target="../media/image71.png"/><Relationship Id="rId1" Type="http://schemas.openxmlformats.org/officeDocument/2006/relationships/image" Target="../media/image70.pn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4.xml"/><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39.png"/><Relationship Id="rId2" Type="http://schemas.openxmlformats.org/officeDocument/2006/relationships/image" Target="../media/image71.png"/><Relationship Id="rId1" Type="http://schemas.openxmlformats.org/officeDocument/2006/relationships/image" Target="../media/image70.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6" name="文本框 3"/>
          <p:cNvSpPr txBox="1"/>
          <p:nvPr/>
        </p:nvSpPr>
        <p:spPr>
          <a:xfrm>
            <a:off x="1468732" y="2590180"/>
            <a:ext cx="9434150" cy="923330"/>
          </a:xfrm>
          <a:prstGeom prst="rect">
            <a:avLst/>
          </a:prstGeom>
          <a:ln w="12700">
            <a:miter lim="400000"/>
          </a:ln>
          <a:effectLst>
            <a:outerShdw blurRad="279400" dist="38100" dir="5400000" algn="t" rotWithShape="0">
              <a:prstClr val="black">
                <a:alpha val="39000"/>
              </a:prstClr>
            </a:outerShdw>
          </a:effectLst>
        </p:spPr>
        <p:txBody>
          <a:bodyPr wrap="square" lIns="91438" rIns="91438">
            <a:spAutoFit/>
          </a:bodyPr>
          <a:lstStyle>
            <a:defPPr>
              <a:defRPr lang="zh-CN"/>
            </a:defPPr>
            <a:lvl1pPr lvl="0" algn="ctr">
              <a:lnSpc>
                <a:spcPct val="150000"/>
              </a:lnSpc>
              <a:defRPr sz="4000" b="1" spc="300">
                <a:solidFill>
                  <a:schemeClr val="bg1"/>
                </a:solidFill>
                <a:latin typeface="微软雅黑" panose="020B0503020204020204" pitchFamily="34" charset="-122"/>
                <a:ea typeface="微软雅黑" panose="020B0503020204020204" pitchFamily="34" charset="-122"/>
                <a:cs typeface="苹方-简" panose="020B0400000000000000" pitchFamily="2" charset="-120"/>
              </a:defRPr>
            </a:lvl1pPr>
          </a:lstStyle>
          <a:p>
            <a:pPr algn="ctr">
              <a:lnSpc>
                <a:spcPct val="100000"/>
              </a:lnSpc>
            </a:pPr>
            <a:r>
              <a:rPr lang="zh-CN" altLang="en-US" sz="5400" spc="2000" dirty="0">
                <a:latin typeface="微软雅黑" panose="020B0503020204020204" pitchFamily="34" charset="-122"/>
                <a:ea typeface="微软雅黑" panose="020B0503020204020204" pitchFamily="34" charset="-122"/>
                <a:cs typeface="+mn-cs"/>
              </a:rPr>
              <a:t>新一代的</a:t>
            </a:r>
            <a:r>
              <a:rPr lang="en-US" altLang="zh-CN" sz="5400" spc="2000" dirty="0" err="1">
                <a:latin typeface="微软雅黑" panose="020B0503020204020204" pitchFamily="34" charset="-122"/>
                <a:ea typeface="微软雅黑" panose="020B0503020204020204" pitchFamily="34" charset="-122"/>
                <a:cs typeface="+mn-cs"/>
              </a:rPr>
              <a:t>NeoCRM</a:t>
            </a:r>
            <a:endParaRPr lang="zh-CN" altLang="en-US" sz="5400" spc="2000" dirty="0">
              <a:latin typeface="微软雅黑" panose="020B0503020204020204" pitchFamily="34" charset="-122"/>
              <a:ea typeface="微软雅黑" panose="020B0503020204020204" pitchFamily="34" charset="-122"/>
              <a:cs typeface="+mn-cs"/>
            </a:endParaRPr>
          </a:p>
        </p:txBody>
      </p:sp>
      <p:sp>
        <p:nvSpPr>
          <p:cNvPr id="7" name="文本框 5"/>
          <p:cNvSpPr txBox="1"/>
          <p:nvPr/>
        </p:nvSpPr>
        <p:spPr>
          <a:xfrm>
            <a:off x="2779034" y="3615432"/>
            <a:ext cx="6813546" cy="461665"/>
          </a:xfrm>
          <a:prstGeom prst="rect">
            <a:avLst/>
          </a:prstGeom>
          <a:ln w="12700">
            <a:miter lim="400000"/>
          </a:ln>
          <a:effectLst>
            <a:outerShdw blurRad="279400" dist="38100" dir="5400000" algn="t" rotWithShape="0">
              <a:prstClr val="black">
                <a:alpha val="39000"/>
              </a:prstClr>
            </a:outerShdw>
          </a:effectLst>
        </p:spPr>
        <p:txBody>
          <a:bodyPr wrap="square" lIns="91438" rIns="91438">
            <a:spAutoFit/>
          </a:bodyPr>
          <a:lstStyle>
            <a:lvl1pPr algn="ctr">
              <a:defRPr sz="2400" b="1">
                <a:solidFill>
                  <a:srgbClr val="F7F2D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en-US" altLang="zh-CN" b="0" spc="600" dirty="0">
                <a:solidFill>
                  <a:schemeClr val="bg1"/>
                </a:solidFill>
              </a:rPr>
              <a:t> </a:t>
            </a:r>
            <a:r>
              <a:rPr lang="zh-CN" altLang="en-US" b="0" spc="600" dirty="0">
                <a:solidFill>
                  <a:schemeClr val="bg1"/>
                </a:solidFill>
              </a:rPr>
              <a:t>赋能企业“以客户为中心”</a:t>
            </a:r>
            <a:endParaRPr lang="zh-CN" altLang="en-US" b="0" spc="600" dirty="0">
              <a:solidFill>
                <a:schemeClr val="bg1"/>
              </a:solidFill>
            </a:endParaRPr>
          </a:p>
        </p:txBody>
      </p:sp>
      <p:sp>
        <p:nvSpPr>
          <p:cNvPr id="8" name="직선 연결선 6"/>
          <p:cNvSpPr/>
          <p:nvPr/>
        </p:nvSpPr>
        <p:spPr>
          <a:xfrm flipV="1">
            <a:off x="5886816" y="4297225"/>
            <a:ext cx="597983" cy="0"/>
          </a:xfrm>
          <a:prstGeom prst="line">
            <a:avLst/>
          </a:prstGeom>
          <a:ln w="76200">
            <a:solidFill>
              <a:srgbClr val="FFCD00"/>
            </a:solidFill>
            <a:miter/>
          </a:ln>
        </p:spPr>
        <p:txBody>
          <a:bodyPr lIns="91438" rIns="91438"/>
          <a:lstStyle/>
          <a:p>
            <a:pPr algn="ctr">
              <a:defRPr>
                <a:latin typeface="Arial" panose="020B0604020202020204"/>
                <a:ea typeface="Arial" panose="020B0604020202020204"/>
                <a:cs typeface="Arial" panose="020B0604020202020204"/>
                <a:sym typeface="Arial" panose="020B0604020202020204"/>
              </a:defRPr>
            </a:pPr>
            <a:endParaRPr sz="6000" dirty="0"/>
          </a:p>
        </p:txBody>
      </p:sp>
      <p:sp>
        <p:nvSpPr>
          <p:cNvPr id="10" name="文本框 5"/>
          <p:cNvSpPr txBox="1"/>
          <p:nvPr/>
        </p:nvSpPr>
        <p:spPr>
          <a:xfrm>
            <a:off x="5543061" y="4246057"/>
            <a:ext cx="1059527" cy="354733"/>
          </a:xfrm>
          <a:prstGeom prst="rect">
            <a:avLst/>
          </a:prstGeom>
          <a:ln w="12700">
            <a:miter lim="400000"/>
          </a:ln>
        </p:spPr>
        <p:txBody>
          <a:bodyPr wrap="square" lIns="91438" rIns="91438">
            <a:spAutoFit/>
          </a:bodyPr>
          <a:lstStyle>
            <a:lvl1pPr algn="ctr">
              <a:defRPr sz="2400" b="1">
                <a:solidFill>
                  <a:srgbClr val="F7F2D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defTabSz="2438400">
              <a:defRPr sz="2400" b="1">
                <a:solidFill>
                  <a:schemeClr val="accent1">
                    <a:lumOff val="20196"/>
                  </a:schemeClr>
                </a:solidFill>
              </a:defRPr>
            </a:pPr>
            <a:endParaRPr lang="zh-CN" altLang="en-US" sz="4000" dirty="0">
              <a:solidFill>
                <a:schemeClr val="bg1"/>
              </a:solidFill>
              <a:cs typeface="苹方-简" panose="020B0400000000000000" pitchFamily="2" charset="-120"/>
            </a:endParaRPr>
          </a:p>
        </p:txBody>
      </p:sp>
      <p:sp>
        <p:nvSpPr>
          <p:cNvPr id="11" name="矩形 10"/>
          <p:cNvSpPr/>
          <p:nvPr/>
        </p:nvSpPr>
        <p:spPr>
          <a:xfrm>
            <a:off x="5114566" y="0"/>
            <a:ext cx="2142483" cy="2257425"/>
          </a:xfrm>
          <a:prstGeom prst="rect">
            <a:avLst/>
          </a:prstGeom>
          <a:solidFill>
            <a:srgbClr val="1C69D4">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p>
        </p:txBody>
      </p:sp>
      <p:pic>
        <p:nvPicPr>
          <p:cNvPr id="12" name="图片 11"/>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5416577" y="1672112"/>
            <a:ext cx="1538460" cy="347692"/>
          </a:xfrm>
          <a:prstGeom prst="rect">
            <a:avLst/>
          </a:prstGeom>
        </p:spPr>
      </p:pic>
      <p:sp>
        <p:nvSpPr>
          <p:cNvPr id="14" name="矩形 13"/>
          <p:cNvSpPr/>
          <p:nvPr/>
        </p:nvSpPr>
        <p:spPr>
          <a:xfrm>
            <a:off x="5114566" y="4608340"/>
            <a:ext cx="2142483" cy="2257425"/>
          </a:xfrm>
          <a:prstGeom prst="rect">
            <a:avLst/>
          </a:prstGeom>
          <a:solidFill>
            <a:srgbClr val="1C69D4">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spc="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圆顶角 66"/>
          <p:cNvSpPr/>
          <p:nvPr/>
        </p:nvSpPr>
        <p:spPr>
          <a:xfrm rot="5400000">
            <a:off x="2690271" y="-597429"/>
            <a:ext cx="2743200" cy="8123741"/>
          </a:xfrm>
          <a:prstGeom prst="round2SameRect">
            <a:avLst>
              <a:gd name="adj1" fmla="val 19712"/>
              <a:gd name="adj2" fmla="val 0"/>
            </a:avLst>
          </a:prstGeom>
          <a:solidFill>
            <a:srgbClr val="1C69D4"/>
          </a:solidFill>
          <a:ln>
            <a:noFill/>
          </a:ln>
          <a:effectLst>
            <a:outerShdw blurRad="342900" dist="38100" dir="54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8" name="图片 67"/>
          <p:cNvPicPr>
            <a:picLocks noChangeAspect="1"/>
          </p:cNvPicPr>
          <p:nvPr/>
        </p:nvPicPr>
        <p:blipFill rotWithShape="1">
          <a:blip r:embed="rId1">
            <a:extLst>
              <a:ext uri="{28A0092B-C50C-407E-A947-70E740481C1C}">
                <a14:useLocalDpi xmlns:a14="http://schemas.microsoft.com/office/drawing/2010/main" val="0"/>
              </a:ext>
            </a:extLst>
          </a:blip>
          <a:srcRect l="164" t="7458" r="164" b="5304"/>
          <a:stretch>
            <a:fillRect/>
          </a:stretch>
        </p:blipFill>
        <p:spPr>
          <a:xfrm>
            <a:off x="0" y="2092843"/>
            <a:ext cx="8119697" cy="2743199"/>
          </a:xfrm>
          <a:custGeom>
            <a:avLst/>
            <a:gdLst>
              <a:gd name="connsiteX0" fmla="*/ 0 w 8119697"/>
              <a:gd name="connsiteY0" fmla="*/ 0 h 2743199"/>
              <a:gd name="connsiteX1" fmla="*/ 7578957 w 8119697"/>
              <a:gd name="connsiteY1" fmla="*/ 0 h 2743199"/>
              <a:gd name="connsiteX2" fmla="*/ 8119697 w 8119697"/>
              <a:gd name="connsiteY2" fmla="*/ 540740 h 2743199"/>
              <a:gd name="connsiteX3" fmla="*/ 8119697 w 8119697"/>
              <a:gd name="connsiteY3" fmla="*/ 2202459 h 2743199"/>
              <a:gd name="connsiteX4" fmla="*/ 7578957 w 8119697"/>
              <a:gd name="connsiteY4" fmla="*/ 2743199 h 2743199"/>
              <a:gd name="connsiteX5" fmla="*/ 0 w 8119697"/>
              <a:gd name="connsiteY5" fmla="*/ 2743199 h 274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9697" h="2743199">
                <a:moveTo>
                  <a:pt x="0" y="0"/>
                </a:moveTo>
                <a:lnTo>
                  <a:pt x="7578957" y="0"/>
                </a:lnTo>
                <a:cubicBezTo>
                  <a:pt x="7877599" y="0"/>
                  <a:pt x="8119697" y="242098"/>
                  <a:pt x="8119697" y="540740"/>
                </a:cubicBezTo>
                <a:lnTo>
                  <a:pt x="8119697" y="2202459"/>
                </a:lnTo>
                <a:cubicBezTo>
                  <a:pt x="8119697" y="2501101"/>
                  <a:pt x="7877599" y="2743199"/>
                  <a:pt x="7578957" y="2743199"/>
                </a:cubicBezTo>
                <a:lnTo>
                  <a:pt x="0" y="2743199"/>
                </a:lnTo>
                <a:close/>
              </a:path>
            </a:pathLst>
          </a:custGeom>
        </p:spPr>
      </p:pic>
      <p:grpSp>
        <p:nvGrpSpPr>
          <p:cNvPr id="10" name="组合 9"/>
          <p:cNvGrpSpPr/>
          <p:nvPr/>
        </p:nvGrpSpPr>
        <p:grpSpPr>
          <a:xfrm>
            <a:off x="8254440" y="2459421"/>
            <a:ext cx="3580207" cy="775749"/>
            <a:chOff x="412809" y="4760604"/>
            <a:chExt cx="3714464" cy="767243"/>
          </a:xfrm>
        </p:grpSpPr>
        <p:sp>
          <p:nvSpPr>
            <p:cNvPr id="16" name="文本框 15"/>
            <p:cNvSpPr txBox="1"/>
            <p:nvPr/>
          </p:nvSpPr>
          <p:spPr>
            <a:xfrm>
              <a:off x="412809" y="4929097"/>
              <a:ext cx="3714464" cy="598750"/>
            </a:xfrm>
            <a:prstGeom prst="rect">
              <a:avLst/>
            </a:prstGeom>
            <a:noFill/>
          </p:spPr>
          <p:txBody>
            <a:bodyPr wrap="square" rtlCol="0">
              <a:spAutoFit/>
            </a:bodyPr>
            <a:lstStyle>
              <a:defPPr>
                <a:defRPr lang="zh-CN"/>
              </a:defPPr>
              <a:lvl1pPr lvl="0">
                <a:defRPr kumimoji="0" sz="2400" b="1" i="0" u="none" strike="noStrike" cap="none" spc="0" normalizeH="0" baseline="0">
                  <a:ln>
                    <a:noFill/>
                  </a:ln>
                  <a:solidFill>
                    <a:srgbClr val="1C69D4"/>
                  </a:solidFill>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vl2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2pPr>
              <a:lvl3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3pPr>
              <a:lvl4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4pPr>
              <a:lvl5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5pPr>
              <a:lvl6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6pPr>
              <a:lvl7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7pPr>
              <a:lvl8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8pPr>
              <a:lvl9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9pPr>
            </a:lstStyle>
            <a:p>
              <a:r>
                <a:rPr lang="zh-CN" altLang="en-US" sz="2800" spc="300" dirty="0"/>
                <a:t>公司简介</a:t>
              </a:r>
              <a:endParaRPr lang="en-US" altLang="zh-CN" sz="2800" spc="300" dirty="0"/>
            </a:p>
          </p:txBody>
        </p:sp>
        <p:sp>
          <p:nvSpPr>
            <p:cNvPr id="3" name="矩形 2"/>
            <p:cNvSpPr/>
            <p:nvPr/>
          </p:nvSpPr>
          <p:spPr>
            <a:xfrm>
              <a:off x="503767" y="4760604"/>
              <a:ext cx="67261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69" name="矩形: 圆顶角 68"/>
          <p:cNvSpPr/>
          <p:nvPr/>
        </p:nvSpPr>
        <p:spPr>
          <a:xfrm rot="5400000">
            <a:off x="2690273" y="-597430"/>
            <a:ext cx="2743200" cy="8123741"/>
          </a:xfrm>
          <a:prstGeom prst="round2SameRect">
            <a:avLst>
              <a:gd name="adj1" fmla="val 19712"/>
              <a:gd name="adj2" fmla="val 0"/>
            </a:avLst>
          </a:prstGeom>
          <a:solidFill>
            <a:srgbClr val="1C69D4">
              <a:alpha val="27000"/>
            </a:srgbClr>
          </a:solidFill>
          <a:ln>
            <a:noFill/>
          </a:ln>
          <a:effectLst>
            <a:outerShdw blurRad="342900" dist="38100" dir="54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82200" y="3153865"/>
            <a:ext cx="4241233" cy="1015663"/>
          </a:xfrm>
          <a:prstGeom prst="rect">
            <a:avLst/>
          </a:prstGeom>
          <a:noFill/>
        </p:spPr>
        <p:txBody>
          <a:bodyPr wrap="square">
            <a:spAutoFit/>
          </a:bodyPr>
          <a:lstStyle/>
          <a:p>
            <a:r>
              <a:rPr lang="en-US" altLang="zh-CN" sz="6000" b="1" spc="300" dirty="0">
                <a:solidFill>
                  <a:srgbClr val="F3F8F2">
                    <a:alpha val="62000"/>
                  </a:srgbClr>
                </a:solidFill>
                <a:latin typeface="微软雅黑" panose="020B0503020204020204" pitchFamily="34" charset="-122"/>
                <a:ea typeface="微软雅黑" panose="020B0503020204020204" pitchFamily="34" charset="-122"/>
              </a:rPr>
              <a:t>Part 1</a:t>
            </a:r>
            <a:endParaRPr lang="zh-CN" altLang="en-US" sz="4400" b="1" spc="300" dirty="0">
              <a:solidFill>
                <a:srgbClr val="F3F8F2">
                  <a:alpha val="62000"/>
                </a:srgb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11855450" cy="63836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80670" y="5553075"/>
            <a:ext cx="11920855" cy="1052195"/>
            <a:chOff x="-1" y="5553226"/>
            <a:chExt cx="12742566" cy="1335715"/>
          </a:xfrm>
        </p:grpSpPr>
        <p:sp>
          <p:nvSpPr>
            <p:cNvPr id="113" name="í$ľiḓe"/>
            <p:cNvSpPr/>
            <p:nvPr/>
          </p:nvSpPr>
          <p:spPr>
            <a:xfrm>
              <a:off x="-1" y="5942983"/>
              <a:ext cx="12192001" cy="945958"/>
            </a:xfrm>
            <a:prstGeom prst="rect">
              <a:avLst/>
            </a:prstGeom>
            <a:solidFill>
              <a:schemeClr val="tx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bg1"/>
                </a:solidFill>
              </a:endParaRPr>
            </a:p>
          </p:txBody>
        </p:sp>
        <p:grpSp>
          <p:nvGrpSpPr>
            <p:cNvPr id="12" name="组合 11"/>
            <p:cNvGrpSpPr/>
            <p:nvPr/>
          </p:nvGrpSpPr>
          <p:grpSpPr>
            <a:xfrm>
              <a:off x="619318" y="6150403"/>
              <a:ext cx="10239352" cy="705413"/>
              <a:chOff x="1026712" y="6150403"/>
              <a:chExt cx="10239352" cy="705413"/>
            </a:xfrm>
          </p:grpSpPr>
          <p:grpSp>
            <p:nvGrpSpPr>
              <p:cNvPr id="11" name="组合 10"/>
              <p:cNvGrpSpPr/>
              <p:nvPr/>
            </p:nvGrpSpPr>
            <p:grpSpPr>
              <a:xfrm>
                <a:off x="2829321" y="6202790"/>
                <a:ext cx="8436743" cy="442487"/>
                <a:chOff x="2829321" y="6202790"/>
                <a:chExt cx="8436743" cy="442487"/>
              </a:xfrm>
            </p:grpSpPr>
            <p:grpSp>
              <p:nvGrpSpPr>
                <p:cNvPr id="123" name="组合 122"/>
                <p:cNvGrpSpPr/>
                <p:nvPr/>
              </p:nvGrpSpPr>
              <p:grpSpPr>
                <a:xfrm>
                  <a:off x="2829321" y="6202790"/>
                  <a:ext cx="5544159" cy="442487"/>
                  <a:chOff x="306280" y="6078712"/>
                  <a:chExt cx="5216114" cy="642698"/>
                </a:xfrm>
              </p:grpSpPr>
              <p:sp>
                <p:nvSpPr>
                  <p:cNvPr id="125" name="矩形: 圆角 124"/>
                  <p:cNvSpPr/>
                  <p:nvPr/>
                </p:nvSpPr>
                <p:spPr>
                  <a:xfrm>
                    <a:off x="3094812" y="6078712"/>
                    <a:ext cx="1016097" cy="630214"/>
                  </a:xfrm>
                  <a:prstGeom prst="roundRect">
                    <a:avLst/>
                  </a:prstGeom>
                  <a:solidFill>
                    <a:schemeClr val="bg1"/>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r>
                      <a:rPr kumimoji="1" lang="en-US" altLang="zh-CN" sz="1050">
                        <a:solidFill>
                          <a:schemeClr val="bg2">
                            <a:lumMod val="25000"/>
                          </a:schemeClr>
                        </a:solidFill>
                        <a:sym typeface="Arial" panose="020B0604020202020204" pitchFamily="34" charset="0"/>
                      </a:rPr>
                      <a:t>Open API</a:t>
                    </a:r>
                    <a:endParaRPr kumimoji="1" lang="en-US" altLang="zh-CN" sz="1050">
                      <a:solidFill>
                        <a:schemeClr val="bg2">
                          <a:lumMod val="25000"/>
                        </a:schemeClr>
                      </a:solidFill>
                      <a:sym typeface="Arial" panose="020B0604020202020204" pitchFamily="34" charset="0"/>
                    </a:endParaRPr>
                  </a:p>
                  <a:p>
                    <a:pPr algn="ctr" defTabSz="914400"/>
                    <a:r>
                      <a:rPr kumimoji="1" lang="zh-CN" altLang="en-US" sz="1050">
                        <a:solidFill>
                          <a:schemeClr val="bg2">
                            <a:lumMod val="25000"/>
                          </a:schemeClr>
                        </a:solidFill>
                        <a:sym typeface="Arial" panose="020B0604020202020204" pitchFamily="34" charset="0"/>
                      </a:rPr>
                      <a:t>高效集成</a:t>
                    </a:r>
                    <a:endParaRPr kumimoji="1" lang="zh-CN" altLang="en-US" sz="1050">
                      <a:solidFill>
                        <a:schemeClr val="bg2">
                          <a:lumMod val="25000"/>
                        </a:schemeClr>
                      </a:solidFill>
                      <a:sym typeface="Arial" panose="020B0604020202020204" pitchFamily="34" charset="0"/>
                    </a:endParaRPr>
                  </a:p>
                </p:txBody>
              </p:sp>
              <p:sp>
                <p:nvSpPr>
                  <p:cNvPr id="126" name="矩形: 圆角 125"/>
                  <p:cNvSpPr/>
                  <p:nvPr/>
                </p:nvSpPr>
                <p:spPr>
                  <a:xfrm>
                    <a:off x="1717765" y="6095508"/>
                    <a:ext cx="1016097" cy="622388"/>
                  </a:xfrm>
                  <a:prstGeom prst="roundRect">
                    <a:avLst/>
                  </a:prstGeom>
                  <a:solidFill>
                    <a:schemeClr val="bg1"/>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r>
                      <a:rPr kumimoji="1" lang="en-US" altLang="zh-CN" sz="1050">
                        <a:solidFill>
                          <a:schemeClr val="bg2">
                            <a:lumMod val="25000"/>
                          </a:schemeClr>
                        </a:solidFill>
                        <a:sym typeface="Arial" panose="020B0604020202020204" pitchFamily="34" charset="0"/>
                      </a:rPr>
                      <a:t>aPaaS </a:t>
                    </a:r>
                    <a:endParaRPr kumimoji="1" lang="en-US" altLang="zh-CN" sz="1050">
                      <a:solidFill>
                        <a:schemeClr val="bg2">
                          <a:lumMod val="25000"/>
                        </a:schemeClr>
                      </a:solidFill>
                      <a:sym typeface="Arial" panose="020B0604020202020204" pitchFamily="34" charset="0"/>
                    </a:endParaRPr>
                  </a:p>
                  <a:p>
                    <a:pPr algn="ctr" defTabSz="914400"/>
                    <a:r>
                      <a:rPr kumimoji="1" lang="zh-CN" altLang="en-US" sz="1050">
                        <a:solidFill>
                          <a:schemeClr val="bg2">
                            <a:lumMod val="25000"/>
                          </a:schemeClr>
                        </a:solidFill>
                        <a:sym typeface="Arial" panose="020B0604020202020204" pitchFamily="34" charset="0"/>
                      </a:rPr>
                      <a:t>低代码开发</a:t>
                    </a:r>
                    <a:endParaRPr kumimoji="1" lang="zh-CN" altLang="en-US" sz="1050">
                      <a:solidFill>
                        <a:schemeClr val="bg2">
                          <a:lumMod val="25000"/>
                        </a:schemeClr>
                      </a:solidFill>
                      <a:sym typeface="Arial" panose="020B0604020202020204" pitchFamily="34" charset="0"/>
                    </a:endParaRPr>
                  </a:p>
                </p:txBody>
              </p:sp>
              <p:sp>
                <p:nvSpPr>
                  <p:cNvPr id="127" name="矩形: 圆角 126"/>
                  <p:cNvSpPr/>
                  <p:nvPr/>
                </p:nvSpPr>
                <p:spPr>
                  <a:xfrm>
                    <a:off x="306280" y="6091196"/>
                    <a:ext cx="1016097" cy="630214"/>
                  </a:xfrm>
                  <a:prstGeom prst="roundRect">
                    <a:avLst/>
                  </a:prstGeom>
                  <a:solidFill>
                    <a:schemeClr val="bg1"/>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r>
                      <a:rPr kumimoji="1" lang="zh-CN" altLang="en-US" sz="1050">
                        <a:solidFill>
                          <a:schemeClr val="bg2">
                            <a:lumMod val="25000"/>
                          </a:schemeClr>
                        </a:solidFill>
                        <a:sym typeface="Arial" panose="020B0604020202020204" pitchFamily="34" charset="0"/>
                      </a:rPr>
                      <a:t>元数据服务</a:t>
                    </a:r>
                    <a:endParaRPr kumimoji="1" lang="en-US" altLang="zh-CN" sz="1050">
                      <a:solidFill>
                        <a:schemeClr val="bg2">
                          <a:lumMod val="25000"/>
                        </a:schemeClr>
                      </a:solidFill>
                      <a:sym typeface="Arial" panose="020B0604020202020204" pitchFamily="34" charset="0"/>
                    </a:endParaRPr>
                  </a:p>
                  <a:p>
                    <a:pPr algn="ctr" defTabSz="914400"/>
                    <a:r>
                      <a:rPr kumimoji="1" lang="zh-CN" altLang="en-US" sz="1050">
                        <a:solidFill>
                          <a:schemeClr val="bg2">
                            <a:lumMod val="25000"/>
                          </a:schemeClr>
                        </a:solidFill>
                        <a:sym typeface="Arial" panose="020B0604020202020204" pitchFamily="34" charset="0"/>
                      </a:rPr>
                      <a:t>自定义实体</a:t>
                    </a:r>
                    <a:endParaRPr kumimoji="1" lang="zh-CN" altLang="en-US" sz="1050">
                      <a:solidFill>
                        <a:schemeClr val="bg2">
                          <a:lumMod val="25000"/>
                        </a:schemeClr>
                      </a:solidFill>
                      <a:sym typeface="Arial" panose="020B0604020202020204" pitchFamily="34" charset="0"/>
                    </a:endParaRPr>
                  </a:p>
                </p:txBody>
              </p:sp>
              <p:sp>
                <p:nvSpPr>
                  <p:cNvPr id="128" name="矩形: 圆角 127"/>
                  <p:cNvSpPr/>
                  <p:nvPr/>
                </p:nvSpPr>
                <p:spPr>
                  <a:xfrm>
                    <a:off x="4506297" y="6096163"/>
                    <a:ext cx="1016097" cy="603094"/>
                  </a:xfrm>
                  <a:prstGeom prst="roundRect">
                    <a:avLst/>
                  </a:prstGeom>
                  <a:solidFill>
                    <a:schemeClr val="bg1"/>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120000"/>
                      </a:lnSpc>
                    </a:pPr>
                    <a:r>
                      <a:rPr kumimoji="1" lang="zh-CN" altLang="en-US" sz="1050">
                        <a:solidFill>
                          <a:schemeClr val="bg2">
                            <a:lumMod val="25000"/>
                          </a:schemeClr>
                        </a:solidFill>
                        <a:sym typeface="Arial" panose="020B0604020202020204" pitchFamily="34" charset="0"/>
                      </a:rPr>
                      <a:t>沙盒管理 </a:t>
                    </a:r>
                    <a:endParaRPr kumimoji="1" lang="en-US" altLang="zh-CN" sz="1050">
                      <a:solidFill>
                        <a:schemeClr val="bg2">
                          <a:lumMod val="25000"/>
                        </a:schemeClr>
                      </a:solidFill>
                      <a:sym typeface="Arial" panose="020B0604020202020204" pitchFamily="34" charset="0"/>
                    </a:endParaRPr>
                  </a:p>
                  <a:p>
                    <a:pPr algn="ctr" defTabSz="914400">
                      <a:lnSpc>
                        <a:spcPct val="120000"/>
                      </a:lnSpc>
                    </a:pPr>
                    <a:r>
                      <a:rPr kumimoji="1" lang="zh-CN" altLang="en-US" sz="1050">
                        <a:solidFill>
                          <a:schemeClr val="bg2">
                            <a:lumMod val="25000"/>
                          </a:schemeClr>
                        </a:solidFill>
                        <a:sym typeface="Arial" panose="020B0604020202020204" pitchFamily="34" charset="0"/>
                      </a:rPr>
                      <a:t>安全防御</a:t>
                    </a:r>
                    <a:endParaRPr kumimoji="1" lang="zh-CN" altLang="en-US" sz="1050">
                      <a:solidFill>
                        <a:schemeClr val="bg2">
                          <a:lumMod val="25000"/>
                        </a:schemeClr>
                      </a:solidFill>
                      <a:sym typeface="Arial" panose="020B0604020202020204" pitchFamily="34" charset="0"/>
                    </a:endParaRPr>
                  </a:p>
                </p:txBody>
              </p:sp>
            </p:grpSp>
            <p:sp>
              <p:nvSpPr>
                <p:cNvPr id="124" name="矩形: 圆角 123"/>
                <p:cNvSpPr/>
                <p:nvPr/>
              </p:nvSpPr>
              <p:spPr>
                <a:xfrm>
                  <a:off x="9969286" y="6212093"/>
                  <a:ext cx="1296778" cy="428681"/>
                </a:xfrm>
                <a:prstGeom prst="roundRect">
                  <a:avLst/>
                </a:prstGeom>
                <a:solidFill>
                  <a:schemeClr val="bg1"/>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120000"/>
                    </a:lnSpc>
                  </a:pPr>
                  <a:r>
                    <a:rPr kumimoji="1" lang="en-US" altLang="zh-CN" sz="1050">
                      <a:solidFill>
                        <a:schemeClr val="bg2">
                          <a:lumMod val="25000"/>
                        </a:schemeClr>
                      </a:solidFill>
                      <a:sym typeface="Arial" panose="020B0604020202020204" pitchFamily="34" charset="0"/>
                    </a:rPr>
                    <a:t>CDP</a:t>
                  </a:r>
                  <a:endParaRPr kumimoji="1" lang="zh-CN" altLang="en-US" sz="1050">
                    <a:solidFill>
                      <a:schemeClr val="bg2">
                        <a:lumMod val="25000"/>
                      </a:schemeClr>
                    </a:solidFill>
                    <a:sym typeface="Arial" panose="020B0604020202020204" pitchFamily="34" charset="0"/>
                  </a:endParaRPr>
                </a:p>
              </p:txBody>
            </p:sp>
          </p:grpSp>
          <p:sp>
            <p:nvSpPr>
              <p:cNvPr id="129" name="文本框 128"/>
              <p:cNvSpPr txBox="1"/>
              <p:nvPr/>
            </p:nvSpPr>
            <p:spPr>
              <a:xfrm>
                <a:off x="1026712" y="6166390"/>
                <a:ext cx="1845670" cy="677128"/>
              </a:xfrm>
              <a:prstGeom prst="rect">
                <a:avLst/>
              </a:prstGeom>
              <a:noFill/>
            </p:spPr>
            <p:txBody>
              <a:bodyPr wrap="square">
                <a:spAutoFit/>
              </a:bodyPr>
              <a:lstStyle/>
              <a:p>
                <a:pPr marL="0" lvl="2" algn="ctr">
                  <a:lnSpc>
                    <a:spcPct val="120000"/>
                  </a:lnSpc>
                  <a:buSzPct val="25000"/>
                </a:pPr>
                <a:r>
                  <a:rPr lang="en-US" altLang="zh-CN" sz="1200" b="1">
                    <a:solidFill>
                      <a:schemeClr val="bg1"/>
                    </a:solidFill>
                  </a:rPr>
                  <a:t>PaaS</a:t>
                </a:r>
                <a:r>
                  <a:rPr lang="zh-CN" altLang="en-US" sz="1200" b="1">
                    <a:solidFill>
                      <a:schemeClr val="bg1"/>
                    </a:solidFill>
                  </a:rPr>
                  <a:t>平台</a:t>
                </a:r>
                <a:r>
                  <a:rPr lang="en-US" altLang="zh-CN" sz="1200" b="1">
                    <a:solidFill>
                      <a:schemeClr val="bg1"/>
                    </a:solidFill>
                  </a:rPr>
                  <a:t> </a:t>
                </a:r>
                <a:endParaRPr lang="en-US" altLang="zh-CN" sz="1200" b="1">
                  <a:solidFill>
                    <a:schemeClr val="bg1"/>
                  </a:solidFill>
                </a:endParaRPr>
              </a:p>
              <a:p>
                <a:pPr marL="0" lvl="2" algn="ctr">
                  <a:lnSpc>
                    <a:spcPct val="120000"/>
                  </a:lnSpc>
                  <a:buSzPct val="25000"/>
                </a:pPr>
                <a:r>
                  <a:rPr lang="en-US" altLang="zh-CN" sz="1200" b="1">
                    <a:solidFill>
                      <a:schemeClr val="bg1"/>
                    </a:solidFill>
                  </a:rPr>
                  <a:t>Neo-Platform</a:t>
                </a:r>
                <a:endParaRPr lang="en-US" altLang="zh-CN" sz="1200" b="1">
                  <a:solidFill>
                    <a:schemeClr val="bg1"/>
                  </a:solidFill>
                </a:endParaRPr>
              </a:p>
            </p:txBody>
          </p:sp>
          <p:sp>
            <p:nvSpPr>
              <p:cNvPr id="130" name="文本框 129"/>
              <p:cNvSpPr txBox="1"/>
              <p:nvPr/>
            </p:nvSpPr>
            <p:spPr>
              <a:xfrm>
                <a:off x="8931282" y="6178688"/>
                <a:ext cx="989149" cy="677128"/>
              </a:xfrm>
              <a:prstGeom prst="rect">
                <a:avLst/>
              </a:prstGeom>
              <a:noFill/>
            </p:spPr>
            <p:txBody>
              <a:bodyPr wrap="square">
                <a:spAutoFit/>
              </a:bodyPr>
              <a:lstStyle/>
              <a:p>
                <a:pPr marL="0" lvl="2" algn="ctr">
                  <a:lnSpc>
                    <a:spcPct val="120000"/>
                  </a:lnSpc>
                  <a:buSzPct val="25000"/>
                </a:pPr>
                <a:r>
                  <a:rPr lang="zh-CN" altLang="en-US" sz="1200" b="1">
                    <a:solidFill>
                      <a:schemeClr val="bg1"/>
                    </a:solidFill>
                  </a:rPr>
                  <a:t>数据</a:t>
                </a:r>
                <a:endParaRPr lang="en-US" altLang="zh-CN" sz="1200" b="1">
                  <a:solidFill>
                    <a:schemeClr val="bg1"/>
                  </a:solidFill>
                </a:endParaRPr>
              </a:p>
              <a:p>
                <a:pPr marL="0" lvl="2" algn="ctr">
                  <a:lnSpc>
                    <a:spcPct val="120000"/>
                  </a:lnSpc>
                  <a:buSzPct val="25000"/>
                </a:pPr>
                <a:r>
                  <a:rPr lang="zh-CN" altLang="en-US" sz="1200" b="1">
                    <a:solidFill>
                      <a:schemeClr val="bg1"/>
                    </a:solidFill>
                  </a:rPr>
                  <a:t>平台</a:t>
                </a:r>
                <a:endParaRPr lang="zh-CN" altLang="zh-CN" sz="1200" b="1">
                  <a:solidFill>
                    <a:schemeClr val="bg1"/>
                  </a:solidFill>
                </a:endParaRPr>
              </a:p>
            </p:txBody>
          </p:sp>
          <p:cxnSp>
            <p:nvCxnSpPr>
              <p:cNvPr id="131" name="直接连接符 130"/>
              <p:cNvCxnSpPr/>
              <p:nvPr/>
            </p:nvCxnSpPr>
            <p:spPr>
              <a:xfrm>
                <a:off x="8837970" y="6150403"/>
                <a:ext cx="0" cy="55835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1" y="5553226"/>
              <a:ext cx="12192000" cy="386673"/>
            </a:xfrm>
            <a:prstGeom prst="rect">
              <a:avLst/>
            </a:prstGeom>
            <a:solidFill>
              <a:srgbClr val="EDF4FE"/>
            </a:solidFill>
            <a:ln w="539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kumimoji="1" lang="zh-CN" altLang="en-US" sz="1600">
                <a:solidFill>
                  <a:srgbClr val="FFFFFF"/>
                </a:solidFill>
                <a:ea typeface="微软雅黑" panose="020B0503020204020204" pitchFamily="34" charset="-122"/>
                <a:sym typeface="Arial" panose="020B0604020202020204" pitchFamily="34" charset="0"/>
              </a:endParaRPr>
            </a:p>
          </p:txBody>
        </p:sp>
        <p:grpSp>
          <p:nvGrpSpPr>
            <p:cNvPr id="89" name="组合 88"/>
            <p:cNvGrpSpPr/>
            <p:nvPr/>
          </p:nvGrpSpPr>
          <p:grpSpPr>
            <a:xfrm>
              <a:off x="798125" y="5612956"/>
              <a:ext cx="4570944" cy="375173"/>
              <a:chOff x="1102926" y="5667386"/>
              <a:chExt cx="4570944" cy="375173"/>
            </a:xfrm>
          </p:grpSpPr>
          <p:sp>
            <p:nvSpPr>
              <p:cNvPr id="90" name="išlîḍê"/>
              <p:cNvSpPr txBox="1"/>
              <p:nvPr/>
            </p:nvSpPr>
            <p:spPr>
              <a:xfrm>
                <a:off x="3842669" y="5667386"/>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a:solidFill>
                      <a:schemeClr val="bg2">
                        <a:lumMod val="25000"/>
                      </a:schemeClr>
                    </a:solidFill>
                  </a:rPr>
                  <a:t>客户旅程</a:t>
                </a:r>
                <a:endParaRPr lang="en-US" altLang="zh-CN" sz="1200">
                  <a:solidFill>
                    <a:schemeClr val="bg2">
                      <a:lumMod val="25000"/>
                    </a:schemeClr>
                  </a:solidFill>
                </a:endParaRPr>
              </a:p>
            </p:txBody>
          </p:sp>
          <p:sp>
            <p:nvSpPr>
              <p:cNvPr id="91" name="išlîḍê"/>
              <p:cNvSpPr txBox="1"/>
              <p:nvPr/>
            </p:nvSpPr>
            <p:spPr>
              <a:xfrm>
                <a:off x="1102926" y="5668823"/>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a:solidFill>
                      <a:schemeClr val="bg2">
                        <a:lumMod val="25000"/>
                      </a:schemeClr>
                    </a:solidFill>
                  </a:rPr>
                  <a:t>全触点</a:t>
                </a:r>
                <a:endParaRPr lang="en-US" altLang="zh-CN" sz="1200">
                  <a:solidFill>
                    <a:schemeClr val="bg2">
                      <a:lumMod val="25000"/>
                    </a:schemeClr>
                  </a:solidFill>
                </a:endParaRPr>
              </a:p>
            </p:txBody>
          </p:sp>
          <p:cxnSp>
            <p:nvCxnSpPr>
              <p:cNvPr id="92" name="直接箭头连接符 91"/>
              <p:cNvCxnSpPr/>
              <p:nvPr/>
            </p:nvCxnSpPr>
            <p:spPr>
              <a:xfrm flipH="1">
                <a:off x="3296960" y="5809719"/>
                <a:ext cx="509768" cy="0"/>
              </a:xfrm>
              <a:prstGeom prst="straightConnector1">
                <a:avLst/>
              </a:prstGeom>
              <a:ln>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flipH="1">
                <a:off x="1772705" y="5809719"/>
                <a:ext cx="441821" cy="0"/>
              </a:xfrm>
              <a:prstGeom prst="straightConnector1">
                <a:avLst/>
              </a:prstGeom>
              <a:ln>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6" name="išlîḍê"/>
              <p:cNvSpPr txBox="1"/>
              <p:nvPr/>
            </p:nvSpPr>
            <p:spPr>
              <a:xfrm>
                <a:off x="2217689" y="5683036"/>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b="1">
                    <a:solidFill>
                      <a:srgbClr val="1E73F5"/>
                    </a:solidFill>
                  </a:rPr>
                  <a:t>一体化产品</a:t>
                </a:r>
                <a:endParaRPr lang="en-US" altLang="zh-CN" sz="1200" b="1">
                  <a:solidFill>
                    <a:srgbClr val="1E73F5"/>
                  </a:solidFill>
                </a:endParaRPr>
              </a:p>
            </p:txBody>
          </p:sp>
        </p:grpSp>
        <p:grpSp>
          <p:nvGrpSpPr>
            <p:cNvPr id="112" name="组合 111"/>
            <p:cNvGrpSpPr/>
            <p:nvPr/>
          </p:nvGrpSpPr>
          <p:grpSpPr>
            <a:xfrm>
              <a:off x="7942257" y="5626986"/>
              <a:ext cx="4800308" cy="374543"/>
              <a:chOff x="8325037" y="5669518"/>
              <a:chExt cx="4800308" cy="374543"/>
            </a:xfrm>
          </p:grpSpPr>
          <p:grpSp>
            <p:nvGrpSpPr>
              <p:cNvPr id="114" name="组合 113"/>
              <p:cNvGrpSpPr/>
              <p:nvPr/>
            </p:nvGrpSpPr>
            <p:grpSpPr>
              <a:xfrm>
                <a:off x="8325037" y="5669518"/>
                <a:ext cx="4800308" cy="374543"/>
                <a:chOff x="8325037" y="5669518"/>
                <a:chExt cx="4800308" cy="374543"/>
              </a:xfrm>
            </p:grpSpPr>
            <p:sp>
              <p:nvSpPr>
                <p:cNvPr id="119" name="išlîḍê"/>
                <p:cNvSpPr txBox="1"/>
                <p:nvPr/>
              </p:nvSpPr>
              <p:spPr>
                <a:xfrm>
                  <a:off x="8325037" y="5669518"/>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dirty="0">
                      <a:solidFill>
                        <a:schemeClr val="bg2">
                          <a:lumMod val="25000"/>
                        </a:schemeClr>
                      </a:solidFill>
                    </a:rPr>
                    <a:t>客户旅程</a:t>
                  </a:r>
                  <a:endParaRPr lang="en-US" altLang="zh-CN" sz="1200" dirty="0">
                    <a:solidFill>
                      <a:schemeClr val="bg2">
                        <a:lumMod val="25000"/>
                      </a:schemeClr>
                    </a:solidFill>
                  </a:endParaRPr>
                </a:p>
              </p:txBody>
            </p:sp>
            <p:sp>
              <p:nvSpPr>
                <p:cNvPr id="120" name="išlîḍê"/>
                <p:cNvSpPr txBox="1"/>
                <p:nvPr/>
              </p:nvSpPr>
              <p:spPr>
                <a:xfrm>
                  <a:off x="9717505" y="5684538"/>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b="1" dirty="0">
                      <a:solidFill>
                        <a:srgbClr val="1E73F5"/>
                      </a:solidFill>
                    </a:rPr>
                    <a:t>一体化产品</a:t>
                  </a:r>
                  <a:endParaRPr lang="en-US" altLang="zh-CN" sz="1200" b="1" dirty="0">
                    <a:solidFill>
                      <a:srgbClr val="1E73F5"/>
                    </a:solidFill>
                  </a:endParaRPr>
                </a:p>
              </p:txBody>
            </p:sp>
            <p:sp>
              <p:nvSpPr>
                <p:cNvPr id="121" name="išlîḍê"/>
                <p:cNvSpPr txBox="1"/>
                <p:nvPr/>
              </p:nvSpPr>
              <p:spPr>
                <a:xfrm>
                  <a:off x="11294144" y="5671055"/>
                  <a:ext cx="1831201" cy="359523"/>
                </a:xfrm>
                <a:prstGeom prst="rect">
                  <a:avLst/>
                </a:prstGeom>
              </p:spPr>
              <p:txBody>
                <a:bodyPr wrap="square" rtlCol="0">
                  <a:spAutoFit/>
                </a:bodyPr>
                <a:lstStyle>
                  <a:defPPr>
                    <a:defRPr lang="zh-CN"/>
                  </a:defPPr>
                  <a:lvl1pPr>
                    <a:lnSpc>
                      <a:spcPts val="1500"/>
                    </a:lnSpc>
                    <a:defRPr sz="900"/>
                  </a:lvl1pPr>
                </a:lstStyle>
                <a:p>
                  <a:r>
                    <a:rPr lang="zh-CN" altLang="en-US" sz="1200">
                      <a:solidFill>
                        <a:schemeClr val="bg2">
                          <a:lumMod val="25000"/>
                        </a:schemeClr>
                      </a:solidFill>
                    </a:rPr>
                    <a:t>全触点</a:t>
                  </a:r>
                  <a:endParaRPr lang="en-US" altLang="zh-CN" sz="1200">
                    <a:solidFill>
                      <a:schemeClr val="bg2">
                        <a:lumMod val="25000"/>
                      </a:schemeClr>
                    </a:solidFill>
                  </a:endParaRPr>
                </a:p>
              </p:txBody>
            </p:sp>
          </p:grpSp>
          <p:cxnSp>
            <p:nvCxnSpPr>
              <p:cNvPr id="115" name="直接箭头连接符 114"/>
              <p:cNvCxnSpPr/>
              <p:nvPr/>
            </p:nvCxnSpPr>
            <p:spPr>
              <a:xfrm>
                <a:off x="9148499" y="5792634"/>
                <a:ext cx="441716" cy="0"/>
              </a:xfrm>
              <a:prstGeom prst="straightConnector1">
                <a:avLst/>
              </a:prstGeom>
              <a:ln>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nvCxnSpPr>
            <p:spPr>
              <a:xfrm>
                <a:off x="10779746" y="5792634"/>
                <a:ext cx="447296" cy="0"/>
              </a:xfrm>
              <a:prstGeom prst="straightConnector1">
                <a:avLst/>
              </a:prstGeom>
              <a:ln>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3" name="标题 2"/>
          <p:cNvSpPr>
            <a:spLocks noGrp="1"/>
          </p:cNvSpPr>
          <p:nvPr>
            <p:ph type="title"/>
          </p:nvPr>
        </p:nvSpPr>
        <p:spPr/>
        <p:txBody>
          <a:bodyPr/>
          <a:lstStyle/>
          <a:p>
            <a:r>
              <a:rPr lang="zh-CN" altLang="zh-CN" sz="2000" b="1">
                <a:solidFill>
                  <a:schemeClr val="bg2">
                    <a:lumMod val="10000"/>
                  </a:schemeClr>
                </a:solidFill>
                <a:latin typeface="+mn-lt"/>
                <a:ea typeface="微软雅黑" panose="020B0503020204020204" pitchFamily="34" charset="-122"/>
              </a:rPr>
              <a:t>一体化：</a:t>
            </a:r>
            <a:r>
              <a:rPr lang="zh-CN" altLang="en-US" sz="2000" b="1">
                <a:solidFill>
                  <a:schemeClr val="bg2">
                    <a:lumMod val="10000"/>
                  </a:schemeClr>
                </a:solidFill>
                <a:latin typeface="+mn-lt"/>
                <a:ea typeface="微软雅黑" panose="020B0503020204020204" pitchFamily="34" charset="-122"/>
              </a:rPr>
              <a:t>围绕客户全生命周期旅程</a:t>
            </a:r>
            <a:r>
              <a:rPr lang="zh-CN" altLang="zh-CN" sz="2000" b="1">
                <a:solidFill>
                  <a:schemeClr val="bg2">
                    <a:lumMod val="10000"/>
                  </a:schemeClr>
                </a:solidFill>
                <a:latin typeface="+mn-lt"/>
                <a:ea typeface="微软雅黑" panose="020B0503020204020204" pitchFamily="34" charset="-122"/>
              </a:rPr>
              <a:t>，提供端到端的一体化闭环能力</a:t>
            </a:r>
            <a:endParaRPr lang="zh-CN" altLang="en-US">
              <a:latin typeface="+mn-lt"/>
            </a:endParaRPr>
          </a:p>
        </p:txBody>
      </p:sp>
      <p:sp>
        <p:nvSpPr>
          <p:cNvPr id="4" name="灯片编号占位符 3"/>
          <p:cNvSpPr>
            <a:spLocks noGrp="1"/>
          </p:cNvSpPr>
          <p:nvPr>
            <p:ph type="sldNum" sz="quarter" idx="12"/>
          </p:nvPr>
        </p:nvSpPr>
        <p:spPr>
          <a:xfrm>
            <a:off x="8813165" y="6356350"/>
            <a:ext cx="2566670" cy="322580"/>
          </a:xfrm>
        </p:spPr>
        <p:txBody>
          <a:bodyPr/>
          <a:lstStyle/>
          <a:p>
            <a:fld id="{B7F7B65C-2824-9347-9C05-39D42996E2F4}" type="slidenum">
              <a:rPr lang="fr-FR" smtClean="0"/>
            </a:fld>
            <a:endParaRPr lang="fr-FR"/>
          </a:p>
        </p:txBody>
      </p:sp>
      <p:sp>
        <p:nvSpPr>
          <p:cNvPr id="81" name="灯片编号占位符 2"/>
          <p:cNvSpPr txBox="1"/>
          <p:nvPr/>
        </p:nvSpPr>
        <p:spPr>
          <a:xfrm>
            <a:off x="8813165" y="6356350"/>
            <a:ext cx="2566670" cy="32258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FF20C7-02B7-4EF6-8B33-0F816EA93A6B}" type="slidenum">
              <a:rPr lang="zh-CN" altLang="en-US" smtClean="0">
                <a:solidFill>
                  <a:schemeClr val="bg1"/>
                </a:solidFill>
                <a:latin typeface="+mj-lt"/>
              </a:rPr>
            </a:fld>
            <a:endParaRPr lang="zh-CN" altLang="en-US">
              <a:solidFill>
                <a:schemeClr val="bg1"/>
              </a:solidFill>
              <a:latin typeface="+mj-lt"/>
            </a:endParaRPr>
          </a:p>
        </p:txBody>
      </p:sp>
      <p:sp>
        <p:nvSpPr>
          <p:cNvPr id="82" name="ïṡļîde"/>
          <p:cNvSpPr/>
          <p:nvPr/>
        </p:nvSpPr>
        <p:spPr>
          <a:xfrm>
            <a:off x="3809999" y="3810047"/>
            <a:ext cx="4572000" cy="3456000"/>
          </a:xfrm>
          <a:prstGeom prst="blockArc">
            <a:avLst>
              <a:gd name="adj1" fmla="val 10803861"/>
              <a:gd name="adj2" fmla="val 2409"/>
              <a:gd name="adj3" fmla="val 17553"/>
            </a:avLst>
          </a:prstGeom>
          <a:gradFill flip="none" rotWithShape="1">
            <a:gsLst>
              <a:gs pos="0">
                <a:schemeClr val="bg1">
                  <a:lumMod val="95000"/>
                  <a:alpha val="21000"/>
                </a:schemeClr>
              </a:gs>
              <a:gs pos="100000">
                <a:schemeClr val="bg1">
                  <a:lumMod val="85000"/>
                  <a:alpha val="39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a:solidFill>
                <a:srgbClr val="FFFFFF"/>
              </a:solidFill>
            </a:endParaRPr>
          </a:p>
        </p:txBody>
      </p:sp>
      <p:grpSp>
        <p:nvGrpSpPr>
          <p:cNvPr id="17" name="组合 16"/>
          <p:cNvGrpSpPr/>
          <p:nvPr/>
        </p:nvGrpSpPr>
        <p:grpSpPr>
          <a:xfrm>
            <a:off x="1055999" y="1102710"/>
            <a:ext cx="10080000" cy="8770516"/>
            <a:chOff x="1055999" y="1233226"/>
            <a:chExt cx="10080000" cy="8640000"/>
          </a:xfrm>
        </p:grpSpPr>
        <p:sp>
          <p:nvSpPr>
            <p:cNvPr id="60" name="ïṡļîde"/>
            <p:cNvSpPr/>
            <p:nvPr/>
          </p:nvSpPr>
          <p:spPr>
            <a:xfrm>
              <a:off x="1775999" y="1953226"/>
              <a:ext cx="8640000" cy="7200000"/>
            </a:xfrm>
            <a:prstGeom prst="blockArc">
              <a:avLst>
                <a:gd name="adj1" fmla="val 10804000"/>
                <a:gd name="adj2" fmla="val 21593130"/>
                <a:gd name="adj3" fmla="val 1609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1500">
                <a:solidFill>
                  <a:srgbClr val="FFFFFF"/>
                </a:solidFill>
              </a:endParaRPr>
            </a:p>
          </p:txBody>
        </p:sp>
        <p:sp>
          <p:nvSpPr>
            <p:cNvPr id="32" name="íṩ1idé"/>
            <p:cNvSpPr/>
            <p:nvPr/>
          </p:nvSpPr>
          <p:spPr bwMode="auto">
            <a:xfrm rot="17037184">
              <a:off x="1434214" y="4319531"/>
              <a:ext cx="308322" cy="307700"/>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81632" h="605592">
                  <a:moveTo>
                    <a:pt x="295984" y="517456"/>
                  </a:moveTo>
                  <a:cubicBezTo>
                    <a:pt x="308202" y="517456"/>
                    <a:pt x="318107" y="527329"/>
                    <a:pt x="318107" y="539508"/>
                  </a:cubicBezTo>
                  <a:cubicBezTo>
                    <a:pt x="318107" y="551687"/>
                    <a:pt x="308202" y="561560"/>
                    <a:pt x="295984" y="561560"/>
                  </a:cubicBezTo>
                  <a:cubicBezTo>
                    <a:pt x="283766" y="561560"/>
                    <a:pt x="273861" y="551687"/>
                    <a:pt x="273861" y="539508"/>
                  </a:cubicBezTo>
                  <a:cubicBezTo>
                    <a:pt x="273861" y="527329"/>
                    <a:pt x="283766" y="517456"/>
                    <a:pt x="295984" y="517456"/>
                  </a:cubicBezTo>
                  <a:close/>
                  <a:moveTo>
                    <a:pt x="160545" y="511041"/>
                  </a:moveTo>
                  <a:lnTo>
                    <a:pt x="160545" y="567772"/>
                  </a:lnTo>
                  <a:lnTo>
                    <a:pt x="424716" y="567772"/>
                  </a:lnTo>
                  <a:lnTo>
                    <a:pt x="424716" y="511041"/>
                  </a:lnTo>
                  <a:close/>
                  <a:moveTo>
                    <a:pt x="505769" y="201888"/>
                  </a:moveTo>
                  <a:cubicBezTo>
                    <a:pt x="508648" y="205318"/>
                    <a:pt x="574681" y="288196"/>
                    <a:pt x="506790" y="413161"/>
                  </a:cubicBezTo>
                  <a:lnTo>
                    <a:pt x="490073" y="404169"/>
                  </a:lnTo>
                  <a:cubicBezTo>
                    <a:pt x="552020" y="290235"/>
                    <a:pt x="491745" y="214681"/>
                    <a:pt x="491095" y="213939"/>
                  </a:cubicBezTo>
                  <a:close/>
                  <a:moveTo>
                    <a:pt x="75917" y="201888"/>
                  </a:moveTo>
                  <a:lnTo>
                    <a:pt x="90591" y="213847"/>
                  </a:lnTo>
                  <a:cubicBezTo>
                    <a:pt x="88084" y="216999"/>
                    <a:pt x="29852" y="290699"/>
                    <a:pt x="91520" y="404169"/>
                  </a:cubicBezTo>
                  <a:lnTo>
                    <a:pt x="74896" y="413161"/>
                  </a:lnTo>
                  <a:cubicBezTo>
                    <a:pt x="6912" y="288196"/>
                    <a:pt x="73038" y="205318"/>
                    <a:pt x="75917" y="201888"/>
                  </a:cubicBezTo>
                  <a:close/>
                  <a:moveTo>
                    <a:pt x="542640" y="174861"/>
                  </a:moveTo>
                  <a:cubicBezTo>
                    <a:pt x="543568" y="175973"/>
                    <a:pt x="629228" y="283209"/>
                    <a:pt x="543661" y="440681"/>
                  </a:cubicBezTo>
                  <a:lnTo>
                    <a:pt x="527049" y="431598"/>
                  </a:lnTo>
                  <a:cubicBezTo>
                    <a:pt x="606212" y="285805"/>
                    <a:pt x="531225" y="190803"/>
                    <a:pt x="527977" y="186910"/>
                  </a:cubicBezTo>
                  <a:close/>
                  <a:moveTo>
                    <a:pt x="38930" y="174861"/>
                  </a:moveTo>
                  <a:lnTo>
                    <a:pt x="53593" y="186910"/>
                  </a:lnTo>
                  <a:cubicBezTo>
                    <a:pt x="50345" y="190803"/>
                    <a:pt x="-24642" y="285805"/>
                    <a:pt x="54614" y="431598"/>
                  </a:cubicBezTo>
                  <a:lnTo>
                    <a:pt x="37909" y="440681"/>
                  </a:lnTo>
                  <a:cubicBezTo>
                    <a:pt x="-47565" y="283209"/>
                    <a:pt x="38095" y="175973"/>
                    <a:pt x="38930" y="174861"/>
                  </a:cubicBezTo>
                  <a:close/>
                  <a:moveTo>
                    <a:pt x="160545" y="94644"/>
                  </a:moveTo>
                  <a:lnTo>
                    <a:pt x="160545" y="473127"/>
                  </a:lnTo>
                  <a:lnTo>
                    <a:pt x="424716" y="473127"/>
                  </a:lnTo>
                  <a:lnTo>
                    <a:pt x="424716" y="94644"/>
                  </a:lnTo>
                  <a:close/>
                  <a:moveTo>
                    <a:pt x="160545" y="37820"/>
                  </a:moveTo>
                  <a:lnTo>
                    <a:pt x="160545" y="56731"/>
                  </a:lnTo>
                  <a:lnTo>
                    <a:pt x="424716" y="56731"/>
                  </a:lnTo>
                  <a:lnTo>
                    <a:pt x="424716" y="37820"/>
                  </a:lnTo>
                  <a:close/>
                  <a:moveTo>
                    <a:pt x="160545" y="0"/>
                  </a:moveTo>
                  <a:lnTo>
                    <a:pt x="424716" y="0"/>
                  </a:lnTo>
                  <a:cubicBezTo>
                    <a:pt x="445608" y="0"/>
                    <a:pt x="462693" y="17056"/>
                    <a:pt x="462693" y="37820"/>
                  </a:cubicBezTo>
                  <a:lnTo>
                    <a:pt x="462693" y="567772"/>
                  </a:lnTo>
                  <a:cubicBezTo>
                    <a:pt x="462693" y="588629"/>
                    <a:pt x="445608" y="605592"/>
                    <a:pt x="424716" y="605592"/>
                  </a:cubicBezTo>
                  <a:lnTo>
                    <a:pt x="160545" y="605592"/>
                  </a:lnTo>
                  <a:cubicBezTo>
                    <a:pt x="139653" y="605592"/>
                    <a:pt x="122568" y="588629"/>
                    <a:pt x="122568" y="567772"/>
                  </a:cubicBezTo>
                  <a:lnTo>
                    <a:pt x="122568" y="37820"/>
                  </a:lnTo>
                  <a:cubicBezTo>
                    <a:pt x="122568" y="17056"/>
                    <a:pt x="139653" y="0"/>
                    <a:pt x="160545" y="0"/>
                  </a:cubicBezTo>
                  <a:close/>
                </a:path>
              </a:pathLst>
            </a:custGeom>
            <a:solidFill>
              <a:srgbClr val="1E73F5"/>
            </a:solidFill>
            <a:ln>
              <a:noFill/>
            </a:ln>
          </p:spPr>
          <p:txBody>
            <a:bodyPr vert="horz" wrap="square" lIns="91440" tIns="45720" rIns="91440" bIns="45720" numCol="1" anchor="t" anchorCtr="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200"/>
            </a:p>
          </p:txBody>
        </p:sp>
        <p:sp>
          <p:nvSpPr>
            <p:cNvPr id="33" name="íṩ1idé"/>
            <p:cNvSpPr/>
            <p:nvPr/>
          </p:nvSpPr>
          <p:spPr bwMode="auto">
            <a:xfrm rot="348840">
              <a:off x="6684664" y="1488435"/>
              <a:ext cx="402843" cy="338702"/>
            </a:xfrm>
            <a:custGeom>
              <a:avLst/>
              <a:gdLst>
                <a:gd name="T0" fmla="*/ 6365 w 11245"/>
                <a:gd name="T1" fmla="*/ 5618 h 11245"/>
                <a:gd name="T2" fmla="*/ 6108 w 11245"/>
                <a:gd name="T3" fmla="*/ 5884 h 11245"/>
                <a:gd name="T4" fmla="*/ 6365 w 11245"/>
                <a:gd name="T5" fmla="*/ 6122 h 11245"/>
                <a:gd name="T6" fmla="*/ 6694 w 11245"/>
                <a:gd name="T7" fmla="*/ 5884 h 11245"/>
                <a:gd name="T8" fmla="*/ 6365 w 11245"/>
                <a:gd name="T9" fmla="*/ 5618 h 11245"/>
                <a:gd name="T10" fmla="*/ 5522 w 11245"/>
                <a:gd name="T11" fmla="*/ 4382 h 11245"/>
                <a:gd name="T12" fmla="*/ 5852 w 11245"/>
                <a:gd name="T13" fmla="*/ 4061 h 11245"/>
                <a:gd name="T14" fmla="*/ 5522 w 11245"/>
                <a:gd name="T15" fmla="*/ 3740 h 11245"/>
                <a:gd name="T16" fmla="*/ 5146 w 11245"/>
                <a:gd name="T17" fmla="*/ 4061 h 11245"/>
                <a:gd name="T18" fmla="*/ 5522 w 11245"/>
                <a:gd name="T19" fmla="*/ 4382 h 11245"/>
                <a:gd name="T20" fmla="*/ 5623 w 11245"/>
                <a:gd name="T21" fmla="*/ 0 h 11245"/>
                <a:gd name="T22" fmla="*/ 0 w 11245"/>
                <a:gd name="T23" fmla="*/ 5623 h 11245"/>
                <a:gd name="T24" fmla="*/ 5623 w 11245"/>
                <a:gd name="T25" fmla="*/ 11245 h 11245"/>
                <a:gd name="T26" fmla="*/ 11245 w 11245"/>
                <a:gd name="T27" fmla="*/ 5623 h 11245"/>
                <a:gd name="T28" fmla="*/ 5623 w 11245"/>
                <a:gd name="T29" fmla="*/ 0 h 11245"/>
                <a:gd name="T30" fmla="*/ 4560 w 11245"/>
                <a:gd name="T31" fmla="*/ 7047 h 11245"/>
                <a:gd name="T32" fmla="*/ 3653 w 11245"/>
                <a:gd name="T33" fmla="*/ 6901 h 11245"/>
                <a:gd name="T34" fmla="*/ 2728 w 11245"/>
                <a:gd name="T35" fmla="*/ 7368 h 11245"/>
                <a:gd name="T36" fmla="*/ 2993 w 11245"/>
                <a:gd name="T37" fmla="*/ 6580 h 11245"/>
                <a:gd name="T38" fmla="*/ 1958 w 11245"/>
                <a:gd name="T39" fmla="*/ 4840 h 11245"/>
                <a:gd name="T40" fmla="*/ 4560 w 11245"/>
                <a:gd name="T41" fmla="*/ 2641 h 11245"/>
                <a:gd name="T42" fmla="*/ 7171 w 11245"/>
                <a:gd name="T43" fmla="*/ 4455 h 11245"/>
                <a:gd name="T44" fmla="*/ 6923 w 11245"/>
                <a:gd name="T45" fmla="*/ 4427 h 11245"/>
                <a:gd name="T46" fmla="*/ 4716 w 11245"/>
                <a:gd name="T47" fmla="*/ 6489 h 11245"/>
                <a:gd name="T48" fmla="*/ 4789 w 11245"/>
                <a:gd name="T49" fmla="*/ 7038 h 11245"/>
                <a:gd name="T50" fmla="*/ 4560 w 11245"/>
                <a:gd name="T51" fmla="*/ 7047 h 11245"/>
                <a:gd name="T52" fmla="*/ 8380 w 11245"/>
                <a:gd name="T53" fmla="*/ 7945 h 11245"/>
                <a:gd name="T54" fmla="*/ 8563 w 11245"/>
                <a:gd name="T55" fmla="*/ 8605 h 11245"/>
                <a:gd name="T56" fmla="*/ 7867 w 11245"/>
                <a:gd name="T57" fmla="*/ 8211 h 11245"/>
                <a:gd name="T58" fmla="*/ 7079 w 11245"/>
                <a:gd name="T59" fmla="*/ 8348 h 11245"/>
                <a:gd name="T60" fmla="*/ 4881 w 11245"/>
                <a:gd name="T61" fmla="*/ 6461 h 11245"/>
                <a:gd name="T62" fmla="*/ 7079 w 11245"/>
                <a:gd name="T63" fmla="*/ 4574 h 11245"/>
                <a:gd name="T64" fmla="*/ 9287 w 11245"/>
                <a:gd name="T65" fmla="*/ 6461 h 11245"/>
                <a:gd name="T66" fmla="*/ 8380 w 11245"/>
                <a:gd name="T67" fmla="*/ 7945 h 11245"/>
                <a:gd name="T68" fmla="*/ 3708 w 11245"/>
                <a:gd name="T69" fmla="*/ 3740 h 11245"/>
                <a:gd name="T70" fmla="*/ 3314 w 11245"/>
                <a:gd name="T71" fmla="*/ 4061 h 11245"/>
                <a:gd name="T72" fmla="*/ 3708 w 11245"/>
                <a:gd name="T73" fmla="*/ 4382 h 11245"/>
                <a:gd name="T74" fmla="*/ 4038 w 11245"/>
                <a:gd name="T75" fmla="*/ 4061 h 11245"/>
                <a:gd name="T76" fmla="*/ 3708 w 11245"/>
                <a:gd name="T77" fmla="*/ 3740 h 11245"/>
                <a:gd name="T78" fmla="*/ 7803 w 11245"/>
                <a:gd name="T79" fmla="*/ 5618 h 11245"/>
                <a:gd name="T80" fmla="*/ 7546 w 11245"/>
                <a:gd name="T81" fmla="*/ 5884 h 11245"/>
                <a:gd name="T82" fmla="*/ 7803 w 11245"/>
                <a:gd name="T83" fmla="*/ 6122 h 11245"/>
                <a:gd name="T84" fmla="*/ 8124 w 11245"/>
                <a:gd name="T85" fmla="*/ 5884 h 11245"/>
                <a:gd name="T86" fmla="*/ 7803 w 11245"/>
                <a:gd name="T87" fmla="*/ 5618 h 11245"/>
                <a:gd name="T88" fmla="*/ 7803 w 11245"/>
                <a:gd name="T89" fmla="*/ 5618 h 1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245" h="11245">
                  <a:moveTo>
                    <a:pt x="6365" y="5618"/>
                  </a:moveTo>
                  <a:cubicBezTo>
                    <a:pt x="6236" y="5618"/>
                    <a:pt x="6108" y="5737"/>
                    <a:pt x="6108" y="5884"/>
                  </a:cubicBezTo>
                  <a:cubicBezTo>
                    <a:pt x="6108" y="6003"/>
                    <a:pt x="6236" y="6122"/>
                    <a:pt x="6365" y="6122"/>
                  </a:cubicBezTo>
                  <a:cubicBezTo>
                    <a:pt x="6557" y="6122"/>
                    <a:pt x="6694" y="6003"/>
                    <a:pt x="6694" y="5884"/>
                  </a:cubicBezTo>
                  <a:cubicBezTo>
                    <a:pt x="6694" y="5737"/>
                    <a:pt x="6557" y="5618"/>
                    <a:pt x="6365" y="5618"/>
                  </a:cubicBezTo>
                  <a:close/>
                  <a:moveTo>
                    <a:pt x="5522" y="4382"/>
                  </a:moveTo>
                  <a:cubicBezTo>
                    <a:pt x="5723" y="4382"/>
                    <a:pt x="5852" y="4253"/>
                    <a:pt x="5852" y="4061"/>
                  </a:cubicBezTo>
                  <a:cubicBezTo>
                    <a:pt x="5852" y="3859"/>
                    <a:pt x="5723" y="3740"/>
                    <a:pt x="5522" y="3740"/>
                  </a:cubicBezTo>
                  <a:cubicBezTo>
                    <a:pt x="5329" y="3740"/>
                    <a:pt x="5146" y="3859"/>
                    <a:pt x="5146" y="4061"/>
                  </a:cubicBezTo>
                  <a:cubicBezTo>
                    <a:pt x="5146" y="4253"/>
                    <a:pt x="5329" y="4382"/>
                    <a:pt x="5522" y="4382"/>
                  </a:cubicBezTo>
                  <a:close/>
                  <a:moveTo>
                    <a:pt x="5623" y="0"/>
                  </a:moveTo>
                  <a:cubicBezTo>
                    <a:pt x="2517" y="0"/>
                    <a:pt x="0" y="2517"/>
                    <a:pt x="0" y="5623"/>
                  </a:cubicBezTo>
                  <a:cubicBezTo>
                    <a:pt x="0" y="8728"/>
                    <a:pt x="2517" y="11245"/>
                    <a:pt x="5623" y="11245"/>
                  </a:cubicBezTo>
                  <a:cubicBezTo>
                    <a:pt x="8728" y="11245"/>
                    <a:pt x="11245" y="8728"/>
                    <a:pt x="11245" y="5623"/>
                  </a:cubicBezTo>
                  <a:cubicBezTo>
                    <a:pt x="11245" y="2517"/>
                    <a:pt x="8728" y="0"/>
                    <a:pt x="5623" y="0"/>
                  </a:cubicBezTo>
                  <a:close/>
                  <a:moveTo>
                    <a:pt x="4560" y="7047"/>
                  </a:moveTo>
                  <a:cubicBezTo>
                    <a:pt x="4221" y="7047"/>
                    <a:pt x="3974" y="6992"/>
                    <a:pt x="3653" y="6901"/>
                  </a:cubicBezTo>
                  <a:lnTo>
                    <a:pt x="2728" y="7368"/>
                  </a:lnTo>
                  <a:lnTo>
                    <a:pt x="2993" y="6580"/>
                  </a:lnTo>
                  <a:cubicBezTo>
                    <a:pt x="2343" y="6122"/>
                    <a:pt x="1958" y="5545"/>
                    <a:pt x="1958" y="4840"/>
                  </a:cubicBezTo>
                  <a:cubicBezTo>
                    <a:pt x="1958" y="3594"/>
                    <a:pt x="3131" y="2641"/>
                    <a:pt x="4560" y="2641"/>
                  </a:cubicBezTo>
                  <a:cubicBezTo>
                    <a:pt x="5824" y="2641"/>
                    <a:pt x="6951" y="3392"/>
                    <a:pt x="7171" y="4455"/>
                  </a:cubicBezTo>
                  <a:cubicBezTo>
                    <a:pt x="7079" y="4437"/>
                    <a:pt x="6997" y="4427"/>
                    <a:pt x="6923" y="4427"/>
                  </a:cubicBezTo>
                  <a:cubicBezTo>
                    <a:pt x="5678" y="4427"/>
                    <a:pt x="4716" y="5362"/>
                    <a:pt x="4716" y="6489"/>
                  </a:cubicBezTo>
                  <a:cubicBezTo>
                    <a:pt x="4716" y="6681"/>
                    <a:pt x="4743" y="6855"/>
                    <a:pt x="4789" y="7038"/>
                  </a:cubicBezTo>
                  <a:cubicBezTo>
                    <a:pt x="4716" y="7047"/>
                    <a:pt x="4633" y="7047"/>
                    <a:pt x="4560" y="7047"/>
                  </a:cubicBezTo>
                  <a:close/>
                  <a:moveTo>
                    <a:pt x="8380" y="7945"/>
                  </a:moveTo>
                  <a:lnTo>
                    <a:pt x="8563" y="8605"/>
                  </a:lnTo>
                  <a:lnTo>
                    <a:pt x="7867" y="8211"/>
                  </a:lnTo>
                  <a:cubicBezTo>
                    <a:pt x="7601" y="8266"/>
                    <a:pt x="7345" y="8348"/>
                    <a:pt x="7079" y="8348"/>
                  </a:cubicBezTo>
                  <a:cubicBezTo>
                    <a:pt x="5852" y="8348"/>
                    <a:pt x="4881" y="7505"/>
                    <a:pt x="4881" y="6461"/>
                  </a:cubicBezTo>
                  <a:cubicBezTo>
                    <a:pt x="4881" y="5417"/>
                    <a:pt x="5852" y="4574"/>
                    <a:pt x="7079" y="4574"/>
                  </a:cubicBezTo>
                  <a:cubicBezTo>
                    <a:pt x="8243" y="4574"/>
                    <a:pt x="9287" y="5417"/>
                    <a:pt x="9287" y="6461"/>
                  </a:cubicBezTo>
                  <a:cubicBezTo>
                    <a:pt x="9287" y="7047"/>
                    <a:pt x="8893" y="7569"/>
                    <a:pt x="8380" y="7945"/>
                  </a:cubicBezTo>
                  <a:close/>
                  <a:moveTo>
                    <a:pt x="3708" y="3740"/>
                  </a:moveTo>
                  <a:cubicBezTo>
                    <a:pt x="3516" y="3740"/>
                    <a:pt x="3314" y="3859"/>
                    <a:pt x="3314" y="4061"/>
                  </a:cubicBezTo>
                  <a:cubicBezTo>
                    <a:pt x="3314" y="4253"/>
                    <a:pt x="3516" y="4382"/>
                    <a:pt x="3708" y="4382"/>
                  </a:cubicBezTo>
                  <a:cubicBezTo>
                    <a:pt x="3891" y="4382"/>
                    <a:pt x="4038" y="4253"/>
                    <a:pt x="4038" y="4061"/>
                  </a:cubicBezTo>
                  <a:cubicBezTo>
                    <a:pt x="4038" y="3859"/>
                    <a:pt x="3891" y="3740"/>
                    <a:pt x="3708" y="3740"/>
                  </a:cubicBezTo>
                  <a:close/>
                  <a:moveTo>
                    <a:pt x="7803" y="5618"/>
                  </a:moveTo>
                  <a:cubicBezTo>
                    <a:pt x="7665" y="5618"/>
                    <a:pt x="7546" y="5737"/>
                    <a:pt x="7546" y="5884"/>
                  </a:cubicBezTo>
                  <a:cubicBezTo>
                    <a:pt x="7546" y="6003"/>
                    <a:pt x="7665" y="6122"/>
                    <a:pt x="7803" y="6122"/>
                  </a:cubicBezTo>
                  <a:cubicBezTo>
                    <a:pt x="7986" y="6122"/>
                    <a:pt x="8124" y="6003"/>
                    <a:pt x="8124" y="5884"/>
                  </a:cubicBezTo>
                  <a:cubicBezTo>
                    <a:pt x="8124" y="5737"/>
                    <a:pt x="7986" y="5618"/>
                    <a:pt x="7803" y="5618"/>
                  </a:cubicBezTo>
                  <a:close/>
                  <a:moveTo>
                    <a:pt x="7803" y="5618"/>
                  </a:moveTo>
                  <a:close/>
                </a:path>
              </a:pathLst>
            </a:custGeom>
            <a:solidFill>
              <a:srgbClr val="1E73F5"/>
            </a:solidFill>
            <a:ln>
              <a:noFill/>
            </a:ln>
          </p:spPr>
          <p:txBody>
            <a:bodyPr vert="horz" wrap="square" lIns="91440" tIns="45720" rIns="91440" bIns="45720" numCol="1" anchor="t" anchorCtr="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200"/>
            </a:p>
          </p:txBody>
        </p:sp>
        <p:sp>
          <p:nvSpPr>
            <p:cNvPr id="34" name="íṩ1idé"/>
            <p:cNvSpPr/>
            <p:nvPr/>
          </p:nvSpPr>
          <p:spPr bwMode="auto">
            <a:xfrm rot="20639468">
              <a:off x="5013749" y="1476726"/>
              <a:ext cx="374401" cy="362119"/>
            </a:xfrm>
            <a:custGeom>
              <a:avLst/>
              <a:gdLst>
                <a:gd name="T0" fmla="*/ 3360 w 11241"/>
                <a:gd name="T1" fmla="*/ 5085 h 11239"/>
                <a:gd name="T2" fmla="*/ 3473 w 11241"/>
                <a:gd name="T3" fmla="*/ 4746 h 11239"/>
                <a:gd name="T4" fmla="*/ 3571 w 11241"/>
                <a:gd name="T5" fmla="*/ 4389 h 11239"/>
                <a:gd name="T6" fmla="*/ 3709 w 11241"/>
                <a:gd name="T7" fmla="*/ 3859 h 11239"/>
                <a:gd name="T8" fmla="*/ 3923 w 11241"/>
                <a:gd name="T9" fmla="*/ 3463 h 11239"/>
                <a:gd name="T10" fmla="*/ 4363 w 11241"/>
                <a:gd name="T11" fmla="*/ 2958 h 11239"/>
                <a:gd name="T12" fmla="*/ 4849 w 11241"/>
                <a:gd name="T13" fmla="*/ 2662 h 11239"/>
                <a:gd name="T14" fmla="*/ 5563 w 11241"/>
                <a:gd name="T15" fmla="*/ 2501 h 11239"/>
                <a:gd name="T16" fmla="*/ 6440 w 11241"/>
                <a:gd name="T17" fmla="*/ 2573 h 11239"/>
                <a:gd name="T18" fmla="*/ 7077 w 11241"/>
                <a:gd name="T19" fmla="*/ 2824 h 11239"/>
                <a:gd name="T20" fmla="*/ 7472 w 11241"/>
                <a:gd name="T21" fmla="*/ 3139 h 11239"/>
                <a:gd name="T22" fmla="*/ 7768 w 11241"/>
                <a:gd name="T23" fmla="*/ 3573 h 11239"/>
                <a:gd name="T24" fmla="*/ 7942 w 11241"/>
                <a:gd name="T25" fmla="*/ 4066 h 11239"/>
                <a:gd name="T26" fmla="*/ 8049 w 11241"/>
                <a:gd name="T27" fmla="*/ 4598 h 11239"/>
                <a:gd name="T28" fmla="*/ 8210 w 11241"/>
                <a:gd name="T29" fmla="*/ 4954 h 11239"/>
                <a:gd name="T30" fmla="*/ 8219 w 11241"/>
                <a:gd name="T31" fmla="*/ 5229 h 11239"/>
                <a:gd name="T32" fmla="*/ 8280 w 11241"/>
                <a:gd name="T33" fmla="*/ 5570 h 11239"/>
                <a:gd name="T34" fmla="*/ 8602 w 11241"/>
                <a:gd name="T35" fmla="*/ 6155 h 11239"/>
                <a:gd name="T36" fmla="*/ 8754 w 11241"/>
                <a:gd name="T37" fmla="*/ 6642 h 11239"/>
                <a:gd name="T38" fmla="*/ 8724 w 11241"/>
                <a:gd name="T39" fmla="*/ 7302 h 11239"/>
                <a:gd name="T40" fmla="*/ 8611 w 11241"/>
                <a:gd name="T41" fmla="*/ 7488 h 11239"/>
                <a:gd name="T42" fmla="*/ 8452 w 11241"/>
                <a:gd name="T43" fmla="*/ 7510 h 11239"/>
                <a:gd name="T44" fmla="*/ 8298 w 11241"/>
                <a:gd name="T45" fmla="*/ 7332 h 11239"/>
                <a:gd name="T46" fmla="*/ 8139 w 11241"/>
                <a:gd name="T47" fmla="*/ 7105 h 11239"/>
                <a:gd name="T48" fmla="*/ 7905 w 11241"/>
                <a:gd name="T49" fmla="*/ 7607 h 11239"/>
                <a:gd name="T50" fmla="*/ 7680 w 11241"/>
                <a:gd name="T51" fmla="*/ 7926 h 11239"/>
                <a:gd name="T52" fmla="*/ 8167 w 11241"/>
                <a:gd name="T53" fmla="*/ 8223 h 11239"/>
                <a:gd name="T54" fmla="*/ 8261 w 11241"/>
                <a:gd name="T55" fmla="*/ 8431 h 11239"/>
                <a:gd name="T56" fmla="*/ 8194 w 11241"/>
                <a:gd name="T57" fmla="*/ 8595 h 11239"/>
                <a:gd name="T58" fmla="*/ 7925 w 11241"/>
                <a:gd name="T59" fmla="*/ 8781 h 11239"/>
                <a:gd name="T60" fmla="*/ 7486 w 11241"/>
                <a:gd name="T61" fmla="*/ 8888 h 11239"/>
                <a:gd name="T62" fmla="*/ 6649 w 11241"/>
                <a:gd name="T63" fmla="*/ 8864 h 11239"/>
                <a:gd name="T64" fmla="*/ 6000 w 11241"/>
                <a:gd name="T65" fmla="*/ 8695 h 11239"/>
                <a:gd name="T66" fmla="*/ 5612 w 11241"/>
                <a:gd name="T67" fmla="*/ 8644 h 11239"/>
                <a:gd name="T68" fmla="*/ 5152 w 11241"/>
                <a:gd name="T69" fmla="*/ 8881 h 11239"/>
                <a:gd name="T70" fmla="*/ 4689 w 11241"/>
                <a:gd name="T71" fmla="*/ 8950 h 11239"/>
                <a:gd name="T72" fmla="*/ 3686 w 11241"/>
                <a:gd name="T73" fmla="*/ 8858 h 11239"/>
                <a:gd name="T74" fmla="*/ 3319 w 11241"/>
                <a:gd name="T75" fmla="*/ 8683 h 11239"/>
                <a:gd name="T76" fmla="*/ 3221 w 11241"/>
                <a:gd name="T77" fmla="*/ 8512 h 11239"/>
                <a:gd name="T78" fmla="*/ 3229 w 11241"/>
                <a:gd name="T79" fmla="*/ 8299 h 11239"/>
                <a:gd name="T80" fmla="*/ 3352 w 11241"/>
                <a:gd name="T81" fmla="*/ 8106 h 11239"/>
                <a:gd name="T82" fmla="*/ 3567 w 11241"/>
                <a:gd name="T83" fmla="*/ 8008 h 11239"/>
                <a:gd name="T84" fmla="*/ 3781 w 11241"/>
                <a:gd name="T85" fmla="*/ 7972 h 11239"/>
                <a:gd name="T86" fmla="*/ 3510 w 11241"/>
                <a:gd name="T87" fmla="*/ 7734 h 11239"/>
                <a:gd name="T88" fmla="*/ 3237 w 11241"/>
                <a:gd name="T89" fmla="*/ 7340 h 11239"/>
                <a:gd name="T90" fmla="*/ 3111 w 11241"/>
                <a:gd name="T91" fmla="*/ 7005 h 11239"/>
                <a:gd name="T92" fmla="*/ 3067 w 11241"/>
                <a:gd name="T93" fmla="*/ 7052 h 11239"/>
                <a:gd name="T94" fmla="*/ 2886 w 11241"/>
                <a:gd name="T95" fmla="*/ 7316 h 11239"/>
                <a:gd name="T96" fmla="*/ 2585 w 11241"/>
                <a:gd name="T97" fmla="*/ 7472 h 11239"/>
                <a:gd name="T98" fmla="*/ 2496 w 11241"/>
                <a:gd name="T99" fmla="*/ 7332 h 11239"/>
                <a:gd name="T100" fmla="*/ 2474 w 11241"/>
                <a:gd name="T101" fmla="*/ 6784 h 11239"/>
                <a:gd name="T102" fmla="*/ 2612 w 11241"/>
                <a:gd name="T103" fmla="*/ 6303 h 11239"/>
                <a:gd name="T104" fmla="*/ 2924 w 11241"/>
                <a:gd name="T105" fmla="*/ 5805 h 11239"/>
                <a:gd name="T106" fmla="*/ 3281 w 11241"/>
                <a:gd name="T107" fmla="*/ 5459 h 11239"/>
                <a:gd name="T108" fmla="*/ 0 w 11241"/>
                <a:gd name="T109" fmla="*/ 5620 h 11239"/>
                <a:gd name="T110" fmla="*/ 10799 w 11241"/>
                <a:gd name="T111" fmla="*/ 3432 h 11239"/>
                <a:gd name="T112" fmla="*/ 322 w 11241"/>
                <a:gd name="T113" fmla="*/ 5620 h 11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241" h="11239">
                  <a:moveTo>
                    <a:pt x="3365" y="5397"/>
                  </a:moveTo>
                  <a:lnTo>
                    <a:pt x="3352" y="5360"/>
                  </a:lnTo>
                  <a:lnTo>
                    <a:pt x="3343" y="5311"/>
                  </a:lnTo>
                  <a:lnTo>
                    <a:pt x="3336" y="5284"/>
                  </a:lnTo>
                  <a:lnTo>
                    <a:pt x="3336" y="5174"/>
                  </a:lnTo>
                  <a:lnTo>
                    <a:pt x="3348" y="5131"/>
                  </a:lnTo>
                  <a:lnTo>
                    <a:pt x="3360" y="5085"/>
                  </a:lnTo>
                  <a:lnTo>
                    <a:pt x="3375" y="5037"/>
                  </a:lnTo>
                  <a:lnTo>
                    <a:pt x="3396" y="4983"/>
                  </a:lnTo>
                  <a:lnTo>
                    <a:pt x="3424" y="4928"/>
                  </a:lnTo>
                  <a:lnTo>
                    <a:pt x="3464" y="4872"/>
                  </a:lnTo>
                  <a:lnTo>
                    <a:pt x="3464" y="4833"/>
                  </a:lnTo>
                  <a:lnTo>
                    <a:pt x="3467" y="4796"/>
                  </a:lnTo>
                  <a:lnTo>
                    <a:pt x="3473" y="4746"/>
                  </a:lnTo>
                  <a:lnTo>
                    <a:pt x="3490" y="4691"/>
                  </a:lnTo>
                  <a:lnTo>
                    <a:pt x="3506" y="4630"/>
                  </a:lnTo>
                  <a:lnTo>
                    <a:pt x="3518" y="4603"/>
                  </a:lnTo>
                  <a:lnTo>
                    <a:pt x="3532" y="4577"/>
                  </a:lnTo>
                  <a:lnTo>
                    <a:pt x="3551" y="4548"/>
                  </a:lnTo>
                  <a:lnTo>
                    <a:pt x="3571" y="4527"/>
                  </a:lnTo>
                  <a:lnTo>
                    <a:pt x="3571" y="4389"/>
                  </a:lnTo>
                  <a:lnTo>
                    <a:pt x="3582" y="4318"/>
                  </a:lnTo>
                  <a:lnTo>
                    <a:pt x="3594" y="4235"/>
                  </a:lnTo>
                  <a:lnTo>
                    <a:pt x="3615" y="4137"/>
                  </a:lnTo>
                  <a:lnTo>
                    <a:pt x="3643" y="4034"/>
                  </a:lnTo>
                  <a:lnTo>
                    <a:pt x="3665" y="3978"/>
                  </a:lnTo>
                  <a:lnTo>
                    <a:pt x="3686" y="3916"/>
                  </a:lnTo>
                  <a:lnTo>
                    <a:pt x="3709" y="3859"/>
                  </a:lnTo>
                  <a:lnTo>
                    <a:pt x="3737" y="3797"/>
                  </a:lnTo>
                  <a:lnTo>
                    <a:pt x="3765" y="3730"/>
                  </a:lnTo>
                  <a:lnTo>
                    <a:pt x="3797" y="3667"/>
                  </a:lnTo>
                  <a:lnTo>
                    <a:pt x="3833" y="3600"/>
                  </a:lnTo>
                  <a:lnTo>
                    <a:pt x="3880" y="3533"/>
                  </a:lnTo>
                  <a:lnTo>
                    <a:pt x="3901" y="3495"/>
                  </a:lnTo>
                  <a:lnTo>
                    <a:pt x="3923" y="3463"/>
                  </a:lnTo>
                  <a:lnTo>
                    <a:pt x="3973" y="3392"/>
                  </a:lnTo>
                  <a:lnTo>
                    <a:pt x="4023" y="3321"/>
                  </a:lnTo>
                  <a:lnTo>
                    <a:pt x="4081" y="3248"/>
                  </a:lnTo>
                  <a:lnTo>
                    <a:pt x="4142" y="3177"/>
                  </a:lnTo>
                  <a:lnTo>
                    <a:pt x="4209" y="3107"/>
                  </a:lnTo>
                  <a:lnTo>
                    <a:pt x="4279" y="3035"/>
                  </a:lnTo>
                  <a:lnTo>
                    <a:pt x="4363" y="2958"/>
                  </a:lnTo>
                  <a:lnTo>
                    <a:pt x="4417" y="2911"/>
                  </a:lnTo>
                  <a:lnTo>
                    <a:pt x="4483" y="2860"/>
                  </a:lnTo>
                  <a:lnTo>
                    <a:pt x="4549" y="2815"/>
                  </a:lnTo>
                  <a:lnTo>
                    <a:pt x="4620" y="2772"/>
                  </a:lnTo>
                  <a:lnTo>
                    <a:pt x="4689" y="2733"/>
                  </a:lnTo>
                  <a:lnTo>
                    <a:pt x="4767" y="2702"/>
                  </a:lnTo>
                  <a:lnTo>
                    <a:pt x="4849" y="2662"/>
                  </a:lnTo>
                  <a:lnTo>
                    <a:pt x="4931" y="2636"/>
                  </a:lnTo>
                  <a:lnTo>
                    <a:pt x="5013" y="2608"/>
                  </a:lnTo>
                  <a:lnTo>
                    <a:pt x="5101" y="2580"/>
                  </a:lnTo>
                  <a:lnTo>
                    <a:pt x="5190" y="2559"/>
                  </a:lnTo>
                  <a:lnTo>
                    <a:pt x="5283" y="2542"/>
                  </a:lnTo>
                  <a:lnTo>
                    <a:pt x="5377" y="2526"/>
                  </a:lnTo>
                  <a:lnTo>
                    <a:pt x="5563" y="2501"/>
                  </a:lnTo>
                  <a:lnTo>
                    <a:pt x="5662" y="2496"/>
                  </a:lnTo>
                  <a:lnTo>
                    <a:pt x="5954" y="2496"/>
                  </a:lnTo>
                  <a:lnTo>
                    <a:pt x="6052" y="2508"/>
                  </a:lnTo>
                  <a:lnTo>
                    <a:pt x="6150" y="2520"/>
                  </a:lnTo>
                  <a:lnTo>
                    <a:pt x="6250" y="2530"/>
                  </a:lnTo>
                  <a:lnTo>
                    <a:pt x="6342" y="2552"/>
                  </a:lnTo>
                  <a:lnTo>
                    <a:pt x="6440" y="2573"/>
                  </a:lnTo>
                  <a:lnTo>
                    <a:pt x="6532" y="2597"/>
                  </a:lnTo>
                  <a:lnTo>
                    <a:pt x="6633" y="2624"/>
                  </a:lnTo>
                  <a:lnTo>
                    <a:pt x="6725" y="2657"/>
                  </a:lnTo>
                  <a:lnTo>
                    <a:pt x="6813" y="2694"/>
                  </a:lnTo>
                  <a:lnTo>
                    <a:pt x="6907" y="2733"/>
                  </a:lnTo>
                  <a:lnTo>
                    <a:pt x="6993" y="2777"/>
                  </a:lnTo>
                  <a:lnTo>
                    <a:pt x="7077" y="2824"/>
                  </a:lnTo>
                  <a:lnTo>
                    <a:pt x="7158" y="2877"/>
                  </a:lnTo>
                  <a:lnTo>
                    <a:pt x="7229" y="2926"/>
                  </a:lnTo>
                  <a:lnTo>
                    <a:pt x="7262" y="2954"/>
                  </a:lnTo>
                  <a:lnTo>
                    <a:pt x="7296" y="2974"/>
                  </a:lnTo>
                  <a:lnTo>
                    <a:pt x="7361" y="3030"/>
                  </a:lnTo>
                  <a:lnTo>
                    <a:pt x="7417" y="3083"/>
                  </a:lnTo>
                  <a:lnTo>
                    <a:pt x="7472" y="3139"/>
                  </a:lnTo>
                  <a:lnTo>
                    <a:pt x="7525" y="3200"/>
                  </a:lnTo>
                  <a:lnTo>
                    <a:pt x="7569" y="3259"/>
                  </a:lnTo>
                  <a:lnTo>
                    <a:pt x="7622" y="3321"/>
                  </a:lnTo>
                  <a:lnTo>
                    <a:pt x="7659" y="3387"/>
                  </a:lnTo>
                  <a:lnTo>
                    <a:pt x="7696" y="3446"/>
                  </a:lnTo>
                  <a:lnTo>
                    <a:pt x="7735" y="3514"/>
                  </a:lnTo>
                  <a:lnTo>
                    <a:pt x="7768" y="3573"/>
                  </a:lnTo>
                  <a:lnTo>
                    <a:pt x="7823" y="3699"/>
                  </a:lnTo>
                  <a:lnTo>
                    <a:pt x="7850" y="3764"/>
                  </a:lnTo>
                  <a:lnTo>
                    <a:pt x="7871" y="3824"/>
                  </a:lnTo>
                  <a:lnTo>
                    <a:pt x="7892" y="3889"/>
                  </a:lnTo>
                  <a:lnTo>
                    <a:pt x="7911" y="3951"/>
                  </a:lnTo>
                  <a:lnTo>
                    <a:pt x="7925" y="4003"/>
                  </a:lnTo>
                  <a:lnTo>
                    <a:pt x="7942" y="4066"/>
                  </a:lnTo>
                  <a:lnTo>
                    <a:pt x="7972" y="4177"/>
                  </a:lnTo>
                  <a:lnTo>
                    <a:pt x="7991" y="4274"/>
                  </a:lnTo>
                  <a:lnTo>
                    <a:pt x="8003" y="4368"/>
                  </a:lnTo>
                  <a:lnTo>
                    <a:pt x="8014" y="4443"/>
                  </a:lnTo>
                  <a:lnTo>
                    <a:pt x="8031" y="4558"/>
                  </a:lnTo>
                  <a:lnTo>
                    <a:pt x="8035" y="4577"/>
                  </a:lnTo>
                  <a:lnTo>
                    <a:pt x="8049" y="4598"/>
                  </a:lnTo>
                  <a:lnTo>
                    <a:pt x="8085" y="4657"/>
                  </a:lnTo>
                  <a:lnTo>
                    <a:pt x="8108" y="4697"/>
                  </a:lnTo>
                  <a:lnTo>
                    <a:pt x="8129" y="4740"/>
                  </a:lnTo>
                  <a:lnTo>
                    <a:pt x="8156" y="4784"/>
                  </a:lnTo>
                  <a:lnTo>
                    <a:pt x="8179" y="4838"/>
                  </a:lnTo>
                  <a:lnTo>
                    <a:pt x="8194" y="4894"/>
                  </a:lnTo>
                  <a:lnTo>
                    <a:pt x="8210" y="4954"/>
                  </a:lnTo>
                  <a:lnTo>
                    <a:pt x="8223" y="5016"/>
                  </a:lnTo>
                  <a:lnTo>
                    <a:pt x="8229" y="5047"/>
                  </a:lnTo>
                  <a:lnTo>
                    <a:pt x="8234" y="5085"/>
                  </a:lnTo>
                  <a:lnTo>
                    <a:pt x="8234" y="5117"/>
                  </a:lnTo>
                  <a:lnTo>
                    <a:pt x="8229" y="5150"/>
                  </a:lnTo>
                  <a:lnTo>
                    <a:pt x="8229" y="5190"/>
                  </a:lnTo>
                  <a:lnTo>
                    <a:pt x="8219" y="5229"/>
                  </a:lnTo>
                  <a:lnTo>
                    <a:pt x="8202" y="5305"/>
                  </a:lnTo>
                  <a:lnTo>
                    <a:pt x="8182" y="5343"/>
                  </a:lnTo>
                  <a:lnTo>
                    <a:pt x="8167" y="5387"/>
                  </a:lnTo>
                  <a:lnTo>
                    <a:pt x="8167" y="5397"/>
                  </a:lnTo>
                  <a:lnTo>
                    <a:pt x="8174" y="5410"/>
                  </a:lnTo>
                  <a:lnTo>
                    <a:pt x="8194" y="5442"/>
                  </a:lnTo>
                  <a:lnTo>
                    <a:pt x="8280" y="5570"/>
                  </a:lnTo>
                  <a:lnTo>
                    <a:pt x="8349" y="5665"/>
                  </a:lnTo>
                  <a:lnTo>
                    <a:pt x="8381" y="5730"/>
                  </a:lnTo>
                  <a:lnTo>
                    <a:pt x="8425" y="5800"/>
                  </a:lnTo>
                  <a:lnTo>
                    <a:pt x="8464" y="5876"/>
                  </a:lnTo>
                  <a:lnTo>
                    <a:pt x="8508" y="5959"/>
                  </a:lnTo>
                  <a:lnTo>
                    <a:pt x="8552" y="6051"/>
                  </a:lnTo>
                  <a:lnTo>
                    <a:pt x="8602" y="6155"/>
                  </a:lnTo>
                  <a:lnTo>
                    <a:pt x="8629" y="6219"/>
                  </a:lnTo>
                  <a:lnTo>
                    <a:pt x="8655" y="6282"/>
                  </a:lnTo>
                  <a:lnTo>
                    <a:pt x="8677" y="6348"/>
                  </a:lnTo>
                  <a:lnTo>
                    <a:pt x="8699" y="6407"/>
                  </a:lnTo>
                  <a:lnTo>
                    <a:pt x="8716" y="6470"/>
                  </a:lnTo>
                  <a:lnTo>
                    <a:pt x="8733" y="6528"/>
                  </a:lnTo>
                  <a:lnTo>
                    <a:pt x="8754" y="6642"/>
                  </a:lnTo>
                  <a:lnTo>
                    <a:pt x="8771" y="6759"/>
                  </a:lnTo>
                  <a:lnTo>
                    <a:pt x="8783" y="6863"/>
                  </a:lnTo>
                  <a:lnTo>
                    <a:pt x="8783" y="7008"/>
                  </a:lnTo>
                  <a:lnTo>
                    <a:pt x="8775" y="7060"/>
                  </a:lnTo>
                  <a:lnTo>
                    <a:pt x="8764" y="7149"/>
                  </a:lnTo>
                  <a:lnTo>
                    <a:pt x="8748" y="7230"/>
                  </a:lnTo>
                  <a:lnTo>
                    <a:pt x="8724" y="7302"/>
                  </a:lnTo>
                  <a:lnTo>
                    <a:pt x="8716" y="7332"/>
                  </a:lnTo>
                  <a:lnTo>
                    <a:pt x="8699" y="7368"/>
                  </a:lnTo>
                  <a:lnTo>
                    <a:pt x="8685" y="7393"/>
                  </a:lnTo>
                  <a:lnTo>
                    <a:pt x="8667" y="7423"/>
                  </a:lnTo>
                  <a:lnTo>
                    <a:pt x="8650" y="7442"/>
                  </a:lnTo>
                  <a:lnTo>
                    <a:pt x="8629" y="7467"/>
                  </a:lnTo>
                  <a:lnTo>
                    <a:pt x="8611" y="7488"/>
                  </a:lnTo>
                  <a:lnTo>
                    <a:pt x="8591" y="7505"/>
                  </a:lnTo>
                  <a:lnTo>
                    <a:pt x="8567" y="7515"/>
                  </a:lnTo>
                  <a:lnTo>
                    <a:pt x="8546" y="7526"/>
                  </a:lnTo>
                  <a:lnTo>
                    <a:pt x="8529" y="7532"/>
                  </a:lnTo>
                  <a:lnTo>
                    <a:pt x="8502" y="7532"/>
                  </a:lnTo>
                  <a:lnTo>
                    <a:pt x="8485" y="7526"/>
                  </a:lnTo>
                  <a:lnTo>
                    <a:pt x="8452" y="7510"/>
                  </a:lnTo>
                  <a:lnTo>
                    <a:pt x="8437" y="7499"/>
                  </a:lnTo>
                  <a:lnTo>
                    <a:pt x="8421" y="7488"/>
                  </a:lnTo>
                  <a:lnTo>
                    <a:pt x="8404" y="7472"/>
                  </a:lnTo>
                  <a:lnTo>
                    <a:pt x="8387" y="7455"/>
                  </a:lnTo>
                  <a:lnTo>
                    <a:pt x="8358" y="7423"/>
                  </a:lnTo>
                  <a:lnTo>
                    <a:pt x="8324" y="7379"/>
                  </a:lnTo>
                  <a:lnTo>
                    <a:pt x="8298" y="7332"/>
                  </a:lnTo>
                  <a:lnTo>
                    <a:pt x="8271" y="7295"/>
                  </a:lnTo>
                  <a:lnTo>
                    <a:pt x="8245" y="7252"/>
                  </a:lnTo>
                  <a:lnTo>
                    <a:pt x="8209" y="7175"/>
                  </a:lnTo>
                  <a:lnTo>
                    <a:pt x="8167" y="7095"/>
                  </a:lnTo>
                  <a:lnTo>
                    <a:pt x="8163" y="7093"/>
                  </a:lnTo>
                  <a:lnTo>
                    <a:pt x="8156" y="7093"/>
                  </a:lnTo>
                  <a:lnTo>
                    <a:pt x="8139" y="7105"/>
                  </a:lnTo>
                  <a:lnTo>
                    <a:pt x="8129" y="7126"/>
                  </a:lnTo>
                  <a:lnTo>
                    <a:pt x="8113" y="7152"/>
                  </a:lnTo>
                  <a:lnTo>
                    <a:pt x="8085" y="7230"/>
                  </a:lnTo>
                  <a:lnTo>
                    <a:pt x="8043" y="7340"/>
                  </a:lnTo>
                  <a:lnTo>
                    <a:pt x="7988" y="7472"/>
                  </a:lnTo>
                  <a:lnTo>
                    <a:pt x="7948" y="7538"/>
                  </a:lnTo>
                  <a:lnTo>
                    <a:pt x="7905" y="7607"/>
                  </a:lnTo>
                  <a:lnTo>
                    <a:pt x="7854" y="7685"/>
                  </a:lnTo>
                  <a:lnTo>
                    <a:pt x="7800" y="7761"/>
                  </a:lnTo>
                  <a:lnTo>
                    <a:pt x="7773" y="7795"/>
                  </a:lnTo>
                  <a:lnTo>
                    <a:pt x="7739" y="7833"/>
                  </a:lnTo>
                  <a:lnTo>
                    <a:pt x="7662" y="7908"/>
                  </a:lnTo>
                  <a:lnTo>
                    <a:pt x="7669" y="7915"/>
                  </a:lnTo>
                  <a:lnTo>
                    <a:pt x="7680" y="7926"/>
                  </a:lnTo>
                  <a:lnTo>
                    <a:pt x="7718" y="7949"/>
                  </a:lnTo>
                  <a:lnTo>
                    <a:pt x="7878" y="8025"/>
                  </a:lnTo>
                  <a:lnTo>
                    <a:pt x="7948" y="8065"/>
                  </a:lnTo>
                  <a:lnTo>
                    <a:pt x="8014" y="8103"/>
                  </a:lnTo>
                  <a:lnTo>
                    <a:pt x="8080" y="8151"/>
                  </a:lnTo>
                  <a:lnTo>
                    <a:pt x="8139" y="8201"/>
                  </a:lnTo>
                  <a:lnTo>
                    <a:pt x="8167" y="8223"/>
                  </a:lnTo>
                  <a:lnTo>
                    <a:pt x="8189" y="8249"/>
                  </a:lnTo>
                  <a:lnTo>
                    <a:pt x="8211" y="8278"/>
                  </a:lnTo>
                  <a:lnTo>
                    <a:pt x="8229" y="8311"/>
                  </a:lnTo>
                  <a:lnTo>
                    <a:pt x="8239" y="8338"/>
                  </a:lnTo>
                  <a:lnTo>
                    <a:pt x="8251" y="8371"/>
                  </a:lnTo>
                  <a:lnTo>
                    <a:pt x="8256" y="8398"/>
                  </a:lnTo>
                  <a:lnTo>
                    <a:pt x="8261" y="8431"/>
                  </a:lnTo>
                  <a:lnTo>
                    <a:pt x="8256" y="8453"/>
                  </a:lnTo>
                  <a:lnTo>
                    <a:pt x="8256" y="8475"/>
                  </a:lnTo>
                  <a:lnTo>
                    <a:pt x="8251" y="8498"/>
                  </a:lnTo>
                  <a:lnTo>
                    <a:pt x="8239" y="8519"/>
                  </a:lnTo>
                  <a:lnTo>
                    <a:pt x="8234" y="8535"/>
                  </a:lnTo>
                  <a:lnTo>
                    <a:pt x="8223" y="8555"/>
                  </a:lnTo>
                  <a:lnTo>
                    <a:pt x="8194" y="8595"/>
                  </a:lnTo>
                  <a:lnTo>
                    <a:pt x="8167" y="8626"/>
                  </a:lnTo>
                  <a:lnTo>
                    <a:pt x="8147" y="8650"/>
                  </a:lnTo>
                  <a:lnTo>
                    <a:pt x="8129" y="8668"/>
                  </a:lnTo>
                  <a:lnTo>
                    <a:pt x="8085" y="8700"/>
                  </a:lnTo>
                  <a:lnTo>
                    <a:pt x="8035" y="8728"/>
                  </a:lnTo>
                  <a:lnTo>
                    <a:pt x="7982" y="8755"/>
                  </a:lnTo>
                  <a:lnTo>
                    <a:pt x="7925" y="8781"/>
                  </a:lnTo>
                  <a:lnTo>
                    <a:pt x="7861" y="8805"/>
                  </a:lnTo>
                  <a:lnTo>
                    <a:pt x="7827" y="8816"/>
                  </a:lnTo>
                  <a:lnTo>
                    <a:pt x="7796" y="8825"/>
                  </a:lnTo>
                  <a:lnTo>
                    <a:pt x="7723" y="8842"/>
                  </a:lnTo>
                  <a:lnTo>
                    <a:pt x="7646" y="8858"/>
                  </a:lnTo>
                  <a:lnTo>
                    <a:pt x="7569" y="8875"/>
                  </a:lnTo>
                  <a:lnTo>
                    <a:pt x="7486" y="8888"/>
                  </a:lnTo>
                  <a:lnTo>
                    <a:pt x="7400" y="8892"/>
                  </a:lnTo>
                  <a:lnTo>
                    <a:pt x="7312" y="8902"/>
                  </a:lnTo>
                  <a:lnTo>
                    <a:pt x="7038" y="8902"/>
                  </a:lnTo>
                  <a:lnTo>
                    <a:pt x="6939" y="8897"/>
                  </a:lnTo>
                  <a:lnTo>
                    <a:pt x="6847" y="8888"/>
                  </a:lnTo>
                  <a:lnTo>
                    <a:pt x="6748" y="8875"/>
                  </a:lnTo>
                  <a:lnTo>
                    <a:pt x="6649" y="8864"/>
                  </a:lnTo>
                  <a:lnTo>
                    <a:pt x="6545" y="8850"/>
                  </a:lnTo>
                  <a:lnTo>
                    <a:pt x="6445" y="8825"/>
                  </a:lnTo>
                  <a:lnTo>
                    <a:pt x="6347" y="8805"/>
                  </a:lnTo>
                  <a:lnTo>
                    <a:pt x="6250" y="8778"/>
                  </a:lnTo>
                  <a:lnTo>
                    <a:pt x="6150" y="8742"/>
                  </a:lnTo>
                  <a:lnTo>
                    <a:pt x="6052" y="8712"/>
                  </a:lnTo>
                  <a:lnTo>
                    <a:pt x="6000" y="8695"/>
                  </a:lnTo>
                  <a:lnTo>
                    <a:pt x="5954" y="8679"/>
                  </a:lnTo>
                  <a:lnTo>
                    <a:pt x="5925" y="8668"/>
                  </a:lnTo>
                  <a:lnTo>
                    <a:pt x="5897" y="8662"/>
                  </a:lnTo>
                  <a:lnTo>
                    <a:pt x="5815" y="8662"/>
                  </a:lnTo>
                  <a:lnTo>
                    <a:pt x="5721" y="8655"/>
                  </a:lnTo>
                  <a:lnTo>
                    <a:pt x="5673" y="8650"/>
                  </a:lnTo>
                  <a:lnTo>
                    <a:pt x="5612" y="8644"/>
                  </a:lnTo>
                  <a:lnTo>
                    <a:pt x="5573" y="8679"/>
                  </a:lnTo>
                  <a:lnTo>
                    <a:pt x="5519" y="8712"/>
                  </a:lnTo>
                  <a:lnTo>
                    <a:pt x="5446" y="8748"/>
                  </a:lnTo>
                  <a:lnTo>
                    <a:pt x="5365" y="8792"/>
                  </a:lnTo>
                  <a:lnTo>
                    <a:pt x="5316" y="8816"/>
                  </a:lnTo>
                  <a:lnTo>
                    <a:pt x="5265" y="8835"/>
                  </a:lnTo>
                  <a:lnTo>
                    <a:pt x="5152" y="8881"/>
                  </a:lnTo>
                  <a:lnTo>
                    <a:pt x="5091" y="8897"/>
                  </a:lnTo>
                  <a:lnTo>
                    <a:pt x="5027" y="8914"/>
                  </a:lnTo>
                  <a:lnTo>
                    <a:pt x="4938" y="8931"/>
                  </a:lnTo>
                  <a:lnTo>
                    <a:pt x="4882" y="8936"/>
                  </a:lnTo>
                  <a:lnTo>
                    <a:pt x="4823" y="8941"/>
                  </a:lnTo>
                  <a:lnTo>
                    <a:pt x="4761" y="8948"/>
                  </a:lnTo>
                  <a:lnTo>
                    <a:pt x="4689" y="8950"/>
                  </a:lnTo>
                  <a:lnTo>
                    <a:pt x="4396" y="8950"/>
                  </a:lnTo>
                  <a:lnTo>
                    <a:pt x="4231" y="8948"/>
                  </a:lnTo>
                  <a:lnTo>
                    <a:pt x="4070" y="8931"/>
                  </a:lnTo>
                  <a:lnTo>
                    <a:pt x="3989" y="8920"/>
                  </a:lnTo>
                  <a:lnTo>
                    <a:pt x="3833" y="8897"/>
                  </a:lnTo>
                  <a:lnTo>
                    <a:pt x="3757" y="8881"/>
                  </a:lnTo>
                  <a:lnTo>
                    <a:pt x="3686" y="8858"/>
                  </a:lnTo>
                  <a:lnTo>
                    <a:pt x="3615" y="8842"/>
                  </a:lnTo>
                  <a:lnTo>
                    <a:pt x="3551" y="8816"/>
                  </a:lnTo>
                  <a:lnTo>
                    <a:pt x="3490" y="8792"/>
                  </a:lnTo>
                  <a:lnTo>
                    <a:pt x="3434" y="8765"/>
                  </a:lnTo>
                  <a:lnTo>
                    <a:pt x="3385" y="8736"/>
                  </a:lnTo>
                  <a:lnTo>
                    <a:pt x="3336" y="8700"/>
                  </a:lnTo>
                  <a:lnTo>
                    <a:pt x="3319" y="8683"/>
                  </a:lnTo>
                  <a:lnTo>
                    <a:pt x="3298" y="8662"/>
                  </a:lnTo>
                  <a:lnTo>
                    <a:pt x="3281" y="8644"/>
                  </a:lnTo>
                  <a:lnTo>
                    <a:pt x="3266" y="8622"/>
                  </a:lnTo>
                  <a:lnTo>
                    <a:pt x="3253" y="8601"/>
                  </a:lnTo>
                  <a:lnTo>
                    <a:pt x="3242" y="8580"/>
                  </a:lnTo>
                  <a:lnTo>
                    <a:pt x="3227" y="8535"/>
                  </a:lnTo>
                  <a:lnTo>
                    <a:pt x="3221" y="8512"/>
                  </a:lnTo>
                  <a:lnTo>
                    <a:pt x="3214" y="8486"/>
                  </a:lnTo>
                  <a:lnTo>
                    <a:pt x="3214" y="8462"/>
                  </a:lnTo>
                  <a:lnTo>
                    <a:pt x="3221" y="8435"/>
                  </a:lnTo>
                  <a:lnTo>
                    <a:pt x="3221" y="8409"/>
                  </a:lnTo>
                  <a:lnTo>
                    <a:pt x="3227" y="8382"/>
                  </a:lnTo>
                  <a:lnTo>
                    <a:pt x="3227" y="8328"/>
                  </a:lnTo>
                  <a:lnTo>
                    <a:pt x="3229" y="8299"/>
                  </a:lnTo>
                  <a:lnTo>
                    <a:pt x="3242" y="8267"/>
                  </a:lnTo>
                  <a:lnTo>
                    <a:pt x="3253" y="8234"/>
                  </a:lnTo>
                  <a:lnTo>
                    <a:pt x="3272" y="8195"/>
                  </a:lnTo>
                  <a:lnTo>
                    <a:pt x="3286" y="8179"/>
                  </a:lnTo>
                  <a:lnTo>
                    <a:pt x="3298" y="8162"/>
                  </a:lnTo>
                  <a:lnTo>
                    <a:pt x="3328" y="8125"/>
                  </a:lnTo>
                  <a:lnTo>
                    <a:pt x="3352" y="8106"/>
                  </a:lnTo>
                  <a:lnTo>
                    <a:pt x="3375" y="8092"/>
                  </a:lnTo>
                  <a:lnTo>
                    <a:pt x="3396" y="8075"/>
                  </a:lnTo>
                  <a:lnTo>
                    <a:pt x="3430" y="8065"/>
                  </a:lnTo>
                  <a:lnTo>
                    <a:pt x="3457" y="8048"/>
                  </a:lnTo>
                  <a:lnTo>
                    <a:pt x="3490" y="8031"/>
                  </a:lnTo>
                  <a:lnTo>
                    <a:pt x="3528" y="8019"/>
                  </a:lnTo>
                  <a:lnTo>
                    <a:pt x="3567" y="8008"/>
                  </a:lnTo>
                  <a:lnTo>
                    <a:pt x="3611" y="7998"/>
                  </a:lnTo>
                  <a:lnTo>
                    <a:pt x="3653" y="7993"/>
                  </a:lnTo>
                  <a:lnTo>
                    <a:pt x="3703" y="7986"/>
                  </a:lnTo>
                  <a:lnTo>
                    <a:pt x="3757" y="7982"/>
                  </a:lnTo>
                  <a:lnTo>
                    <a:pt x="3771" y="7977"/>
                  </a:lnTo>
                  <a:lnTo>
                    <a:pt x="3774" y="7977"/>
                  </a:lnTo>
                  <a:lnTo>
                    <a:pt x="3781" y="7972"/>
                  </a:lnTo>
                  <a:lnTo>
                    <a:pt x="3781" y="7965"/>
                  </a:lnTo>
                  <a:lnTo>
                    <a:pt x="3771" y="7952"/>
                  </a:lnTo>
                  <a:lnTo>
                    <a:pt x="3742" y="7938"/>
                  </a:lnTo>
                  <a:lnTo>
                    <a:pt x="3671" y="7876"/>
                  </a:lnTo>
                  <a:lnTo>
                    <a:pt x="3622" y="7837"/>
                  </a:lnTo>
                  <a:lnTo>
                    <a:pt x="3567" y="7789"/>
                  </a:lnTo>
                  <a:lnTo>
                    <a:pt x="3510" y="7734"/>
                  </a:lnTo>
                  <a:lnTo>
                    <a:pt x="3452" y="7664"/>
                  </a:lnTo>
                  <a:lnTo>
                    <a:pt x="3385" y="7586"/>
                  </a:lnTo>
                  <a:lnTo>
                    <a:pt x="3360" y="7543"/>
                  </a:lnTo>
                  <a:lnTo>
                    <a:pt x="3326" y="7499"/>
                  </a:lnTo>
                  <a:lnTo>
                    <a:pt x="3298" y="7448"/>
                  </a:lnTo>
                  <a:lnTo>
                    <a:pt x="3272" y="7392"/>
                  </a:lnTo>
                  <a:lnTo>
                    <a:pt x="3237" y="7340"/>
                  </a:lnTo>
                  <a:lnTo>
                    <a:pt x="3214" y="7280"/>
                  </a:lnTo>
                  <a:lnTo>
                    <a:pt x="3187" y="7219"/>
                  </a:lnTo>
                  <a:lnTo>
                    <a:pt x="3160" y="7152"/>
                  </a:lnTo>
                  <a:lnTo>
                    <a:pt x="3141" y="7088"/>
                  </a:lnTo>
                  <a:lnTo>
                    <a:pt x="3122" y="7008"/>
                  </a:lnTo>
                  <a:lnTo>
                    <a:pt x="3116" y="7005"/>
                  </a:lnTo>
                  <a:lnTo>
                    <a:pt x="3111" y="7005"/>
                  </a:lnTo>
                  <a:lnTo>
                    <a:pt x="3108" y="7000"/>
                  </a:lnTo>
                  <a:lnTo>
                    <a:pt x="3101" y="7000"/>
                  </a:lnTo>
                  <a:lnTo>
                    <a:pt x="3090" y="7005"/>
                  </a:lnTo>
                  <a:lnTo>
                    <a:pt x="3084" y="7008"/>
                  </a:lnTo>
                  <a:lnTo>
                    <a:pt x="3076" y="7022"/>
                  </a:lnTo>
                  <a:lnTo>
                    <a:pt x="3073" y="7038"/>
                  </a:lnTo>
                  <a:lnTo>
                    <a:pt x="3067" y="7052"/>
                  </a:lnTo>
                  <a:lnTo>
                    <a:pt x="3057" y="7076"/>
                  </a:lnTo>
                  <a:lnTo>
                    <a:pt x="3024" y="7135"/>
                  </a:lnTo>
                  <a:lnTo>
                    <a:pt x="3007" y="7170"/>
                  </a:lnTo>
                  <a:lnTo>
                    <a:pt x="2980" y="7201"/>
                  </a:lnTo>
                  <a:lnTo>
                    <a:pt x="2951" y="7238"/>
                  </a:lnTo>
                  <a:lnTo>
                    <a:pt x="2920" y="7280"/>
                  </a:lnTo>
                  <a:lnTo>
                    <a:pt x="2886" y="7316"/>
                  </a:lnTo>
                  <a:lnTo>
                    <a:pt x="2847" y="7351"/>
                  </a:lnTo>
                  <a:lnTo>
                    <a:pt x="2811" y="7385"/>
                  </a:lnTo>
                  <a:lnTo>
                    <a:pt x="2771" y="7411"/>
                  </a:lnTo>
                  <a:lnTo>
                    <a:pt x="2726" y="7439"/>
                  </a:lnTo>
                  <a:lnTo>
                    <a:pt x="2684" y="7455"/>
                  </a:lnTo>
                  <a:lnTo>
                    <a:pt x="2634" y="7467"/>
                  </a:lnTo>
                  <a:lnTo>
                    <a:pt x="2585" y="7472"/>
                  </a:lnTo>
                  <a:lnTo>
                    <a:pt x="2574" y="7472"/>
                  </a:lnTo>
                  <a:lnTo>
                    <a:pt x="2562" y="7467"/>
                  </a:lnTo>
                  <a:lnTo>
                    <a:pt x="2554" y="7448"/>
                  </a:lnTo>
                  <a:lnTo>
                    <a:pt x="2539" y="7439"/>
                  </a:lnTo>
                  <a:lnTo>
                    <a:pt x="2520" y="7393"/>
                  </a:lnTo>
                  <a:lnTo>
                    <a:pt x="2509" y="7368"/>
                  </a:lnTo>
                  <a:lnTo>
                    <a:pt x="2496" y="7332"/>
                  </a:lnTo>
                  <a:lnTo>
                    <a:pt x="2486" y="7295"/>
                  </a:lnTo>
                  <a:lnTo>
                    <a:pt x="2480" y="7258"/>
                  </a:lnTo>
                  <a:lnTo>
                    <a:pt x="2465" y="7175"/>
                  </a:lnTo>
                  <a:lnTo>
                    <a:pt x="2459" y="7126"/>
                  </a:lnTo>
                  <a:lnTo>
                    <a:pt x="2459" y="6965"/>
                  </a:lnTo>
                  <a:lnTo>
                    <a:pt x="2465" y="6845"/>
                  </a:lnTo>
                  <a:lnTo>
                    <a:pt x="2474" y="6784"/>
                  </a:lnTo>
                  <a:lnTo>
                    <a:pt x="2486" y="6721"/>
                  </a:lnTo>
                  <a:lnTo>
                    <a:pt x="2496" y="6653"/>
                  </a:lnTo>
                  <a:lnTo>
                    <a:pt x="2514" y="6590"/>
                  </a:lnTo>
                  <a:lnTo>
                    <a:pt x="2535" y="6516"/>
                  </a:lnTo>
                  <a:lnTo>
                    <a:pt x="2557" y="6446"/>
                  </a:lnTo>
                  <a:lnTo>
                    <a:pt x="2585" y="6373"/>
                  </a:lnTo>
                  <a:lnTo>
                    <a:pt x="2612" y="6303"/>
                  </a:lnTo>
                  <a:lnTo>
                    <a:pt x="2649" y="6232"/>
                  </a:lnTo>
                  <a:lnTo>
                    <a:pt x="2684" y="6155"/>
                  </a:lnTo>
                  <a:lnTo>
                    <a:pt x="2726" y="6083"/>
                  </a:lnTo>
                  <a:lnTo>
                    <a:pt x="2776" y="6006"/>
                  </a:lnTo>
                  <a:lnTo>
                    <a:pt x="2827" y="5936"/>
                  </a:lnTo>
                  <a:lnTo>
                    <a:pt x="2880" y="5858"/>
                  </a:lnTo>
                  <a:lnTo>
                    <a:pt x="2924" y="5805"/>
                  </a:lnTo>
                  <a:lnTo>
                    <a:pt x="2980" y="5742"/>
                  </a:lnTo>
                  <a:lnTo>
                    <a:pt x="3040" y="5680"/>
                  </a:lnTo>
                  <a:lnTo>
                    <a:pt x="3067" y="5650"/>
                  </a:lnTo>
                  <a:lnTo>
                    <a:pt x="3101" y="5617"/>
                  </a:lnTo>
                  <a:lnTo>
                    <a:pt x="3150" y="5574"/>
                  </a:lnTo>
                  <a:lnTo>
                    <a:pt x="3200" y="5531"/>
                  </a:lnTo>
                  <a:lnTo>
                    <a:pt x="3281" y="5459"/>
                  </a:lnTo>
                  <a:lnTo>
                    <a:pt x="3343" y="5413"/>
                  </a:lnTo>
                  <a:lnTo>
                    <a:pt x="3365" y="5397"/>
                  </a:lnTo>
                  <a:close/>
                  <a:moveTo>
                    <a:pt x="5621" y="11239"/>
                  </a:moveTo>
                  <a:cubicBezTo>
                    <a:pt x="4862" y="11239"/>
                    <a:pt x="4126" y="11091"/>
                    <a:pt x="3433" y="10798"/>
                  </a:cubicBezTo>
                  <a:cubicBezTo>
                    <a:pt x="2764" y="10515"/>
                    <a:pt x="2163" y="10110"/>
                    <a:pt x="1647" y="9593"/>
                  </a:cubicBezTo>
                  <a:cubicBezTo>
                    <a:pt x="1130" y="9077"/>
                    <a:pt x="725" y="8476"/>
                    <a:pt x="442" y="7807"/>
                  </a:cubicBezTo>
                  <a:cubicBezTo>
                    <a:pt x="149" y="7114"/>
                    <a:pt x="0" y="6378"/>
                    <a:pt x="0" y="5620"/>
                  </a:cubicBezTo>
                  <a:cubicBezTo>
                    <a:pt x="0" y="4861"/>
                    <a:pt x="149" y="4125"/>
                    <a:pt x="442" y="3432"/>
                  </a:cubicBezTo>
                  <a:cubicBezTo>
                    <a:pt x="725" y="2763"/>
                    <a:pt x="1130" y="2162"/>
                    <a:pt x="1647" y="1646"/>
                  </a:cubicBezTo>
                  <a:cubicBezTo>
                    <a:pt x="2163" y="1130"/>
                    <a:pt x="2764" y="725"/>
                    <a:pt x="3433" y="442"/>
                  </a:cubicBezTo>
                  <a:cubicBezTo>
                    <a:pt x="4126" y="148"/>
                    <a:pt x="4862" y="0"/>
                    <a:pt x="5621" y="0"/>
                  </a:cubicBezTo>
                  <a:cubicBezTo>
                    <a:pt x="6380" y="0"/>
                    <a:pt x="7116" y="148"/>
                    <a:pt x="7809" y="442"/>
                  </a:cubicBezTo>
                  <a:cubicBezTo>
                    <a:pt x="8478" y="725"/>
                    <a:pt x="9079" y="1130"/>
                    <a:pt x="9595" y="1646"/>
                  </a:cubicBezTo>
                  <a:cubicBezTo>
                    <a:pt x="10111" y="2162"/>
                    <a:pt x="10516" y="2763"/>
                    <a:pt x="10799" y="3432"/>
                  </a:cubicBezTo>
                  <a:cubicBezTo>
                    <a:pt x="11093" y="4125"/>
                    <a:pt x="11241" y="4861"/>
                    <a:pt x="11241" y="5620"/>
                  </a:cubicBezTo>
                  <a:cubicBezTo>
                    <a:pt x="11241" y="6378"/>
                    <a:pt x="11092" y="7114"/>
                    <a:pt x="10799" y="7807"/>
                  </a:cubicBezTo>
                  <a:cubicBezTo>
                    <a:pt x="10516" y="8476"/>
                    <a:pt x="10111" y="9077"/>
                    <a:pt x="9595" y="9593"/>
                  </a:cubicBezTo>
                  <a:cubicBezTo>
                    <a:pt x="9079" y="10110"/>
                    <a:pt x="8478" y="10515"/>
                    <a:pt x="7809" y="10798"/>
                  </a:cubicBezTo>
                  <a:cubicBezTo>
                    <a:pt x="7116" y="11091"/>
                    <a:pt x="6380" y="11239"/>
                    <a:pt x="5621" y="11239"/>
                  </a:cubicBezTo>
                  <a:close/>
                  <a:moveTo>
                    <a:pt x="5621" y="322"/>
                  </a:moveTo>
                  <a:cubicBezTo>
                    <a:pt x="2699" y="322"/>
                    <a:pt x="322" y="2698"/>
                    <a:pt x="322" y="5620"/>
                  </a:cubicBezTo>
                  <a:cubicBezTo>
                    <a:pt x="322" y="8541"/>
                    <a:pt x="2699" y="10917"/>
                    <a:pt x="5621" y="10917"/>
                  </a:cubicBezTo>
                  <a:cubicBezTo>
                    <a:pt x="8542" y="10917"/>
                    <a:pt x="10919" y="8541"/>
                    <a:pt x="10919" y="5620"/>
                  </a:cubicBezTo>
                  <a:cubicBezTo>
                    <a:pt x="10919" y="2698"/>
                    <a:pt x="8542" y="322"/>
                    <a:pt x="5621" y="322"/>
                  </a:cubicBezTo>
                  <a:close/>
                </a:path>
              </a:pathLst>
            </a:custGeom>
            <a:solidFill>
              <a:srgbClr val="1E73F5"/>
            </a:solidFill>
            <a:ln>
              <a:noFill/>
            </a:ln>
          </p:spPr>
          <p:txBody>
            <a:bodyPr vert="horz" wrap="square" lIns="91440" tIns="45720" rIns="91440" bIns="45720" numCol="1" anchor="t" anchorCtr="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200"/>
            </a:p>
          </p:txBody>
        </p:sp>
        <p:pic>
          <p:nvPicPr>
            <p:cNvPr id="35" name="图片 34" descr="图标&#10;&#10;描述已自动生成"/>
            <p:cNvPicPr>
              <a:picLocks noChangeAspect="1"/>
            </p:cNvPicPr>
            <p:nvPr/>
          </p:nvPicPr>
          <p:blipFill>
            <a:blip r:embed="rId1"/>
            <a:stretch>
              <a:fillRect/>
            </a:stretch>
          </p:blipFill>
          <p:spPr>
            <a:xfrm rot="19007333">
              <a:off x="2120376" y="3110928"/>
              <a:ext cx="309066" cy="283469"/>
            </a:xfrm>
            <a:prstGeom prst="rect">
              <a:avLst/>
            </a:prstGeom>
          </p:spPr>
        </p:pic>
        <p:sp>
          <p:nvSpPr>
            <p:cNvPr id="36" name="íṩ1idé"/>
            <p:cNvSpPr/>
            <p:nvPr/>
          </p:nvSpPr>
          <p:spPr bwMode="auto">
            <a:xfrm rot="1899547">
              <a:off x="8364223" y="2090952"/>
              <a:ext cx="353369" cy="265320"/>
            </a:xfrm>
            <a:custGeom>
              <a:avLst/>
              <a:gdLst>
                <a:gd name="T0" fmla="*/ 455839 w 606244"/>
                <a:gd name="T1" fmla="*/ 455839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600116 w 606244"/>
                <a:gd name="T25" fmla="*/ 600116 w 606244"/>
                <a:gd name="T26" fmla="*/ 600116 w 606244"/>
                <a:gd name="T27" fmla="*/ 600116 w 606244"/>
                <a:gd name="T28" fmla="*/ 455839 w 606244"/>
                <a:gd name="T29" fmla="*/ 455839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600116 w 606244"/>
                <a:gd name="T39" fmla="*/ 600116 w 606244"/>
                <a:gd name="T40" fmla="*/ 455839 w 606244"/>
                <a:gd name="T41" fmla="*/ 455839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455839 w 606244"/>
                <a:gd name="T53" fmla="*/ 455839 w 606244"/>
                <a:gd name="T54" fmla="*/ 600116 w 606244"/>
                <a:gd name="T55" fmla="*/ 600116 w 606244"/>
                <a:gd name="T56" fmla="*/ 600116 w 606244"/>
                <a:gd name="T57" fmla="*/ 600116 w 606244"/>
                <a:gd name="T58" fmla="*/ 600116 w 606244"/>
                <a:gd name="T59" fmla="*/ 600116 w 606244"/>
                <a:gd name="T60" fmla="*/ 600116 w 606244"/>
                <a:gd name="T61" fmla="*/ 600116 w 606244"/>
                <a:gd name="T62" fmla="*/ 600116 w 606244"/>
                <a:gd name="T63" fmla="*/ 600116 w 606244"/>
                <a:gd name="T64" fmla="*/ 600116 w 606244"/>
                <a:gd name="T65" fmla="*/ 600116 w 606244"/>
                <a:gd name="T66" fmla="*/ 600116 w 606244"/>
                <a:gd name="T67" fmla="*/ 600116 w 606244"/>
                <a:gd name="T68" fmla="*/ 455839 w 606244"/>
                <a:gd name="T69" fmla="*/ 455839 w 606244"/>
                <a:gd name="T70" fmla="*/ 600116 w 606244"/>
                <a:gd name="T71" fmla="*/ 600116 w 606244"/>
                <a:gd name="T72" fmla="*/ 600116 w 606244"/>
                <a:gd name="T73" fmla="*/ 600116 w 606244"/>
                <a:gd name="T74" fmla="*/ 600116 w 606244"/>
                <a:gd name="T75" fmla="*/ 600116 w 606244"/>
                <a:gd name="T76" fmla="*/ 600116 w 606244"/>
                <a:gd name="T77" fmla="*/ 600116 w 606244"/>
                <a:gd name="T78" fmla="*/ 600116 w 606244"/>
                <a:gd name="T79"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47" h="2964">
                  <a:moveTo>
                    <a:pt x="3727" y="335"/>
                  </a:moveTo>
                  <a:cubicBezTo>
                    <a:pt x="3710" y="209"/>
                    <a:pt x="3635" y="135"/>
                    <a:pt x="3539" y="91"/>
                  </a:cubicBezTo>
                  <a:cubicBezTo>
                    <a:pt x="3498" y="55"/>
                    <a:pt x="3445" y="35"/>
                    <a:pt x="3391" y="44"/>
                  </a:cubicBezTo>
                  <a:cubicBezTo>
                    <a:pt x="3318" y="30"/>
                    <a:pt x="3242" y="24"/>
                    <a:pt x="3174" y="20"/>
                  </a:cubicBezTo>
                  <a:cubicBezTo>
                    <a:pt x="2814" y="0"/>
                    <a:pt x="2446" y="59"/>
                    <a:pt x="2085" y="61"/>
                  </a:cubicBezTo>
                  <a:cubicBezTo>
                    <a:pt x="1450" y="65"/>
                    <a:pt x="816" y="83"/>
                    <a:pt x="181" y="84"/>
                  </a:cubicBezTo>
                  <a:cubicBezTo>
                    <a:pt x="129" y="84"/>
                    <a:pt x="89" y="103"/>
                    <a:pt x="60" y="131"/>
                  </a:cubicBezTo>
                  <a:cubicBezTo>
                    <a:pt x="24" y="160"/>
                    <a:pt x="0" y="205"/>
                    <a:pt x="0" y="266"/>
                  </a:cubicBezTo>
                  <a:cubicBezTo>
                    <a:pt x="2" y="1096"/>
                    <a:pt x="46" y="1925"/>
                    <a:pt x="48" y="2756"/>
                  </a:cubicBezTo>
                  <a:cubicBezTo>
                    <a:pt x="49" y="2858"/>
                    <a:pt x="131" y="2932"/>
                    <a:pt x="230" y="2937"/>
                  </a:cubicBezTo>
                  <a:cubicBezTo>
                    <a:pt x="783" y="2964"/>
                    <a:pt x="1335" y="2941"/>
                    <a:pt x="1888" y="2917"/>
                  </a:cubicBezTo>
                  <a:cubicBezTo>
                    <a:pt x="2361" y="2897"/>
                    <a:pt x="2871" y="2952"/>
                    <a:pt x="3338" y="2889"/>
                  </a:cubicBezTo>
                  <a:cubicBezTo>
                    <a:pt x="4047" y="2793"/>
                    <a:pt x="3762" y="1697"/>
                    <a:pt x="3727" y="1218"/>
                  </a:cubicBezTo>
                  <a:cubicBezTo>
                    <a:pt x="3705" y="922"/>
                    <a:pt x="3769" y="631"/>
                    <a:pt x="3727" y="335"/>
                  </a:cubicBezTo>
                  <a:close/>
                  <a:moveTo>
                    <a:pt x="2591" y="408"/>
                  </a:moveTo>
                  <a:cubicBezTo>
                    <a:pt x="2646" y="404"/>
                    <a:pt x="2862" y="374"/>
                    <a:pt x="3054" y="368"/>
                  </a:cubicBezTo>
                  <a:cubicBezTo>
                    <a:pt x="2771" y="698"/>
                    <a:pt x="2474" y="1055"/>
                    <a:pt x="2062" y="1172"/>
                  </a:cubicBezTo>
                  <a:cubicBezTo>
                    <a:pt x="1769" y="1254"/>
                    <a:pt x="1500" y="905"/>
                    <a:pt x="1293" y="745"/>
                  </a:cubicBezTo>
                  <a:cubicBezTo>
                    <a:pt x="1148" y="633"/>
                    <a:pt x="986" y="539"/>
                    <a:pt x="821" y="450"/>
                  </a:cubicBezTo>
                  <a:cubicBezTo>
                    <a:pt x="1412" y="453"/>
                    <a:pt x="2007" y="455"/>
                    <a:pt x="2591" y="408"/>
                  </a:cubicBezTo>
                  <a:close/>
                  <a:moveTo>
                    <a:pt x="409" y="2579"/>
                  </a:moveTo>
                  <a:cubicBezTo>
                    <a:pt x="402" y="1926"/>
                    <a:pt x="377" y="1274"/>
                    <a:pt x="367" y="621"/>
                  </a:cubicBezTo>
                  <a:cubicBezTo>
                    <a:pt x="673" y="791"/>
                    <a:pt x="984" y="955"/>
                    <a:pt x="1252" y="1179"/>
                  </a:cubicBezTo>
                  <a:cubicBezTo>
                    <a:pt x="1252" y="1180"/>
                    <a:pt x="1251" y="1180"/>
                    <a:pt x="1250" y="1181"/>
                  </a:cubicBezTo>
                  <a:cubicBezTo>
                    <a:pt x="991" y="1660"/>
                    <a:pt x="642" y="2080"/>
                    <a:pt x="422" y="2580"/>
                  </a:cubicBezTo>
                  <a:cubicBezTo>
                    <a:pt x="418" y="2580"/>
                    <a:pt x="413" y="2580"/>
                    <a:pt x="409" y="2579"/>
                  </a:cubicBezTo>
                  <a:close/>
                  <a:moveTo>
                    <a:pt x="2913" y="2526"/>
                  </a:moveTo>
                  <a:cubicBezTo>
                    <a:pt x="2213" y="2507"/>
                    <a:pt x="1514" y="2573"/>
                    <a:pt x="814" y="2582"/>
                  </a:cubicBezTo>
                  <a:cubicBezTo>
                    <a:pt x="1018" y="2168"/>
                    <a:pt x="1317" y="1805"/>
                    <a:pt x="1542" y="1402"/>
                  </a:cubicBezTo>
                  <a:cubicBezTo>
                    <a:pt x="1702" y="1504"/>
                    <a:pt x="1878" y="1568"/>
                    <a:pt x="2082" y="1534"/>
                  </a:cubicBezTo>
                  <a:cubicBezTo>
                    <a:pt x="2196" y="1515"/>
                    <a:pt x="2301" y="1479"/>
                    <a:pt x="2401" y="1431"/>
                  </a:cubicBezTo>
                  <a:cubicBezTo>
                    <a:pt x="2730" y="1738"/>
                    <a:pt x="2963" y="2129"/>
                    <a:pt x="3130" y="2545"/>
                  </a:cubicBezTo>
                  <a:cubicBezTo>
                    <a:pt x="3130" y="2545"/>
                    <a:pt x="3130" y="2545"/>
                    <a:pt x="3130" y="2545"/>
                  </a:cubicBezTo>
                  <a:cubicBezTo>
                    <a:pt x="3046" y="2540"/>
                    <a:pt x="2963" y="2527"/>
                    <a:pt x="2913" y="2526"/>
                  </a:cubicBezTo>
                  <a:close/>
                  <a:moveTo>
                    <a:pt x="3422" y="2313"/>
                  </a:moveTo>
                  <a:cubicBezTo>
                    <a:pt x="3250" y="1913"/>
                    <a:pt x="3025" y="1538"/>
                    <a:pt x="2715" y="1231"/>
                  </a:cubicBezTo>
                  <a:cubicBezTo>
                    <a:pt x="2968" y="1029"/>
                    <a:pt x="3184" y="762"/>
                    <a:pt x="3395" y="524"/>
                  </a:cubicBezTo>
                  <a:cubicBezTo>
                    <a:pt x="3422" y="747"/>
                    <a:pt x="3352" y="998"/>
                    <a:pt x="3364" y="1218"/>
                  </a:cubicBezTo>
                  <a:cubicBezTo>
                    <a:pt x="3379" y="1490"/>
                    <a:pt x="3415" y="1760"/>
                    <a:pt x="3427" y="2033"/>
                  </a:cubicBezTo>
                  <a:cubicBezTo>
                    <a:pt x="3431" y="2126"/>
                    <a:pt x="3430" y="2220"/>
                    <a:pt x="3422" y="2313"/>
                  </a:cubicBezTo>
                  <a:close/>
                </a:path>
              </a:pathLst>
            </a:custGeom>
            <a:solidFill>
              <a:srgbClr val="1E73F5"/>
            </a:solidFill>
            <a:ln>
              <a:noFill/>
            </a:ln>
          </p:spPr>
          <p:txBody>
            <a:bodyPr vert="horz" wrap="square" lIns="91440" tIns="45720" rIns="91440" bIns="45720" numCol="1" anchor="t" anchorCtr="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200"/>
            </a:p>
          </p:txBody>
        </p:sp>
        <p:sp>
          <p:nvSpPr>
            <p:cNvPr id="37" name="íṩ1idé"/>
            <p:cNvSpPr/>
            <p:nvPr/>
          </p:nvSpPr>
          <p:spPr bwMode="auto">
            <a:xfrm rot="19738062">
              <a:off x="3251326" y="2143115"/>
              <a:ext cx="313823" cy="300797"/>
            </a:xfrm>
            <a:custGeom>
              <a:avLst/>
              <a:gdLst>
                <a:gd name="T0" fmla="*/ 5334 w 11734"/>
                <a:gd name="T1" fmla="*/ 9067 h 10134"/>
                <a:gd name="T2" fmla="*/ 5334 w 11734"/>
                <a:gd name="T3" fmla="*/ 8000 h 10134"/>
                <a:gd name="T4" fmla="*/ 1336 w 11734"/>
                <a:gd name="T5" fmla="*/ 8000 h 10134"/>
                <a:gd name="T6" fmla="*/ 0 w 11734"/>
                <a:gd name="T7" fmla="*/ 6665 h 10134"/>
                <a:gd name="T8" fmla="*/ 0 w 11734"/>
                <a:gd name="T9" fmla="*/ 1336 h 10134"/>
                <a:gd name="T10" fmla="*/ 1336 w 11734"/>
                <a:gd name="T11" fmla="*/ 0 h 10134"/>
                <a:gd name="T12" fmla="*/ 10398 w 11734"/>
                <a:gd name="T13" fmla="*/ 0 h 10134"/>
                <a:gd name="T14" fmla="*/ 11734 w 11734"/>
                <a:gd name="T15" fmla="*/ 1336 h 10134"/>
                <a:gd name="T16" fmla="*/ 11734 w 11734"/>
                <a:gd name="T17" fmla="*/ 6665 h 10134"/>
                <a:gd name="T18" fmla="*/ 10398 w 11734"/>
                <a:gd name="T19" fmla="*/ 8000 h 10134"/>
                <a:gd name="T20" fmla="*/ 6400 w 11734"/>
                <a:gd name="T21" fmla="*/ 8000 h 10134"/>
                <a:gd name="T22" fmla="*/ 6400 w 11734"/>
                <a:gd name="T23" fmla="*/ 9067 h 10134"/>
                <a:gd name="T24" fmla="*/ 8267 w 11734"/>
                <a:gd name="T25" fmla="*/ 9067 h 10134"/>
                <a:gd name="T26" fmla="*/ 8800 w 11734"/>
                <a:gd name="T27" fmla="*/ 9600 h 10134"/>
                <a:gd name="T28" fmla="*/ 8267 w 11734"/>
                <a:gd name="T29" fmla="*/ 10134 h 10134"/>
                <a:gd name="T30" fmla="*/ 3467 w 11734"/>
                <a:gd name="T31" fmla="*/ 10134 h 10134"/>
                <a:gd name="T32" fmla="*/ 2934 w 11734"/>
                <a:gd name="T33" fmla="*/ 9600 h 10134"/>
                <a:gd name="T34" fmla="*/ 3467 w 11734"/>
                <a:gd name="T35" fmla="*/ 9067 h 10134"/>
                <a:gd name="T36" fmla="*/ 5334 w 11734"/>
                <a:gd name="T37" fmla="*/ 9067 h 10134"/>
                <a:gd name="T38" fmla="*/ 1067 w 11734"/>
                <a:gd name="T39" fmla="*/ 1336 h 10134"/>
                <a:gd name="T40" fmla="*/ 1067 w 11734"/>
                <a:gd name="T41" fmla="*/ 6665 h 10134"/>
                <a:gd name="T42" fmla="*/ 1336 w 11734"/>
                <a:gd name="T43" fmla="*/ 6934 h 10134"/>
                <a:gd name="T44" fmla="*/ 10398 w 11734"/>
                <a:gd name="T45" fmla="*/ 6934 h 10134"/>
                <a:gd name="T46" fmla="*/ 10667 w 11734"/>
                <a:gd name="T47" fmla="*/ 6665 h 10134"/>
                <a:gd name="T48" fmla="*/ 10667 w 11734"/>
                <a:gd name="T49" fmla="*/ 1336 h 10134"/>
                <a:gd name="T50" fmla="*/ 10398 w 11734"/>
                <a:gd name="T51" fmla="*/ 1067 h 10134"/>
                <a:gd name="T52" fmla="*/ 1336 w 11734"/>
                <a:gd name="T53" fmla="*/ 1067 h 10134"/>
                <a:gd name="T54" fmla="*/ 1067 w 11734"/>
                <a:gd name="T55" fmla="*/ 1336 h 10134"/>
                <a:gd name="T56" fmla="*/ 2777 w 11734"/>
                <a:gd name="T57" fmla="*/ 4111 h 10134"/>
                <a:gd name="T58" fmla="*/ 2030 w 11734"/>
                <a:gd name="T59" fmla="*/ 4104 h 10134"/>
                <a:gd name="T60" fmla="*/ 2023 w 11734"/>
                <a:gd name="T61" fmla="*/ 3357 h 10134"/>
                <a:gd name="T62" fmla="*/ 3357 w 11734"/>
                <a:gd name="T63" fmla="*/ 2023 h 10134"/>
                <a:gd name="T64" fmla="*/ 4104 w 11734"/>
                <a:gd name="T65" fmla="*/ 2030 h 10134"/>
                <a:gd name="T66" fmla="*/ 4111 w 11734"/>
                <a:gd name="T67" fmla="*/ 2777 h 10134"/>
                <a:gd name="T68" fmla="*/ 2777 w 11734"/>
                <a:gd name="T69" fmla="*/ 4111 h 10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734" h="10134">
                  <a:moveTo>
                    <a:pt x="5334" y="9067"/>
                  </a:moveTo>
                  <a:lnTo>
                    <a:pt x="5334" y="8000"/>
                  </a:lnTo>
                  <a:lnTo>
                    <a:pt x="1336" y="8000"/>
                  </a:lnTo>
                  <a:cubicBezTo>
                    <a:pt x="598" y="8001"/>
                    <a:pt x="0" y="7403"/>
                    <a:pt x="0" y="6665"/>
                  </a:cubicBezTo>
                  <a:lnTo>
                    <a:pt x="0" y="1336"/>
                  </a:lnTo>
                  <a:cubicBezTo>
                    <a:pt x="0" y="598"/>
                    <a:pt x="598" y="0"/>
                    <a:pt x="1336" y="0"/>
                  </a:cubicBezTo>
                  <a:lnTo>
                    <a:pt x="10398" y="0"/>
                  </a:lnTo>
                  <a:cubicBezTo>
                    <a:pt x="11136" y="0"/>
                    <a:pt x="11734" y="598"/>
                    <a:pt x="11734" y="1336"/>
                  </a:cubicBezTo>
                  <a:lnTo>
                    <a:pt x="11734" y="6665"/>
                  </a:lnTo>
                  <a:cubicBezTo>
                    <a:pt x="11734" y="7403"/>
                    <a:pt x="11136" y="8001"/>
                    <a:pt x="10398" y="8000"/>
                  </a:cubicBezTo>
                  <a:lnTo>
                    <a:pt x="6400" y="8000"/>
                  </a:lnTo>
                  <a:lnTo>
                    <a:pt x="6400" y="9067"/>
                  </a:lnTo>
                  <a:lnTo>
                    <a:pt x="8267" y="9067"/>
                  </a:lnTo>
                  <a:cubicBezTo>
                    <a:pt x="8562" y="9067"/>
                    <a:pt x="8800" y="9306"/>
                    <a:pt x="8800" y="9600"/>
                  </a:cubicBezTo>
                  <a:cubicBezTo>
                    <a:pt x="8800" y="9895"/>
                    <a:pt x="8562" y="10134"/>
                    <a:pt x="8267" y="10134"/>
                  </a:cubicBezTo>
                  <a:lnTo>
                    <a:pt x="3467" y="10134"/>
                  </a:lnTo>
                  <a:cubicBezTo>
                    <a:pt x="3172" y="10134"/>
                    <a:pt x="2934" y="9895"/>
                    <a:pt x="2934" y="9600"/>
                  </a:cubicBezTo>
                  <a:cubicBezTo>
                    <a:pt x="2934" y="9306"/>
                    <a:pt x="3172" y="9067"/>
                    <a:pt x="3467" y="9067"/>
                  </a:cubicBezTo>
                  <a:lnTo>
                    <a:pt x="5334" y="9067"/>
                  </a:lnTo>
                  <a:close/>
                  <a:moveTo>
                    <a:pt x="1067" y="1336"/>
                  </a:moveTo>
                  <a:lnTo>
                    <a:pt x="1067" y="6665"/>
                  </a:lnTo>
                  <a:cubicBezTo>
                    <a:pt x="1067" y="6814"/>
                    <a:pt x="1187" y="6934"/>
                    <a:pt x="1336" y="6934"/>
                  </a:cubicBezTo>
                  <a:lnTo>
                    <a:pt x="10398" y="6934"/>
                  </a:lnTo>
                  <a:cubicBezTo>
                    <a:pt x="10547" y="6934"/>
                    <a:pt x="10667" y="6814"/>
                    <a:pt x="10667" y="6665"/>
                  </a:cubicBezTo>
                  <a:lnTo>
                    <a:pt x="10667" y="1336"/>
                  </a:lnTo>
                  <a:cubicBezTo>
                    <a:pt x="10667" y="1187"/>
                    <a:pt x="10547" y="1067"/>
                    <a:pt x="10398" y="1067"/>
                  </a:cubicBezTo>
                  <a:lnTo>
                    <a:pt x="1336" y="1067"/>
                  </a:lnTo>
                  <a:cubicBezTo>
                    <a:pt x="1187" y="1067"/>
                    <a:pt x="1067" y="1187"/>
                    <a:pt x="1067" y="1336"/>
                  </a:cubicBezTo>
                  <a:close/>
                  <a:moveTo>
                    <a:pt x="2777" y="4111"/>
                  </a:moveTo>
                  <a:cubicBezTo>
                    <a:pt x="2568" y="4313"/>
                    <a:pt x="2235" y="4310"/>
                    <a:pt x="2030" y="4104"/>
                  </a:cubicBezTo>
                  <a:cubicBezTo>
                    <a:pt x="1824" y="3899"/>
                    <a:pt x="1821" y="3566"/>
                    <a:pt x="2023" y="3357"/>
                  </a:cubicBezTo>
                  <a:lnTo>
                    <a:pt x="3357" y="2023"/>
                  </a:lnTo>
                  <a:cubicBezTo>
                    <a:pt x="3566" y="1821"/>
                    <a:pt x="3899" y="1824"/>
                    <a:pt x="4104" y="2030"/>
                  </a:cubicBezTo>
                  <a:cubicBezTo>
                    <a:pt x="4310" y="2235"/>
                    <a:pt x="4313" y="2568"/>
                    <a:pt x="4111" y="2777"/>
                  </a:cubicBezTo>
                  <a:lnTo>
                    <a:pt x="2777" y="4111"/>
                  </a:lnTo>
                  <a:close/>
                </a:path>
              </a:pathLst>
            </a:custGeom>
            <a:solidFill>
              <a:srgbClr val="1E73F5"/>
            </a:solidFill>
            <a:ln>
              <a:noFill/>
            </a:ln>
          </p:spPr>
          <p:txBody>
            <a:bodyPr vert="horz" wrap="square" lIns="91440" tIns="45720" rIns="91440" bIns="45720" numCol="1" anchor="t" anchorCtr="0" compatLnSpc="1">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7200"/>
            </a:p>
          </p:txBody>
        </p:sp>
        <p:sp>
          <p:nvSpPr>
            <p:cNvPr id="38" name="iconfont-11845-5652691"/>
            <p:cNvSpPr/>
            <p:nvPr/>
          </p:nvSpPr>
          <p:spPr>
            <a:xfrm rot="3017153">
              <a:off x="9810446" y="3130441"/>
              <a:ext cx="373225" cy="316999"/>
            </a:xfrm>
            <a:custGeom>
              <a:avLst/>
              <a:gdLst>
                <a:gd name="T0" fmla="*/ 8390 w 11230"/>
                <a:gd name="T1" fmla="*/ 8004 h 11206"/>
                <a:gd name="T2" fmla="*/ 8603 w 11230"/>
                <a:gd name="T3" fmla="*/ 8092 h 11206"/>
                <a:gd name="T4" fmla="*/ 8814 w 11230"/>
                <a:gd name="T5" fmla="*/ 8005 h 11206"/>
                <a:gd name="T6" fmla="*/ 8814 w 11230"/>
                <a:gd name="T7" fmla="*/ 7581 h 11206"/>
                <a:gd name="T8" fmla="*/ 6420 w 11230"/>
                <a:gd name="T9" fmla="*/ 5181 h 11206"/>
                <a:gd name="T10" fmla="*/ 5996 w 11230"/>
                <a:gd name="T11" fmla="*/ 5181 h 11206"/>
                <a:gd name="T12" fmla="*/ 5996 w 11230"/>
                <a:gd name="T13" fmla="*/ 5605 h 11206"/>
                <a:gd name="T14" fmla="*/ 8390 w 11230"/>
                <a:gd name="T15" fmla="*/ 8004 h 11206"/>
                <a:gd name="T16" fmla="*/ 6561 w 11230"/>
                <a:gd name="T17" fmla="*/ 8382 h 11206"/>
                <a:gd name="T18" fmla="*/ 6774 w 11230"/>
                <a:gd name="T19" fmla="*/ 8470 h 11206"/>
                <a:gd name="T20" fmla="*/ 6986 w 11230"/>
                <a:gd name="T21" fmla="*/ 8382 h 11206"/>
                <a:gd name="T22" fmla="*/ 6986 w 11230"/>
                <a:gd name="T23" fmla="*/ 7959 h 11206"/>
                <a:gd name="T24" fmla="*/ 6188 w 11230"/>
                <a:gd name="T25" fmla="*/ 7160 h 11206"/>
                <a:gd name="T26" fmla="*/ 5764 w 11230"/>
                <a:gd name="T27" fmla="*/ 7160 h 11206"/>
                <a:gd name="T28" fmla="*/ 5764 w 11230"/>
                <a:gd name="T29" fmla="*/ 7584 h 11206"/>
                <a:gd name="T30" fmla="*/ 6561 w 11230"/>
                <a:gd name="T31" fmla="*/ 8382 h 11206"/>
                <a:gd name="T32" fmla="*/ 10911 w 11230"/>
                <a:gd name="T33" fmla="*/ 10606 h 11206"/>
                <a:gd name="T34" fmla="*/ 10413 w 11230"/>
                <a:gd name="T35" fmla="*/ 10606 h 11206"/>
                <a:gd name="T36" fmla="*/ 10413 w 11230"/>
                <a:gd name="T37" fmla="*/ 3990 h 11206"/>
                <a:gd name="T38" fmla="*/ 10915 w 11230"/>
                <a:gd name="T39" fmla="*/ 3991 h 11206"/>
                <a:gd name="T40" fmla="*/ 11166 w 11230"/>
                <a:gd name="T41" fmla="*/ 3855 h 11206"/>
                <a:gd name="T42" fmla="*/ 11189 w 11230"/>
                <a:gd name="T43" fmla="*/ 3569 h 11206"/>
                <a:gd name="T44" fmla="*/ 9886 w 11230"/>
                <a:gd name="T45" fmla="*/ 177 h 11206"/>
                <a:gd name="T46" fmla="*/ 9613 w 11230"/>
                <a:gd name="T47" fmla="*/ 0 h 11206"/>
                <a:gd name="T48" fmla="*/ 1611 w 11230"/>
                <a:gd name="T49" fmla="*/ 0 h 11206"/>
                <a:gd name="T50" fmla="*/ 1338 w 11230"/>
                <a:gd name="T51" fmla="*/ 177 h 11206"/>
                <a:gd name="T52" fmla="*/ 41 w 11230"/>
                <a:gd name="T53" fmla="*/ 3567 h 11206"/>
                <a:gd name="T54" fmla="*/ 64 w 11230"/>
                <a:gd name="T55" fmla="*/ 3853 h 11206"/>
                <a:gd name="T56" fmla="*/ 315 w 11230"/>
                <a:gd name="T57" fmla="*/ 3990 h 11206"/>
                <a:gd name="T58" fmla="*/ 810 w 11230"/>
                <a:gd name="T59" fmla="*/ 3988 h 11206"/>
                <a:gd name="T60" fmla="*/ 810 w 11230"/>
                <a:gd name="T61" fmla="*/ 10606 h 11206"/>
                <a:gd name="T62" fmla="*/ 310 w 11230"/>
                <a:gd name="T63" fmla="*/ 10606 h 11206"/>
                <a:gd name="T64" fmla="*/ 10 w 11230"/>
                <a:gd name="T65" fmla="*/ 10906 h 11206"/>
                <a:gd name="T66" fmla="*/ 310 w 11230"/>
                <a:gd name="T67" fmla="*/ 11206 h 11206"/>
                <a:gd name="T68" fmla="*/ 10910 w 11230"/>
                <a:gd name="T69" fmla="*/ 11206 h 11206"/>
                <a:gd name="T70" fmla="*/ 11210 w 11230"/>
                <a:gd name="T71" fmla="*/ 10906 h 11206"/>
                <a:gd name="T72" fmla="*/ 10911 w 11230"/>
                <a:gd name="T73" fmla="*/ 10606 h 11206"/>
                <a:gd name="T74" fmla="*/ 9813 w 11230"/>
                <a:gd name="T75" fmla="*/ 10587 h 11206"/>
                <a:gd name="T76" fmla="*/ 4611 w 11230"/>
                <a:gd name="T77" fmla="*/ 10587 h 11206"/>
                <a:gd name="T78" fmla="*/ 4611 w 11230"/>
                <a:gd name="T79" fmla="*/ 3985 h 11206"/>
                <a:gd name="T80" fmla="*/ 9813 w 11230"/>
                <a:gd name="T81" fmla="*/ 3989 h 11206"/>
                <a:gd name="T82" fmla="*/ 9813 w 11230"/>
                <a:gd name="T83" fmla="*/ 10587 h 11206"/>
                <a:gd name="T84" fmla="*/ 894 w 11230"/>
                <a:gd name="T85" fmla="*/ 3390 h 11206"/>
                <a:gd name="T86" fmla="*/ 825 w 11230"/>
                <a:gd name="T87" fmla="*/ 3285 h 11206"/>
                <a:gd name="T88" fmla="*/ 1785 w 11230"/>
                <a:gd name="T89" fmla="*/ 645 h 11206"/>
                <a:gd name="T90" fmla="*/ 1854 w 11230"/>
                <a:gd name="T91" fmla="*/ 600 h 11206"/>
                <a:gd name="T92" fmla="*/ 9370 w 11230"/>
                <a:gd name="T93" fmla="*/ 600 h 11206"/>
                <a:gd name="T94" fmla="*/ 9439 w 11230"/>
                <a:gd name="T95" fmla="*/ 644 h 11206"/>
                <a:gd name="T96" fmla="*/ 10403 w 11230"/>
                <a:gd name="T97" fmla="*/ 3284 h 11206"/>
                <a:gd name="T98" fmla="*/ 10334 w 11230"/>
                <a:gd name="T99" fmla="*/ 3390 h 11206"/>
                <a:gd name="T100" fmla="*/ 4011 w 11230"/>
                <a:gd name="T101" fmla="*/ 3985 h 11206"/>
                <a:gd name="T102" fmla="*/ 4011 w 11230"/>
                <a:gd name="T103" fmla="*/ 10587 h 11206"/>
                <a:gd name="T104" fmla="*/ 1411 w 11230"/>
                <a:gd name="T105" fmla="*/ 10587 h 11206"/>
                <a:gd name="T106" fmla="*/ 1411 w 11230"/>
                <a:gd name="T107" fmla="*/ 3989 h 11206"/>
                <a:gd name="T108" fmla="*/ 4011 w 11230"/>
                <a:gd name="T109" fmla="*/ 3985 h 1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30" h="11206">
                  <a:moveTo>
                    <a:pt x="8390" y="8004"/>
                  </a:moveTo>
                  <a:cubicBezTo>
                    <a:pt x="8449" y="8062"/>
                    <a:pt x="8525" y="8092"/>
                    <a:pt x="8603" y="8092"/>
                  </a:cubicBezTo>
                  <a:cubicBezTo>
                    <a:pt x="8679" y="8092"/>
                    <a:pt x="8756" y="8064"/>
                    <a:pt x="8814" y="8005"/>
                  </a:cubicBezTo>
                  <a:cubicBezTo>
                    <a:pt x="8931" y="7887"/>
                    <a:pt x="8931" y="7697"/>
                    <a:pt x="8814" y="7581"/>
                  </a:cubicBezTo>
                  <a:lnTo>
                    <a:pt x="6420" y="5181"/>
                  </a:lnTo>
                  <a:cubicBezTo>
                    <a:pt x="6303" y="5064"/>
                    <a:pt x="6112" y="5064"/>
                    <a:pt x="5996" y="5181"/>
                  </a:cubicBezTo>
                  <a:cubicBezTo>
                    <a:pt x="5879" y="5299"/>
                    <a:pt x="5879" y="5489"/>
                    <a:pt x="5996" y="5605"/>
                  </a:cubicBezTo>
                  <a:lnTo>
                    <a:pt x="8390" y="8004"/>
                  </a:lnTo>
                  <a:close/>
                  <a:moveTo>
                    <a:pt x="6561" y="8382"/>
                  </a:moveTo>
                  <a:cubicBezTo>
                    <a:pt x="6620" y="8441"/>
                    <a:pt x="6696" y="8470"/>
                    <a:pt x="6774" y="8470"/>
                  </a:cubicBezTo>
                  <a:cubicBezTo>
                    <a:pt x="6851" y="8470"/>
                    <a:pt x="6928" y="8441"/>
                    <a:pt x="6986" y="8382"/>
                  </a:cubicBezTo>
                  <a:cubicBezTo>
                    <a:pt x="7104" y="8265"/>
                    <a:pt x="7104" y="8075"/>
                    <a:pt x="6986" y="7959"/>
                  </a:cubicBezTo>
                  <a:lnTo>
                    <a:pt x="6188" y="7160"/>
                  </a:lnTo>
                  <a:cubicBezTo>
                    <a:pt x="6070" y="7042"/>
                    <a:pt x="5880" y="7042"/>
                    <a:pt x="5764" y="7160"/>
                  </a:cubicBezTo>
                  <a:cubicBezTo>
                    <a:pt x="5646" y="7277"/>
                    <a:pt x="5646" y="7467"/>
                    <a:pt x="5764" y="7584"/>
                  </a:cubicBezTo>
                  <a:lnTo>
                    <a:pt x="6561" y="8382"/>
                  </a:lnTo>
                  <a:close/>
                  <a:moveTo>
                    <a:pt x="10911" y="10606"/>
                  </a:moveTo>
                  <a:lnTo>
                    <a:pt x="10413" y="10606"/>
                  </a:lnTo>
                  <a:lnTo>
                    <a:pt x="10413" y="3990"/>
                  </a:lnTo>
                  <a:lnTo>
                    <a:pt x="10915" y="3991"/>
                  </a:lnTo>
                  <a:cubicBezTo>
                    <a:pt x="11016" y="3991"/>
                    <a:pt x="11111" y="3940"/>
                    <a:pt x="11166" y="3855"/>
                  </a:cubicBezTo>
                  <a:cubicBezTo>
                    <a:pt x="11221" y="3770"/>
                    <a:pt x="11230" y="3662"/>
                    <a:pt x="11189" y="3569"/>
                  </a:cubicBezTo>
                  <a:lnTo>
                    <a:pt x="9886" y="177"/>
                  </a:lnTo>
                  <a:cubicBezTo>
                    <a:pt x="9838" y="70"/>
                    <a:pt x="9731" y="0"/>
                    <a:pt x="9613" y="0"/>
                  </a:cubicBezTo>
                  <a:lnTo>
                    <a:pt x="1611" y="0"/>
                  </a:lnTo>
                  <a:cubicBezTo>
                    <a:pt x="1493" y="0"/>
                    <a:pt x="1385" y="70"/>
                    <a:pt x="1338" y="177"/>
                  </a:cubicBezTo>
                  <a:lnTo>
                    <a:pt x="41" y="3567"/>
                  </a:lnTo>
                  <a:cubicBezTo>
                    <a:pt x="0" y="3660"/>
                    <a:pt x="9" y="3767"/>
                    <a:pt x="64" y="3853"/>
                  </a:cubicBezTo>
                  <a:cubicBezTo>
                    <a:pt x="119" y="3939"/>
                    <a:pt x="214" y="3990"/>
                    <a:pt x="315" y="3990"/>
                  </a:cubicBezTo>
                  <a:lnTo>
                    <a:pt x="810" y="3988"/>
                  </a:lnTo>
                  <a:lnTo>
                    <a:pt x="810" y="10606"/>
                  </a:lnTo>
                  <a:lnTo>
                    <a:pt x="310" y="10606"/>
                  </a:lnTo>
                  <a:cubicBezTo>
                    <a:pt x="144" y="10606"/>
                    <a:pt x="10" y="10740"/>
                    <a:pt x="10" y="10906"/>
                  </a:cubicBezTo>
                  <a:cubicBezTo>
                    <a:pt x="10" y="11072"/>
                    <a:pt x="144" y="11206"/>
                    <a:pt x="310" y="11206"/>
                  </a:cubicBezTo>
                  <a:lnTo>
                    <a:pt x="10910" y="11206"/>
                  </a:lnTo>
                  <a:cubicBezTo>
                    <a:pt x="11076" y="11206"/>
                    <a:pt x="11210" y="11072"/>
                    <a:pt x="11210" y="10906"/>
                  </a:cubicBezTo>
                  <a:cubicBezTo>
                    <a:pt x="11210" y="10740"/>
                    <a:pt x="11076" y="10606"/>
                    <a:pt x="10911" y="10606"/>
                  </a:cubicBezTo>
                  <a:close/>
                  <a:moveTo>
                    <a:pt x="9813" y="10587"/>
                  </a:moveTo>
                  <a:lnTo>
                    <a:pt x="4611" y="10587"/>
                  </a:lnTo>
                  <a:lnTo>
                    <a:pt x="4611" y="3985"/>
                  </a:lnTo>
                  <a:lnTo>
                    <a:pt x="9813" y="3989"/>
                  </a:lnTo>
                  <a:lnTo>
                    <a:pt x="9813" y="10587"/>
                  </a:lnTo>
                  <a:close/>
                  <a:moveTo>
                    <a:pt x="894" y="3390"/>
                  </a:moveTo>
                  <a:cubicBezTo>
                    <a:pt x="839" y="3390"/>
                    <a:pt x="803" y="3334"/>
                    <a:pt x="825" y="3285"/>
                  </a:cubicBezTo>
                  <a:lnTo>
                    <a:pt x="1785" y="645"/>
                  </a:lnTo>
                  <a:cubicBezTo>
                    <a:pt x="1798" y="617"/>
                    <a:pt x="1824" y="600"/>
                    <a:pt x="1854" y="600"/>
                  </a:cubicBezTo>
                  <a:lnTo>
                    <a:pt x="9370" y="600"/>
                  </a:lnTo>
                  <a:cubicBezTo>
                    <a:pt x="9400" y="600"/>
                    <a:pt x="9426" y="617"/>
                    <a:pt x="9439" y="644"/>
                  </a:cubicBezTo>
                  <a:lnTo>
                    <a:pt x="10403" y="3284"/>
                  </a:lnTo>
                  <a:cubicBezTo>
                    <a:pt x="10425" y="3334"/>
                    <a:pt x="10389" y="3390"/>
                    <a:pt x="10334" y="3390"/>
                  </a:cubicBezTo>
                  <a:moveTo>
                    <a:pt x="4011" y="3985"/>
                  </a:moveTo>
                  <a:lnTo>
                    <a:pt x="4011" y="10587"/>
                  </a:lnTo>
                  <a:lnTo>
                    <a:pt x="1411" y="10587"/>
                  </a:lnTo>
                  <a:lnTo>
                    <a:pt x="1411" y="3989"/>
                  </a:lnTo>
                  <a:lnTo>
                    <a:pt x="4011" y="3985"/>
                  </a:lnTo>
                  <a:close/>
                </a:path>
              </a:pathLst>
            </a:custGeom>
            <a:solidFill>
              <a:srgbClr val="1E73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confont-1191-801508"/>
            <p:cNvSpPr/>
            <p:nvPr/>
          </p:nvSpPr>
          <p:spPr>
            <a:xfrm rot="4536488">
              <a:off x="10440097" y="4349352"/>
              <a:ext cx="349354" cy="296622"/>
            </a:xfrm>
            <a:custGeom>
              <a:avLst/>
              <a:gdLst>
                <a:gd name="T0" fmla="*/ 6981 w 7778"/>
                <a:gd name="T1" fmla="*/ 0 h 7778"/>
                <a:gd name="T2" fmla="*/ 797 w 7778"/>
                <a:gd name="T3" fmla="*/ 0 h 7778"/>
                <a:gd name="T4" fmla="*/ 0 w 7778"/>
                <a:gd name="T5" fmla="*/ 796 h 7778"/>
                <a:gd name="T6" fmla="*/ 0 w 7778"/>
                <a:gd name="T7" fmla="*/ 6982 h 7778"/>
                <a:gd name="T8" fmla="*/ 797 w 7778"/>
                <a:gd name="T9" fmla="*/ 7778 h 7778"/>
                <a:gd name="T10" fmla="*/ 6981 w 7778"/>
                <a:gd name="T11" fmla="*/ 7778 h 7778"/>
                <a:gd name="T12" fmla="*/ 7778 w 7778"/>
                <a:gd name="T13" fmla="*/ 6982 h 7778"/>
                <a:gd name="T14" fmla="*/ 7778 w 7778"/>
                <a:gd name="T15" fmla="*/ 796 h 7778"/>
                <a:gd name="T16" fmla="*/ 6981 w 7778"/>
                <a:gd name="T17" fmla="*/ 0 h 7778"/>
                <a:gd name="T18" fmla="*/ 6981 w 7778"/>
                <a:gd name="T19" fmla="*/ 0 h 7778"/>
                <a:gd name="T20" fmla="*/ 6277 w 7778"/>
                <a:gd name="T21" fmla="*/ 2210 h 7778"/>
                <a:gd name="T22" fmla="*/ 6260 w 7778"/>
                <a:gd name="T23" fmla="*/ 2219 h 7778"/>
                <a:gd name="T24" fmla="*/ 6258 w 7778"/>
                <a:gd name="T25" fmla="*/ 2237 h 7778"/>
                <a:gd name="T26" fmla="*/ 3889 w 7778"/>
                <a:gd name="T27" fmla="*/ 4290 h 7778"/>
                <a:gd name="T28" fmla="*/ 1520 w 7778"/>
                <a:gd name="T29" fmla="*/ 2237 h 7778"/>
                <a:gd name="T30" fmla="*/ 1517 w 7778"/>
                <a:gd name="T31" fmla="*/ 2219 h 7778"/>
                <a:gd name="T32" fmla="*/ 1500 w 7778"/>
                <a:gd name="T33" fmla="*/ 2210 h 7778"/>
                <a:gd name="T34" fmla="*/ 1313 w 7778"/>
                <a:gd name="T35" fmla="*/ 1893 h 7778"/>
                <a:gd name="T36" fmla="*/ 1685 w 7778"/>
                <a:gd name="T37" fmla="*/ 1521 h 7778"/>
                <a:gd name="T38" fmla="*/ 2057 w 7778"/>
                <a:gd name="T39" fmla="*/ 1893 h 7778"/>
                <a:gd name="T40" fmla="*/ 1919 w 7778"/>
                <a:gd name="T41" fmla="*/ 2176 h 7778"/>
                <a:gd name="T42" fmla="*/ 1901 w 7778"/>
                <a:gd name="T43" fmla="*/ 2190 h 7778"/>
                <a:gd name="T44" fmla="*/ 1905 w 7778"/>
                <a:gd name="T45" fmla="*/ 2212 h 7778"/>
                <a:gd name="T46" fmla="*/ 3889 w 7778"/>
                <a:gd name="T47" fmla="*/ 3905 h 7778"/>
                <a:gd name="T48" fmla="*/ 5872 w 7778"/>
                <a:gd name="T49" fmla="*/ 2212 h 7778"/>
                <a:gd name="T50" fmla="*/ 5876 w 7778"/>
                <a:gd name="T51" fmla="*/ 2190 h 7778"/>
                <a:gd name="T52" fmla="*/ 5859 w 7778"/>
                <a:gd name="T53" fmla="*/ 2177 h 7778"/>
                <a:gd name="T54" fmla="*/ 5721 w 7778"/>
                <a:gd name="T55" fmla="*/ 1893 h 7778"/>
                <a:gd name="T56" fmla="*/ 6093 w 7778"/>
                <a:gd name="T57" fmla="*/ 1521 h 7778"/>
                <a:gd name="T58" fmla="*/ 6093 w 7778"/>
                <a:gd name="T59" fmla="*/ 1521 h 7778"/>
                <a:gd name="T60" fmla="*/ 6093 w 7778"/>
                <a:gd name="T61" fmla="*/ 1521 h 7778"/>
                <a:gd name="T62" fmla="*/ 6093 w 7778"/>
                <a:gd name="T63" fmla="*/ 1521 h 7778"/>
                <a:gd name="T64" fmla="*/ 6465 w 7778"/>
                <a:gd name="T65" fmla="*/ 1893 h 7778"/>
                <a:gd name="T66" fmla="*/ 6277 w 7778"/>
                <a:gd name="T67" fmla="*/ 2210 h 7778"/>
                <a:gd name="T68" fmla="*/ 6277 w 7778"/>
                <a:gd name="T69" fmla="*/ 2210 h 7778"/>
                <a:gd name="T70" fmla="*/ 6277 w 7778"/>
                <a:gd name="T71" fmla="*/ 2210 h 7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78" h="7778">
                  <a:moveTo>
                    <a:pt x="6981" y="0"/>
                  </a:moveTo>
                  <a:lnTo>
                    <a:pt x="797" y="0"/>
                  </a:lnTo>
                  <a:cubicBezTo>
                    <a:pt x="357" y="0"/>
                    <a:pt x="0" y="357"/>
                    <a:pt x="0" y="796"/>
                  </a:cubicBezTo>
                  <a:lnTo>
                    <a:pt x="0" y="6982"/>
                  </a:lnTo>
                  <a:cubicBezTo>
                    <a:pt x="0" y="7421"/>
                    <a:pt x="357" y="7778"/>
                    <a:pt x="797" y="7778"/>
                  </a:cubicBezTo>
                  <a:lnTo>
                    <a:pt x="6981" y="7778"/>
                  </a:lnTo>
                  <a:cubicBezTo>
                    <a:pt x="7421" y="7778"/>
                    <a:pt x="7778" y="7421"/>
                    <a:pt x="7778" y="6982"/>
                  </a:cubicBezTo>
                  <a:lnTo>
                    <a:pt x="7778" y="796"/>
                  </a:lnTo>
                  <a:cubicBezTo>
                    <a:pt x="7777" y="356"/>
                    <a:pt x="7420" y="0"/>
                    <a:pt x="6981" y="0"/>
                  </a:cubicBezTo>
                  <a:lnTo>
                    <a:pt x="6981" y="0"/>
                  </a:lnTo>
                  <a:close/>
                  <a:moveTo>
                    <a:pt x="6277" y="2210"/>
                  </a:moveTo>
                  <a:lnTo>
                    <a:pt x="6260" y="2219"/>
                  </a:lnTo>
                  <a:lnTo>
                    <a:pt x="6258" y="2237"/>
                  </a:lnTo>
                  <a:cubicBezTo>
                    <a:pt x="6088" y="3407"/>
                    <a:pt x="5070" y="4290"/>
                    <a:pt x="3889" y="4290"/>
                  </a:cubicBezTo>
                  <a:cubicBezTo>
                    <a:pt x="2708" y="4290"/>
                    <a:pt x="1689" y="3407"/>
                    <a:pt x="1520" y="2237"/>
                  </a:cubicBezTo>
                  <a:lnTo>
                    <a:pt x="1517" y="2219"/>
                  </a:lnTo>
                  <a:lnTo>
                    <a:pt x="1500" y="2210"/>
                  </a:lnTo>
                  <a:cubicBezTo>
                    <a:pt x="1383" y="2140"/>
                    <a:pt x="1313" y="2022"/>
                    <a:pt x="1313" y="1893"/>
                  </a:cubicBezTo>
                  <a:cubicBezTo>
                    <a:pt x="1313" y="1688"/>
                    <a:pt x="1480" y="1521"/>
                    <a:pt x="1685" y="1521"/>
                  </a:cubicBezTo>
                  <a:cubicBezTo>
                    <a:pt x="1890" y="1521"/>
                    <a:pt x="2057" y="1688"/>
                    <a:pt x="2057" y="1893"/>
                  </a:cubicBezTo>
                  <a:cubicBezTo>
                    <a:pt x="2057" y="2001"/>
                    <a:pt x="2008" y="2102"/>
                    <a:pt x="1919" y="2176"/>
                  </a:cubicBezTo>
                  <a:lnTo>
                    <a:pt x="1901" y="2190"/>
                  </a:lnTo>
                  <a:lnTo>
                    <a:pt x="1905" y="2212"/>
                  </a:lnTo>
                  <a:cubicBezTo>
                    <a:pt x="2062" y="3193"/>
                    <a:pt x="2896" y="3905"/>
                    <a:pt x="3889" y="3905"/>
                  </a:cubicBezTo>
                  <a:cubicBezTo>
                    <a:pt x="4882" y="3905"/>
                    <a:pt x="5716" y="3192"/>
                    <a:pt x="5872" y="2212"/>
                  </a:cubicBezTo>
                  <a:lnTo>
                    <a:pt x="5876" y="2190"/>
                  </a:lnTo>
                  <a:lnTo>
                    <a:pt x="5859" y="2177"/>
                  </a:lnTo>
                  <a:cubicBezTo>
                    <a:pt x="5769" y="2102"/>
                    <a:pt x="5721" y="2002"/>
                    <a:pt x="5721" y="1893"/>
                  </a:cubicBezTo>
                  <a:cubicBezTo>
                    <a:pt x="5721" y="1688"/>
                    <a:pt x="5888" y="1521"/>
                    <a:pt x="6093" y="1521"/>
                  </a:cubicBezTo>
                  <a:lnTo>
                    <a:pt x="6093" y="1521"/>
                  </a:lnTo>
                  <a:lnTo>
                    <a:pt x="6093" y="1521"/>
                  </a:lnTo>
                  <a:lnTo>
                    <a:pt x="6093" y="1521"/>
                  </a:lnTo>
                  <a:cubicBezTo>
                    <a:pt x="6299" y="1521"/>
                    <a:pt x="6465" y="1688"/>
                    <a:pt x="6465" y="1893"/>
                  </a:cubicBezTo>
                  <a:cubicBezTo>
                    <a:pt x="6465" y="2022"/>
                    <a:pt x="6395" y="2140"/>
                    <a:pt x="6277" y="2210"/>
                  </a:cubicBezTo>
                  <a:lnTo>
                    <a:pt x="6277" y="2210"/>
                  </a:lnTo>
                  <a:close/>
                  <a:moveTo>
                    <a:pt x="6277" y="2210"/>
                  </a:move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标题 3"/>
            <p:cNvSpPr txBox="1"/>
            <p:nvPr/>
          </p:nvSpPr>
          <p:spPr>
            <a:xfrm rot="1175968">
              <a:off x="2039416" y="4675836"/>
              <a:ext cx="851143" cy="256197"/>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营销自动化</a:t>
              </a:r>
              <a:endParaRPr lang="zh-CN" altLang="en-US">
                <a:sym typeface="Arial" panose="020B0604020202020204" pitchFamily="34" charset="0"/>
              </a:endParaRPr>
            </a:p>
          </p:txBody>
        </p:sp>
        <p:sp>
          <p:nvSpPr>
            <p:cNvPr id="64" name="标题 3"/>
            <p:cNvSpPr txBox="1"/>
            <p:nvPr/>
          </p:nvSpPr>
          <p:spPr>
            <a:xfrm rot="3412743">
              <a:off x="3588589" y="2967500"/>
              <a:ext cx="735677" cy="258272"/>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商机管理</a:t>
              </a:r>
              <a:endParaRPr lang="zh-CN" altLang="en-US">
                <a:sym typeface="Arial" panose="020B0604020202020204" pitchFamily="34" charset="0"/>
              </a:endParaRPr>
            </a:p>
          </p:txBody>
        </p:sp>
        <p:sp>
          <p:nvSpPr>
            <p:cNvPr id="65" name="标题 3"/>
            <p:cNvSpPr txBox="1"/>
            <p:nvPr/>
          </p:nvSpPr>
          <p:spPr>
            <a:xfrm rot="1594192">
              <a:off x="2119951" y="4176310"/>
              <a:ext cx="1137617" cy="428353"/>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智能分析营销</a:t>
              </a:r>
              <a:endParaRPr lang="zh-CN" altLang="en-US">
                <a:sym typeface="Arial" panose="020B0604020202020204" pitchFamily="34" charset="0"/>
              </a:endParaRPr>
            </a:p>
          </p:txBody>
        </p:sp>
        <p:sp>
          <p:nvSpPr>
            <p:cNvPr id="66" name="标题 3"/>
            <p:cNvSpPr txBox="1"/>
            <p:nvPr/>
          </p:nvSpPr>
          <p:spPr>
            <a:xfrm rot="2334603">
              <a:off x="2676895" y="3697654"/>
              <a:ext cx="764490" cy="287023"/>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企微营销</a:t>
              </a:r>
              <a:endParaRPr lang="zh-CN" altLang="en-US">
                <a:sym typeface="Arial" panose="020B0604020202020204" pitchFamily="34" charset="0"/>
              </a:endParaRPr>
            </a:p>
          </p:txBody>
        </p:sp>
        <p:sp>
          <p:nvSpPr>
            <p:cNvPr id="67" name="标题 3"/>
            <p:cNvSpPr txBox="1"/>
            <p:nvPr/>
          </p:nvSpPr>
          <p:spPr>
            <a:xfrm rot="2889247">
              <a:off x="3109583" y="3286920"/>
              <a:ext cx="742741" cy="264225"/>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线索管理</a:t>
              </a:r>
              <a:endParaRPr lang="zh-CN" altLang="en-US">
                <a:sym typeface="Arial" panose="020B0604020202020204" pitchFamily="34" charset="0"/>
              </a:endParaRPr>
            </a:p>
          </p:txBody>
        </p:sp>
        <p:sp>
          <p:nvSpPr>
            <p:cNvPr id="68" name="文本框 67"/>
            <p:cNvSpPr txBox="1"/>
            <p:nvPr/>
          </p:nvSpPr>
          <p:spPr>
            <a:xfrm rot="431557">
              <a:off x="6485794" y="2209897"/>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合同订单</a:t>
              </a:r>
              <a:endParaRPr lang="zh-CN" altLang="en-US"/>
            </a:p>
          </p:txBody>
        </p:sp>
        <p:sp>
          <p:nvSpPr>
            <p:cNvPr id="69" name="文本框 68"/>
            <p:cNvSpPr txBox="1"/>
            <p:nvPr/>
          </p:nvSpPr>
          <p:spPr>
            <a:xfrm>
              <a:off x="5919768" y="2181393"/>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客户管理</a:t>
              </a:r>
              <a:endParaRPr lang="zh-CN" altLang="en-US"/>
            </a:p>
          </p:txBody>
        </p:sp>
        <p:sp>
          <p:nvSpPr>
            <p:cNvPr id="70" name="文本框 69"/>
            <p:cNvSpPr txBox="1"/>
            <p:nvPr/>
          </p:nvSpPr>
          <p:spPr>
            <a:xfrm rot="21275551">
              <a:off x="5408081" y="2209898"/>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价格管理</a:t>
              </a:r>
              <a:endParaRPr lang="zh-CN" altLang="en-US"/>
            </a:p>
          </p:txBody>
        </p:sp>
        <p:sp>
          <p:nvSpPr>
            <p:cNvPr id="71" name="文本框 70"/>
            <p:cNvSpPr txBox="1"/>
            <p:nvPr/>
          </p:nvSpPr>
          <p:spPr>
            <a:xfrm rot="20852447">
              <a:off x="4878841" y="2319317"/>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产品管理</a:t>
              </a:r>
              <a:endParaRPr lang="zh-CN" altLang="en-US"/>
            </a:p>
          </p:txBody>
        </p:sp>
        <p:sp>
          <p:nvSpPr>
            <p:cNvPr id="72" name="文本框 71"/>
            <p:cNvSpPr txBox="1"/>
            <p:nvPr/>
          </p:nvSpPr>
          <p:spPr>
            <a:xfrm rot="20176972">
              <a:off x="4318615" y="2347825"/>
              <a:ext cx="334130" cy="92476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销售漏斗预测</a:t>
              </a:r>
              <a:endParaRPr lang="zh-CN" altLang="en-US"/>
            </a:p>
          </p:txBody>
        </p:sp>
        <p:sp>
          <p:nvSpPr>
            <p:cNvPr id="73" name="文本框 72"/>
            <p:cNvSpPr txBox="1"/>
            <p:nvPr/>
          </p:nvSpPr>
          <p:spPr>
            <a:xfrm rot="1264037">
              <a:off x="7583594" y="2377490"/>
              <a:ext cx="334130" cy="990123"/>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合作伙伴管理</a:t>
              </a:r>
              <a:endParaRPr lang="zh-CN" altLang="en-US"/>
            </a:p>
          </p:txBody>
        </p:sp>
        <p:sp>
          <p:nvSpPr>
            <p:cNvPr id="74" name="文本框 73"/>
            <p:cNvSpPr txBox="1"/>
            <p:nvPr/>
          </p:nvSpPr>
          <p:spPr>
            <a:xfrm rot="1723038">
              <a:off x="8015153" y="2743799"/>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访销管理</a:t>
              </a:r>
              <a:endParaRPr lang="zh-CN" altLang="en-US"/>
            </a:p>
          </p:txBody>
        </p:sp>
        <p:sp>
          <p:nvSpPr>
            <p:cNvPr id="75" name="文本框 74"/>
            <p:cNvSpPr txBox="1"/>
            <p:nvPr/>
          </p:nvSpPr>
          <p:spPr>
            <a:xfrm rot="2243793">
              <a:off x="8421072" y="3030462"/>
              <a:ext cx="334130" cy="921417"/>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返利返点</a:t>
              </a:r>
              <a:endParaRPr lang="zh-CN" altLang="en-US"/>
            </a:p>
          </p:txBody>
        </p:sp>
        <p:sp>
          <p:nvSpPr>
            <p:cNvPr id="76" name="文本框 75"/>
            <p:cNvSpPr txBox="1"/>
            <p:nvPr/>
          </p:nvSpPr>
          <p:spPr>
            <a:xfrm rot="2780683">
              <a:off x="8808934" y="3385388"/>
              <a:ext cx="334130" cy="921417"/>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t>客户服务</a:t>
              </a:r>
              <a:endParaRPr lang="zh-CN" altLang="en-US"/>
            </a:p>
          </p:txBody>
        </p:sp>
        <p:sp>
          <p:nvSpPr>
            <p:cNvPr id="77" name="标题 3"/>
            <p:cNvSpPr txBox="1"/>
            <p:nvPr/>
          </p:nvSpPr>
          <p:spPr>
            <a:xfrm rot="20607499">
              <a:off x="9128348" y="4588820"/>
              <a:ext cx="1220159" cy="248157"/>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会员忠诚度管理</a:t>
              </a:r>
              <a:endParaRPr lang="zh-CN" altLang="en-US">
                <a:sym typeface="Arial" panose="020B0604020202020204" pitchFamily="34" charset="0"/>
              </a:endParaRPr>
            </a:p>
          </p:txBody>
        </p:sp>
        <p:sp>
          <p:nvSpPr>
            <p:cNvPr id="78" name="标题 3"/>
            <p:cNvSpPr txBox="1"/>
            <p:nvPr/>
          </p:nvSpPr>
          <p:spPr>
            <a:xfrm rot="19680157">
              <a:off x="8925523" y="3980383"/>
              <a:ext cx="1226002" cy="309354"/>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现场客户服务</a:t>
              </a:r>
              <a:endParaRPr lang="zh-CN" altLang="en-US">
                <a:sym typeface="Arial" panose="020B0604020202020204" pitchFamily="34" charset="0"/>
              </a:endParaRPr>
            </a:p>
          </p:txBody>
        </p:sp>
        <p:sp>
          <p:nvSpPr>
            <p:cNvPr id="79" name="标题 3"/>
            <p:cNvSpPr txBox="1"/>
            <p:nvPr/>
          </p:nvSpPr>
          <p:spPr>
            <a:xfrm>
              <a:off x="9351519" y="5148665"/>
              <a:ext cx="1226001" cy="285560"/>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数据分析洞察</a:t>
              </a:r>
              <a:endParaRPr lang="zh-CN" altLang="en-US">
                <a:sym typeface="Arial" panose="020B0604020202020204" pitchFamily="34" charset="0"/>
              </a:endParaRPr>
            </a:p>
          </p:txBody>
        </p:sp>
        <p:pic>
          <p:nvPicPr>
            <p:cNvPr id="8" name="图片 7" descr="屏幕上有字&#10;&#10;中度可信度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9055" y="5027547"/>
              <a:ext cx="1613889" cy="235894"/>
            </a:xfrm>
            <a:prstGeom prst="rect">
              <a:avLst/>
            </a:prstGeom>
          </p:spPr>
        </p:pic>
        <p:sp>
          <p:nvSpPr>
            <p:cNvPr id="104" name="išlîḍê"/>
            <p:cNvSpPr txBox="1"/>
            <p:nvPr/>
          </p:nvSpPr>
          <p:spPr>
            <a:xfrm rot="17972188">
              <a:off x="3086264" y="4621825"/>
              <a:ext cx="588441" cy="272895"/>
            </a:xfrm>
            <a:prstGeom prst="rect">
              <a:avLst/>
            </a:prstGeom>
          </p:spPr>
          <p:txBody>
            <a:bodyPr wrap="square" rtlCol="0">
              <a:spAutoFit/>
            </a:bodyPr>
            <a:lstStyle>
              <a:defPPr>
                <a:defRPr lang="zh-CN"/>
              </a:defPPr>
              <a:lvl1pPr>
                <a:lnSpc>
                  <a:spcPts val="1500"/>
                </a:lnSpc>
                <a:defRPr sz="900"/>
              </a:lvl1pPr>
            </a:lstStyle>
            <a:p>
              <a:pPr algn="ctr"/>
              <a:r>
                <a:rPr lang="zh-CN" altLang="en-US" sz="1200" b="1"/>
                <a:t>营  销</a:t>
              </a:r>
              <a:endParaRPr lang="en-US" altLang="zh-CN" sz="1200" b="1"/>
            </a:p>
          </p:txBody>
        </p:sp>
        <p:sp>
          <p:nvSpPr>
            <p:cNvPr id="108" name="išlîḍê"/>
            <p:cNvSpPr txBox="1"/>
            <p:nvPr/>
          </p:nvSpPr>
          <p:spPr>
            <a:xfrm>
              <a:off x="5786495" y="3182783"/>
              <a:ext cx="609607" cy="272895"/>
            </a:xfrm>
            <a:prstGeom prst="rect">
              <a:avLst/>
            </a:prstGeom>
          </p:spPr>
          <p:txBody>
            <a:bodyPr wrap="square" rtlCol="0">
              <a:spAutoFit/>
            </a:bodyPr>
            <a:lstStyle>
              <a:defPPr>
                <a:defRPr lang="zh-CN"/>
              </a:defPPr>
              <a:lvl1pPr>
                <a:lnSpc>
                  <a:spcPts val="1500"/>
                </a:lnSpc>
                <a:defRPr sz="900"/>
              </a:lvl1pPr>
            </a:lstStyle>
            <a:p>
              <a:pPr algn="ctr"/>
              <a:r>
                <a:rPr lang="zh-CN" altLang="en-US" sz="1200" b="1"/>
                <a:t>销  售</a:t>
              </a:r>
              <a:endParaRPr lang="en-US" altLang="zh-CN" sz="1200" b="1"/>
            </a:p>
          </p:txBody>
        </p:sp>
        <p:sp>
          <p:nvSpPr>
            <p:cNvPr id="109" name="išlîḍê"/>
            <p:cNvSpPr txBox="1"/>
            <p:nvPr/>
          </p:nvSpPr>
          <p:spPr>
            <a:xfrm rot="4046635">
              <a:off x="8487638" y="4684167"/>
              <a:ext cx="626798" cy="272895"/>
            </a:xfrm>
            <a:prstGeom prst="rect">
              <a:avLst/>
            </a:prstGeom>
          </p:spPr>
          <p:txBody>
            <a:bodyPr wrap="square" rtlCol="0">
              <a:spAutoFit/>
            </a:bodyPr>
            <a:lstStyle>
              <a:defPPr>
                <a:defRPr lang="zh-CN"/>
              </a:defPPr>
              <a:lvl1pPr>
                <a:lnSpc>
                  <a:spcPts val="1500"/>
                </a:lnSpc>
                <a:defRPr sz="900"/>
              </a:lvl1pPr>
            </a:lstStyle>
            <a:p>
              <a:pPr algn="ctr"/>
              <a:r>
                <a:rPr lang="zh-CN" altLang="en-US" sz="1200" b="1"/>
                <a:t>服  务</a:t>
              </a:r>
              <a:endParaRPr lang="en-US" altLang="zh-CN" sz="1200" b="1"/>
            </a:p>
          </p:txBody>
        </p:sp>
        <p:sp>
          <p:nvSpPr>
            <p:cNvPr id="96" name="标题 3"/>
            <p:cNvSpPr txBox="1"/>
            <p:nvPr/>
          </p:nvSpPr>
          <p:spPr>
            <a:xfrm>
              <a:off x="2027789" y="5152581"/>
              <a:ext cx="851143" cy="256197"/>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a:sym typeface="Arial" panose="020B0604020202020204" pitchFamily="34" charset="0"/>
                </a:rPr>
                <a:t>流量获取</a:t>
              </a:r>
              <a:endParaRPr lang="zh-CN" altLang="en-US">
                <a:sym typeface="Arial" panose="020B0604020202020204" pitchFamily="34" charset="0"/>
              </a:endParaRPr>
            </a:p>
          </p:txBody>
        </p:sp>
        <p:sp>
          <p:nvSpPr>
            <p:cNvPr id="94" name="iSḻíde"/>
            <p:cNvSpPr/>
            <p:nvPr/>
          </p:nvSpPr>
          <p:spPr bwMode="auto">
            <a:xfrm flipH="1" flipV="1">
              <a:off x="3413999" y="3507070"/>
              <a:ext cx="5364000" cy="2038112"/>
            </a:xfrm>
            <a:custGeom>
              <a:avLst/>
              <a:gdLst>
                <a:gd name="T0" fmla="*/ 2147483646 w 43200"/>
                <a:gd name="T1" fmla="*/ 0 h 22093"/>
                <a:gd name="T2" fmla="*/ 24179014 w 43200"/>
                <a:gd name="T3" fmla="*/ 222113 h 22093"/>
                <a:gd name="T4" fmla="*/ 2147483646 w 43200"/>
                <a:gd name="T5" fmla="*/ 21915678 h 22093"/>
                <a:gd name="T6" fmla="*/ 0 60000 65536"/>
                <a:gd name="T7" fmla="*/ 0 60000 65536"/>
                <a:gd name="T8" fmla="*/ 0 60000 65536"/>
              </a:gdLst>
              <a:ahLst/>
              <a:cxnLst>
                <a:cxn ang="T6">
                  <a:pos x="T0" y="T1"/>
                </a:cxn>
                <a:cxn ang="T7">
                  <a:pos x="T2" y="T3"/>
                </a:cxn>
                <a:cxn ang="T8">
                  <a:pos x="T4" y="T5"/>
                </a:cxn>
              </a:cxnLst>
              <a:rect l="0" t="0" r="r" b="b"/>
              <a:pathLst>
                <a:path w="43200" h="22093" fill="none" extrusionOk="0">
                  <a:moveTo>
                    <a:pt x="43194" y="-1"/>
                  </a:moveTo>
                  <a:cubicBezTo>
                    <a:pt x="43198" y="164"/>
                    <a:pt x="43200" y="328"/>
                    <a:pt x="43200" y="493"/>
                  </a:cubicBezTo>
                  <a:cubicBezTo>
                    <a:pt x="43200" y="12422"/>
                    <a:pt x="33529" y="22093"/>
                    <a:pt x="21600" y="22093"/>
                  </a:cubicBezTo>
                  <a:cubicBezTo>
                    <a:pt x="9670" y="22093"/>
                    <a:pt x="0" y="12422"/>
                    <a:pt x="0" y="493"/>
                  </a:cubicBezTo>
                  <a:cubicBezTo>
                    <a:pt x="-1" y="330"/>
                    <a:pt x="1" y="167"/>
                    <a:pt x="5" y="4"/>
                  </a:cubicBezTo>
                </a:path>
                <a:path w="43200" h="22093" stroke="0" extrusionOk="0">
                  <a:moveTo>
                    <a:pt x="43194" y="-1"/>
                  </a:moveTo>
                  <a:cubicBezTo>
                    <a:pt x="43198" y="164"/>
                    <a:pt x="43200" y="328"/>
                    <a:pt x="43200" y="493"/>
                  </a:cubicBezTo>
                  <a:cubicBezTo>
                    <a:pt x="43200" y="12422"/>
                    <a:pt x="33529" y="22093"/>
                    <a:pt x="21600" y="22093"/>
                  </a:cubicBezTo>
                  <a:cubicBezTo>
                    <a:pt x="9670" y="22093"/>
                    <a:pt x="0" y="12422"/>
                    <a:pt x="0" y="493"/>
                  </a:cubicBezTo>
                  <a:cubicBezTo>
                    <a:pt x="-1" y="330"/>
                    <a:pt x="1" y="167"/>
                    <a:pt x="5" y="4"/>
                  </a:cubicBezTo>
                  <a:lnTo>
                    <a:pt x="21600" y="493"/>
                  </a:lnTo>
                  <a:lnTo>
                    <a:pt x="43194" y="-1"/>
                  </a:lnTo>
                  <a:close/>
                </a:path>
              </a:pathLst>
            </a:custGeom>
            <a:noFill/>
            <a:ln w="6350">
              <a:solidFill>
                <a:schemeClr val="bg1">
                  <a:lumMod val="85000"/>
                </a:schemeClr>
              </a:solidFill>
              <a:round/>
            </a:ln>
          </p:spPr>
          <p:txBody>
            <a:bodyPr/>
            <a:lstStyle/>
            <a:p>
              <a:endParaRPr lang="zh-CN" altLang="en-US"/>
            </a:p>
          </p:txBody>
        </p:sp>
        <p:sp>
          <p:nvSpPr>
            <p:cNvPr id="107" name="椭圆 106"/>
            <p:cNvSpPr/>
            <p:nvPr/>
          </p:nvSpPr>
          <p:spPr>
            <a:xfrm>
              <a:off x="8063921" y="4149425"/>
              <a:ext cx="137493" cy="136238"/>
            </a:xfrm>
            <a:prstGeom prst="ellipse">
              <a:avLst/>
            </a:prstGeom>
            <a:solidFill>
              <a:schemeClr val="tx1"/>
            </a:solidFill>
            <a:ln w="9525">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kumimoji="1" lang="zh-CN" altLang="en-US">
                <a:solidFill>
                  <a:srgbClr val="FFFFFF"/>
                </a:solidFill>
                <a:ea typeface="微软雅黑" panose="020B0503020204020204" pitchFamily="34" charset="-122"/>
                <a:sym typeface="Arial" panose="020B0604020202020204" pitchFamily="34" charset="0"/>
              </a:endParaRPr>
            </a:p>
          </p:txBody>
        </p:sp>
        <p:sp>
          <p:nvSpPr>
            <p:cNvPr id="103" name="椭圆 102"/>
            <p:cNvSpPr/>
            <p:nvPr/>
          </p:nvSpPr>
          <p:spPr>
            <a:xfrm>
              <a:off x="3985757" y="4149425"/>
              <a:ext cx="137493" cy="136238"/>
            </a:xfrm>
            <a:prstGeom prst="ellipse">
              <a:avLst/>
            </a:prstGeom>
            <a:solidFill>
              <a:schemeClr val="tx1"/>
            </a:solidFill>
            <a:ln w="9525">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kumimoji="1" lang="zh-CN" altLang="en-US">
                <a:solidFill>
                  <a:srgbClr val="FFFFFF"/>
                </a:solidFill>
                <a:ea typeface="微软雅黑" panose="020B0503020204020204" pitchFamily="34" charset="-122"/>
                <a:sym typeface="Arial" panose="020B0604020202020204" pitchFamily="34" charset="0"/>
              </a:endParaRPr>
            </a:p>
          </p:txBody>
        </p:sp>
        <p:sp>
          <p:nvSpPr>
            <p:cNvPr id="2" name="弧形 1"/>
            <p:cNvSpPr/>
            <p:nvPr/>
          </p:nvSpPr>
          <p:spPr>
            <a:xfrm>
              <a:off x="1055999" y="1233226"/>
              <a:ext cx="10080000" cy="8640000"/>
            </a:xfrm>
            <a:prstGeom prst="arc">
              <a:avLst>
                <a:gd name="adj1" fmla="val 10801205"/>
                <a:gd name="adj2" fmla="val 6294"/>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3" name="组合 12"/>
            <p:cNvGrpSpPr/>
            <p:nvPr/>
          </p:nvGrpSpPr>
          <p:grpSpPr>
            <a:xfrm>
              <a:off x="3956302" y="3844107"/>
              <a:ext cx="4318349" cy="1557210"/>
              <a:chOff x="3956302" y="3844107"/>
              <a:chExt cx="4318349" cy="1557210"/>
            </a:xfrm>
          </p:grpSpPr>
          <p:sp>
            <p:nvSpPr>
              <p:cNvPr id="83" name="ïŝḷîḓê"/>
              <p:cNvSpPr/>
              <p:nvPr/>
            </p:nvSpPr>
            <p:spPr>
              <a:xfrm>
                <a:off x="3956302" y="4882247"/>
                <a:ext cx="514015" cy="519070"/>
              </a:xfrm>
              <a:prstGeom prst="ellipse">
                <a:avLst/>
              </a:prstGeom>
              <a:solidFill>
                <a:schemeClr val="bg1"/>
              </a:solidFill>
              <a:ln w="57150">
                <a:solidFill>
                  <a:schemeClr val="bg1">
                    <a:lumMod val="85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noAutofit/>
              </a:bodyPr>
              <a:lstStyle/>
              <a:p>
                <a:pPr algn="ctr"/>
                <a:r>
                  <a:rPr lang="zh-CN" altLang="en-US" sz="1100" b="1">
                    <a:solidFill>
                      <a:schemeClr val="tx1"/>
                    </a:solidFill>
                  </a:rPr>
                  <a:t>认知</a:t>
                </a:r>
                <a:endParaRPr lang="zh-CN" altLang="en-US" sz="1100" b="1">
                  <a:solidFill>
                    <a:schemeClr val="tx1"/>
                  </a:solidFill>
                </a:endParaRPr>
              </a:p>
            </p:txBody>
          </p:sp>
          <p:sp>
            <p:nvSpPr>
              <p:cNvPr id="84" name="ïŝḷîḓê"/>
              <p:cNvSpPr/>
              <p:nvPr/>
            </p:nvSpPr>
            <p:spPr>
              <a:xfrm>
                <a:off x="4740838" y="4100625"/>
                <a:ext cx="514015" cy="519070"/>
              </a:xfrm>
              <a:prstGeom prst="ellipse">
                <a:avLst/>
              </a:prstGeom>
              <a:solidFill>
                <a:schemeClr val="bg1"/>
              </a:solidFill>
              <a:ln w="57150">
                <a:solidFill>
                  <a:schemeClr val="bg1">
                    <a:lumMod val="85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100" b="1">
                    <a:solidFill>
                      <a:schemeClr val="tx1"/>
                    </a:solidFill>
                  </a:rPr>
                  <a:t>兴趣</a:t>
                </a:r>
                <a:endParaRPr lang="zh-CN" altLang="en-US" sz="1100" b="1">
                  <a:solidFill>
                    <a:schemeClr val="tx1"/>
                  </a:solidFill>
                </a:endParaRPr>
              </a:p>
            </p:txBody>
          </p:sp>
          <p:sp>
            <p:nvSpPr>
              <p:cNvPr id="86" name="ïŝḷîḓê"/>
              <p:cNvSpPr/>
              <p:nvPr/>
            </p:nvSpPr>
            <p:spPr>
              <a:xfrm>
                <a:off x="6945311" y="4100625"/>
                <a:ext cx="514015" cy="519070"/>
              </a:xfrm>
              <a:prstGeom prst="ellipse">
                <a:avLst/>
              </a:prstGeom>
              <a:solidFill>
                <a:schemeClr val="bg1"/>
              </a:solidFill>
              <a:ln w="57150">
                <a:solidFill>
                  <a:schemeClr val="bg1">
                    <a:lumMod val="85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100" b="1">
                    <a:solidFill>
                      <a:schemeClr val="tx1"/>
                    </a:solidFill>
                  </a:rPr>
                  <a:t>购买</a:t>
                </a:r>
                <a:endParaRPr lang="zh-CN" altLang="en-US" sz="1100" b="1">
                  <a:solidFill>
                    <a:schemeClr val="tx1"/>
                  </a:solidFill>
                </a:endParaRPr>
              </a:p>
            </p:txBody>
          </p:sp>
          <p:sp>
            <p:nvSpPr>
              <p:cNvPr id="87" name="ïŝḷîḓê"/>
              <p:cNvSpPr/>
              <p:nvPr/>
            </p:nvSpPr>
            <p:spPr>
              <a:xfrm>
                <a:off x="7760636" y="4882247"/>
                <a:ext cx="514015" cy="519070"/>
              </a:xfrm>
              <a:prstGeom prst="ellipse">
                <a:avLst/>
              </a:prstGeom>
              <a:solidFill>
                <a:schemeClr val="bg1"/>
              </a:solidFill>
              <a:ln w="57150">
                <a:solidFill>
                  <a:schemeClr val="bg1">
                    <a:lumMod val="85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noAutofit/>
              </a:bodyPr>
              <a:lstStyle/>
              <a:p>
                <a:pPr algn="ctr"/>
                <a:r>
                  <a:rPr lang="zh-CN" altLang="en-US" sz="1100" b="1">
                    <a:solidFill>
                      <a:schemeClr val="tx1"/>
                    </a:solidFill>
                  </a:rPr>
                  <a:t>忠诚</a:t>
                </a:r>
                <a:r>
                  <a:rPr lang="en-US" altLang="zh-CN" sz="1100" b="1">
                    <a:solidFill>
                      <a:schemeClr val="tx1"/>
                    </a:solidFill>
                  </a:rPr>
                  <a:t>/</a:t>
                </a:r>
                <a:r>
                  <a:rPr lang="zh-CN" altLang="en-US" sz="1100" b="1">
                    <a:solidFill>
                      <a:schemeClr val="tx1"/>
                    </a:solidFill>
                  </a:rPr>
                  <a:t>复购</a:t>
                </a:r>
                <a:endParaRPr lang="zh-CN" altLang="en-US" sz="1100" b="1">
                  <a:solidFill>
                    <a:schemeClr val="tx1"/>
                  </a:solidFill>
                </a:endParaRPr>
              </a:p>
            </p:txBody>
          </p:sp>
          <p:sp>
            <p:nvSpPr>
              <p:cNvPr id="85" name="ïŝḷîḓê"/>
              <p:cNvSpPr/>
              <p:nvPr/>
            </p:nvSpPr>
            <p:spPr>
              <a:xfrm>
                <a:off x="5838992" y="3844107"/>
                <a:ext cx="514015" cy="519070"/>
              </a:xfrm>
              <a:prstGeom prst="ellipse">
                <a:avLst/>
              </a:prstGeom>
              <a:solidFill>
                <a:schemeClr val="bg1"/>
              </a:solidFill>
              <a:ln w="57150">
                <a:solidFill>
                  <a:schemeClr val="bg1">
                    <a:lumMod val="85000"/>
                    <a:alpha val="73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45720" rIns="0" bIns="45720" rtlCol="0" anchor="ctr">
                <a:normAutofit/>
              </a:bodyPr>
              <a:lstStyle/>
              <a:p>
                <a:pPr algn="ctr"/>
                <a:r>
                  <a:rPr lang="zh-CN" altLang="en-US" sz="1100" b="1">
                    <a:solidFill>
                      <a:schemeClr val="tx1"/>
                    </a:solidFill>
                  </a:rPr>
                  <a:t>咨询</a:t>
                </a:r>
                <a:endParaRPr lang="zh-CN" altLang="en-US" sz="1100" b="1">
                  <a:solidFill>
                    <a:schemeClr val="tx1"/>
                  </a:solidFill>
                </a:endParaRPr>
              </a:p>
            </p:txBody>
          </p:sp>
        </p:grpSp>
      </p:grpSp>
      <p:sp>
        <p:nvSpPr>
          <p:cNvPr id="80" name="文本框 79"/>
          <p:cNvSpPr txBox="1"/>
          <p:nvPr/>
        </p:nvSpPr>
        <p:spPr>
          <a:xfrm rot="844471">
            <a:off x="7012991" y="2203010"/>
            <a:ext cx="334130" cy="869556"/>
          </a:xfrm>
          <a:prstGeom prst="rect">
            <a:avLst/>
          </a:prstGeom>
          <a:noFill/>
        </p:spPr>
        <p:txBody>
          <a:bodyPr anchor="t">
            <a:noAutofit/>
          </a:bodyPr>
          <a:lstStyle>
            <a:defPPr>
              <a:defRPr lang="zh-CN"/>
            </a:defPPr>
            <a:lvl1pPr marR="0" indent="0" fontAlgn="auto">
              <a:lnSpc>
                <a:spcPct val="90000"/>
              </a:lnSpc>
              <a:spcBef>
                <a:spcPct val="0"/>
              </a:spcBef>
              <a:spcAft>
                <a:spcPts val="0"/>
              </a:spcAft>
              <a:buClrTx/>
              <a:buSzTx/>
              <a:buFontTx/>
              <a:buNone/>
              <a:defRPr sz="1050" b="1" i="0" baseline="0">
                <a:solidFill>
                  <a:schemeClr val="bg1"/>
                </a:solidFill>
                <a:ea typeface="微软雅黑" panose="020B0503020204020204" pitchFamily="34" charset="-122"/>
                <a:cs typeface="微软雅黑" panose="020B0503020204020204" pitchFamily="34" charset="-122"/>
              </a:defRPr>
            </a:lvl1pPr>
          </a:lstStyle>
          <a:p>
            <a:r>
              <a:rPr lang="zh-CN" altLang="en-US" dirty="0"/>
              <a:t>电商商城</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normAutofit fontScale="90000"/>
          </a:bodyPr>
          <a:lstStyle/>
          <a:p>
            <a:r>
              <a:rPr lang="zh-CN" altLang="en-US" sz="2200" b="1">
                <a:solidFill>
                  <a:schemeClr val="bg2">
                    <a:lumMod val="10000"/>
                  </a:schemeClr>
                </a:solidFill>
                <a:ea typeface="微软雅黑" panose="020B0503020204020204" pitchFamily="34" charset="-122"/>
              </a:rPr>
              <a:t>平台化：支撑头部客户的复杂业务场景，平台能力已被客户验证</a:t>
            </a:r>
            <a:endParaRPr lang="zh-CN" altLang="en-US" sz="2200">
              <a:solidFill>
                <a:schemeClr val="bg1">
                  <a:lumMod val="50000"/>
                </a:schemeClr>
              </a:solidFill>
            </a:endParaRPr>
          </a:p>
        </p:txBody>
      </p:sp>
      <p:sp>
        <p:nvSpPr>
          <p:cNvPr id="63" name="灯片编号占位符 2"/>
          <p:cNvSpPr>
            <a:spLocks noGrp="1"/>
          </p:cNvSpPr>
          <p:nvPr>
            <p:ph type="sldNum" sz="quarter" idx="12"/>
          </p:nvPr>
        </p:nvSpPr>
        <p:spPr>
          <a:xfrm>
            <a:off x="8752800" y="6356350"/>
            <a:ext cx="2743200" cy="365125"/>
          </a:xfrm>
        </p:spPr>
        <p:txBody>
          <a:bodyPr/>
          <a:lstStyle/>
          <a:p>
            <a:fld id="{1C803D94-004C-7542-B7F5-5D51A5417763}" type="slidenum">
              <a:rPr lang="en-US" smtClean="0">
                <a:latin typeface="+mj-lt"/>
              </a:rPr>
            </a:fld>
            <a:endParaRPr lang="en-US">
              <a:latin typeface="+mj-lt"/>
            </a:endParaRPr>
          </a:p>
        </p:txBody>
      </p:sp>
      <p:sp>
        <p:nvSpPr>
          <p:cNvPr id="15" name="矩形: 圆角 14"/>
          <p:cNvSpPr/>
          <p:nvPr/>
        </p:nvSpPr>
        <p:spPr>
          <a:xfrm>
            <a:off x="1046119" y="1521425"/>
            <a:ext cx="908541" cy="36000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200" b="1">
                <a:solidFill>
                  <a:schemeClr val="bg2">
                    <a:lumMod val="25000"/>
                  </a:schemeClr>
                </a:solidFill>
                <a:latin typeface="+mj-lt"/>
                <a:ea typeface="微软雅黑" panose="020B0503020204020204" pitchFamily="34" charset="-122"/>
                <a:sym typeface="Arial" panose="020B0604020202020204" pitchFamily="34" charset="0"/>
              </a:rPr>
              <a:t>公司规模</a:t>
            </a:r>
            <a:endParaRPr lang="zh-CN" altLang="en-US" sz="1200" b="1">
              <a:solidFill>
                <a:schemeClr val="bg2">
                  <a:lumMod val="25000"/>
                </a:schemeClr>
              </a:solidFill>
              <a:latin typeface="+mj-lt"/>
              <a:ea typeface="微软雅黑" panose="020B0503020204020204" pitchFamily="34" charset="-122"/>
              <a:sym typeface="Arial" panose="020B0604020202020204" pitchFamily="34" charset="0"/>
            </a:endParaRPr>
          </a:p>
        </p:txBody>
      </p:sp>
      <p:sp>
        <p:nvSpPr>
          <p:cNvPr id="18" name="矩形: 圆角 17"/>
          <p:cNvSpPr/>
          <p:nvPr/>
        </p:nvSpPr>
        <p:spPr>
          <a:xfrm>
            <a:off x="1046119" y="1974944"/>
            <a:ext cx="908541" cy="36000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200" b="1">
                <a:solidFill>
                  <a:schemeClr val="bg2">
                    <a:lumMod val="25000"/>
                  </a:schemeClr>
                </a:solidFill>
                <a:latin typeface="+mj-lt"/>
                <a:ea typeface="微软雅黑" panose="020B0503020204020204" pitchFamily="34" charset="-122"/>
                <a:sym typeface="Arial" panose="020B0604020202020204" pitchFamily="34" charset="0"/>
              </a:rPr>
              <a:t>产品模块</a:t>
            </a:r>
            <a:endParaRPr lang="zh-CN" altLang="en-US" sz="1200" b="1">
              <a:solidFill>
                <a:schemeClr val="bg2">
                  <a:lumMod val="25000"/>
                </a:schemeClr>
              </a:solidFill>
              <a:latin typeface="+mj-lt"/>
              <a:ea typeface="微软雅黑" panose="020B0503020204020204" pitchFamily="34" charset="-122"/>
              <a:sym typeface="Arial" panose="020B0604020202020204" pitchFamily="34" charset="0"/>
            </a:endParaRPr>
          </a:p>
        </p:txBody>
      </p:sp>
      <p:sp>
        <p:nvSpPr>
          <p:cNvPr id="21" name="矩形: 圆角 20"/>
          <p:cNvSpPr/>
          <p:nvPr/>
        </p:nvSpPr>
        <p:spPr>
          <a:xfrm>
            <a:off x="1046119" y="2420161"/>
            <a:ext cx="908541" cy="111600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200" b="1">
                <a:solidFill>
                  <a:schemeClr val="bg2">
                    <a:lumMod val="25000"/>
                  </a:schemeClr>
                </a:solidFill>
                <a:latin typeface="+mj-lt"/>
                <a:ea typeface="微软雅黑" panose="020B0503020204020204" pitchFamily="34" charset="-122"/>
                <a:sym typeface="Arial" panose="020B0604020202020204" pitchFamily="34" charset="0"/>
              </a:rPr>
              <a:t>客户需求</a:t>
            </a:r>
            <a:endParaRPr lang="zh-CN" altLang="en-US" sz="1200" b="1">
              <a:solidFill>
                <a:schemeClr val="bg2">
                  <a:lumMod val="25000"/>
                </a:schemeClr>
              </a:solidFill>
              <a:latin typeface="+mj-lt"/>
              <a:ea typeface="微软雅黑" panose="020B0503020204020204" pitchFamily="34" charset="-122"/>
              <a:sym typeface="Arial" panose="020B0604020202020204" pitchFamily="34" charset="0"/>
            </a:endParaRPr>
          </a:p>
        </p:txBody>
      </p:sp>
      <p:sp>
        <p:nvSpPr>
          <p:cNvPr id="24" name="矩形: 圆角 23"/>
          <p:cNvSpPr/>
          <p:nvPr/>
        </p:nvSpPr>
        <p:spPr>
          <a:xfrm>
            <a:off x="1046119" y="3615784"/>
            <a:ext cx="908541" cy="1260000"/>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zh-CN" altLang="en-US" sz="1200" b="1">
                <a:solidFill>
                  <a:schemeClr val="bg2">
                    <a:lumMod val="25000"/>
                  </a:schemeClr>
                </a:solidFill>
                <a:latin typeface="+mj-lt"/>
                <a:ea typeface="微软雅黑" panose="020B0503020204020204" pitchFamily="34" charset="-122"/>
                <a:sym typeface="Arial" panose="020B0604020202020204" pitchFamily="34" charset="0"/>
              </a:rPr>
              <a:t>解决方案</a:t>
            </a:r>
            <a:endParaRPr lang="zh-CN" altLang="en-US" sz="1200" b="1">
              <a:solidFill>
                <a:schemeClr val="bg2">
                  <a:lumMod val="25000"/>
                </a:schemeClr>
              </a:solidFill>
              <a:latin typeface="+mj-lt"/>
              <a:ea typeface="微软雅黑" panose="020B0503020204020204" pitchFamily="34" charset="-122"/>
              <a:sym typeface="Arial" panose="020B0604020202020204" pitchFamily="34" charset="0"/>
            </a:endParaRPr>
          </a:p>
        </p:txBody>
      </p:sp>
      <p:sp>
        <p:nvSpPr>
          <p:cNvPr id="28" name="Shape 136"/>
          <p:cNvSpPr/>
          <p:nvPr/>
        </p:nvSpPr>
        <p:spPr>
          <a:xfrm>
            <a:off x="2020983" y="1492793"/>
            <a:ext cx="44627" cy="3384000"/>
          </a:xfrm>
          <a:prstGeom prst="rect">
            <a:avLst/>
          </a:prstGeom>
          <a:solidFill>
            <a:schemeClr val="bg1">
              <a:lumMod val="85000"/>
            </a:schemeClr>
          </a:solidFill>
          <a:ln w="12700">
            <a:miter lim="400000"/>
          </a:ln>
        </p:spPr>
        <p:txBody>
          <a:bodyPr lIns="54051" tIns="54051" rIns="54051" bIns="54051" anchor="ctr"/>
          <a:lstStyle/>
          <a:p>
            <a:pPr marL="0" marR="0" lvl="0" indent="0" algn="ctr" defTabSz="914400" rtl="0" eaLnBrk="1" fontAlgn="auto" latinLnBrk="0" hangingPunct="1">
              <a:lnSpc>
                <a:spcPct val="100000"/>
              </a:lnSpc>
              <a:spcBef>
                <a:spcPts val="0"/>
              </a:spcBef>
              <a:spcAft>
                <a:spcPts val="0"/>
              </a:spcAft>
              <a:buClrTx/>
              <a:buSzTx/>
              <a:buFontTx/>
              <a:buNone/>
              <a:defRPr sz="2800"/>
            </a:pPr>
            <a:endParaRPr kumimoji="0" sz="1200" i="0" u="none" strike="noStrike" kern="1200" cap="none" spc="0" normalizeH="0" baseline="0" noProof="0">
              <a:ln>
                <a:noFill/>
              </a:ln>
              <a:solidFill>
                <a:schemeClr val="tx2"/>
              </a:solidFill>
              <a:effectLst/>
              <a:uLnTx/>
              <a:uFillTx/>
              <a:latin typeface="+mj-lt"/>
              <a:ea typeface="微软雅黑" panose="020B0503020204020204" pitchFamily="34" charset="-122"/>
              <a:cs typeface="+mn-ea"/>
              <a:sym typeface="Arial" panose="020B0604020202020204" pitchFamily="34" charset="0"/>
            </a:endParaRPr>
          </a:p>
        </p:txBody>
      </p:sp>
      <p:sp>
        <p:nvSpPr>
          <p:cNvPr id="29" name="Shape 136"/>
          <p:cNvSpPr/>
          <p:nvPr/>
        </p:nvSpPr>
        <p:spPr>
          <a:xfrm>
            <a:off x="940908" y="1492793"/>
            <a:ext cx="44627" cy="3384000"/>
          </a:xfrm>
          <a:prstGeom prst="rect">
            <a:avLst/>
          </a:prstGeom>
          <a:solidFill>
            <a:schemeClr val="bg1">
              <a:lumMod val="85000"/>
            </a:schemeClr>
          </a:solidFill>
          <a:ln w="12700">
            <a:miter lim="400000"/>
          </a:ln>
        </p:spPr>
        <p:txBody>
          <a:bodyPr lIns="54051" tIns="54051" rIns="54051" bIns="54051" anchor="ctr"/>
          <a:lstStyle/>
          <a:p>
            <a:pPr marL="0" marR="0" lvl="0" indent="0" algn="ctr" defTabSz="914400" rtl="0" eaLnBrk="1" fontAlgn="auto" latinLnBrk="0" hangingPunct="1">
              <a:lnSpc>
                <a:spcPct val="100000"/>
              </a:lnSpc>
              <a:spcBef>
                <a:spcPts val="0"/>
              </a:spcBef>
              <a:spcAft>
                <a:spcPts val="0"/>
              </a:spcAft>
              <a:buClrTx/>
              <a:buSzTx/>
              <a:buFontTx/>
              <a:buNone/>
              <a:defRPr sz="2800"/>
            </a:pPr>
            <a:endParaRPr kumimoji="0" sz="1200" i="0" u="none" strike="noStrike" kern="1200" cap="none" spc="0" normalizeH="0" baseline="0" noProof="0">
              <a:ln>
                <a:noFill/>
              </a:ln>
              <a:solidFill>
                <a:schemeClr val="tx2"/>
              </a:solidFill>
              <a:effectLst/>
              <a:uLnTx/>
              <a:uFillTx/>
              <a:latin typeface="+mj-lt"/>
              <a:ea typeface="微软雅黑" panose="020B0503020204020204" pitchFamily="34" charset="-122"/>
              <a:cs typeface="+mn-ea"/>
              <a:sym typeface="Arial" panose="020B0604020202020204" pitchFamily="34" charset="0"/>
            </a:endParaRPr>
          </a:p>
        </p:txBody>
      </p:sp>
      <p:sp>
        <p:nvSpPr>
          <p:cNvPr id="25" name="矩形: 圆角 24"/>
          <p:cNvSpPr/>
          <p:nvPr/>
        </p:nvSpPr>
        <p:spPr>
          <a:xfrm>
            <a:off x="1045485" y="5280149"/>
            <a:ext cx="909176" cy="972000"/>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30000"/>
              </a:lnSpc>
            </a:pPr>
            <a:r>
              <a:rPr lang="en-US" altLang="zh-CN" sz="1200" b="1">
                <a:solidFill>
                  <a:schemeClr val="bg1"/>
                </a:solidFill>
                <a:latin typeface="+mj-lt"/>
                <a:ea typeface="微软雅黑" panose="020B0503020204020204" pitchFamily="34" charset="-122"/>
                <a:sym typeface="Arial" panose="020B0604020202020204" pitchFamily="34" charset="0"/>
              </a:rPr>
              <a:t>PaaS</a:t>
            </a:r>
            <a:r>
              <a:rPr lang="zh-CN" altLang="en-US" sz="1200" b="1">
                <a:solidFill>
                  <a:schemeClr val="bg1"/>
                </a:solidFill>
                <a:latin typeface="+mj-lt"/>
                <a:ea typeface="微软雅黑" panose="020B0503020204020204" pitchFamily="34" charset="-122"/>
                <a:sym typeface="Arial" panose="020B0604020202020204" pitchFamily="34" charset="0"/>
              </a:rPr>
              <a:t>平台</a:t>
            </a:r>
            <a:endParaRPr lang="en-US" altLang="zh-CN" sz="1200" b="1">
              <a:solidFill>
                <a:schemeClr val="bg1"/>
              </a:solidFill>
              <a:latin typeface="+mj-lt"/>
              <a:ea typeface="微软雅黑" panose="020B0503020204020204" pitchFamily="34" charset="-122"/>
              <a:sym typeface="Arial" panose="020B0604020202020204" pitchFamily="34" charset="0"/>
            </a:endParaRPr>
          </a:p>
          <a:p>
            <a:pPr algn="ctr">
              <a:lnSpc>
                <a:spcPct val="130000"/>
              </a:lnSpc>
            </a:pPr>
            <a:r>
              <a:rPr lang="zh-CN" altLang="en-US" sz="1200" b="1">
                <a:solidFill>
                  <a:schemeClr val="bg1"/>
                </a:solidFill>
                <a:latin typeface="+mj-lt"/>
                <a:ea typeface="微软雅黑" panose="020B0503020204020204" pitchFamily="34" charset="-122"/>
                <a:sym typeface="Arial" panose="020B0604020202020204" pitchFamily="34" charset="0"/>
              </a:rPr>
              <a:t>能力支持</a:t>
            </a:r>
            <a:endParaRPr lang="zh-CN" altLang="en-US" sz="1200" b="1">
              <a:solidFill>
                <a:schemeClr val="bg1"/>
              </a:solidFill>
              <a:latin typeface="+mj-lt"/>
              <a:ea typeface="微软雅黑" panose="020B0503020204020204" pitchFamily="34" charset="-122"/>
              <a:sym typeface="Arial" panose="020B0604020202020204" pitchFamily="34" charset="0"/>
            </a:endParaRPr>
          </a:p>
        </p:txBody>
      </p:sp>
      <p:sp>
        <p:nvSpPr>
          <p:cNvPr id="8" name="矩形 7"/>
          <p:cNvSpPr/>
          <p:nvPr/>
        </p:nvSpPr>
        <p:spPr>
          <a:xfrm>
            <a:off x="2141580" y="1521425"/>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100" b="0">
                <a:solidFill>
                  <a:schemeClr val="bg2">
                    <a:lumMod val="10000"/>
                  </a:schemeClr>
                </a:solidFill>
                <a:latin typeface="+mj-lt"/>
                <a:ea typeface="微软雅黑" panose="020B0503020204020204" pitchFamily="34" charset="-122"/>
                <a:sym typeface="Arial" panose="020B0604020202020204" pitchFamily="34" charset="0"/>
              </a:rPr>
              <a:t>10</a:t>
            </a:r>
            <a:r>
              <a:rPr lang="zh-CN" altLang="en-US" sz="1100" b="0">
                <a:solidFill>
                  <a:schemeClr val="bg2">
                    <a:lumMod val="10000"/>
                  </a:schemeClr>
                </a:solidFill>
                <a:latin typeface="+mj-lt"/>
                <a:ea typeface="微软雅黑" panose="020B0503020204020204" pitchFamily="34" charset="-122"/>
                <a:sym typeface="Arial" panose="020B0604020202020204" pitchFamily="34" charset="0"/>
              </a:rPr>
              <a:t>万</a:t>
            </a:r>
            <a:r>
              <a:rPr lang="en-US" altLang="zh-CN" sz="1100" b="0">
                <a:solidFill>
                  <a:schemeClr val="bg2">
                    <a:lumMod val="10000"/>
                  </a:schemeClr>
                </a:solidFill>
                <a:latin typeface="+mj-lt"/>
                <a:ea typeface="微软雅黑" panose="020B0503020204020204" pitchFamily="34" charset="-122"/>
                <a:sym typeface="Arial" panose="020B0604020202020204" pitchFamily="34" charset="0"/>
              </a:rPr>
              <a:t>+</a:t>
            </a:r>
            <a:r>
              <a:rPr lang="zh-CN" altLang="en-US" sz="1100" b="0">
                <a:solidFill>
                  <a:schemeClr val="bg2">
                    <a:lumMod val="10000"/>
                  </a:schemeClr>
                </a:solidFill>
                <a:latin typeface="+mj-lt"/>
                <a:ea typeface="微软雅黑" panose="020B0503020204020204" pitchFamily="34" charset="-122"/>
                <a:sym typeface="Arial" panose="020B0604020202020204" pitchFamily="34" charset="0"/>
              </a:rPr>
              <a:t>人</a:t>
            </a:r>
            <a:endParaRPr lang="en-US" altLang="zh-CN" sz="1100" b="0">
              <a:solidFill>
                <a:schemeClr val="bg2">
                  <a:lumMod val="10000"/>
                </a:schemeClr>
              </a:solidFill>
              <a:latin typeface="+mj-lt"/>
              <a:ea typeface="微软雅黑" panose="020B0503020204020204" pitchFamily="34" charset="-122"/>
              <a:sym typeface="Arial" panose="020B0604020202020204" pitchFamily="34" charset="0"/>
            </a:endParaRPr>
          </a:p>
        </p:txBody>
      </p:sp>
      <p:cxnSp>
        <p:nvCxnSpPr>
          <p:cNvPr id="10" name="直接连接符 9"/>
          <p:cNvCxnSpPr/>
          <p:nvPr/>
        </p:nvCxnSpPr>
        <p:spPr>
          <a:xfrm>
            <a:off x="2137574" y="1417417"/>
            <a:ext cx="9036000" cy="0"/>
          </a:xfrm>
          <a:prstGeom prst="line">
            <a:avLst/>
          </a:prstGeom>
          <a:ln w="38100">
            <a:solidFill>
              <a:srgbClr val="D9D9D9"/>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141580" y="1974944"/>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销</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服</a:t>
            </a:r>
            <a:endPar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19" name="矩形 18"/>
          <p:cNvSpPr/>
          <p:nvPr/>
        </p:nvSpPr>
        <p:spPr>
          <a:xfrm>
            <a:off x="2141580" y="2420158"/>
            <a:ext cx="2203200" cy="111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878205" rtl="0" eaLnBrk="1" fontAlgn="auto" latinLnBrk="0" hangingPunct="1">
              <a:lnSpc>
                <a:spcPct val="120000"/>
              </a:lnSpc>
              <a:spcBef>
                <a:spcPts val="0"/>
              </a:spcBef>
              <a:spcAft>
                <a:spcPts val="0"/>
              </a:spcAft>
              <a:buClrTx/>
              <a:buSzTx/>
              <a:buFontTx/>
              <a:buNone/>
              <a:defRPr/>
            </a:pP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施耐德电气中国区在</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SPC(</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关键电源及制冷）业务板块需要提升客服</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工单服务响应能力和效率</a:t>
            </a:r>
            <a:endPar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22" name="矩形 21"/>
          <p:cNvSpPr/>
          <p:nvPr/>
        </p:nvSpPr>
        <p:spPr>
          <a:xfrm>
            <a:off x="2141580" y="3615318"/>
            <a:ext cx="2203200" cy="12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878205">
              <a:lnSpc>
                <a:spcPct val="120000"/>
              </a:lnSpc>
              <a:defRPr/>
            </a:pPr>
            <a:r>
              <a:rPr lang="zh-CN" altLang="en-US" sz="1100">
                <a:solidFill>
                  <a:schemeClr val="bg2">
                    <a:lumMod val="10000"/>
                  </a:schemeClr>
                </a:solidFill>
                <a:latin typeface="+mj-lt"/>
                <a:ea typeface="微软雅黑" panose="020B0503020204020204" pitchFamily="34" charset="-122"/>
                <a:sym typeface="Arial" panose="020B0604020202020204" pitchFamily="34" charset="0"/>
              </a:rPr>
              <a:t>提供</a:t>
            </a:r>
            <a:r>
              <a:rPr lang="zh-CN" altLang="en-US" sz="1100" b="1">
                <a:solidFill>
                  <a:srgbClr val="1E73F5"/>
                </a:solidFill>
                <a:latin typeface="+mj-lt"/>
                <a:ea typeface="微软雅黑" panose="020B0503020204020204" pitchFamily="34" charset="-122"/>
                <a:sym typeface="Arial" panose="020B0604020202020204" pitchFamily="34" charset="0"/>
              </a:rPr>
              <a:t>统一售后服务平台能力和解决方案</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，通过</a:t>
            </a:r>
            <a:r>
              <a:rPr lang="en-US" altLang="zh-CN" sz="1100" b="1">
                <a:solidFill>
                  <a:srgbClr val="1E73F5"/>
                </a:solidFill>
                <a:latin typeface="+mj-lt"/>
                <a:ea typeface="微软雅黑" panose="020B0503020204020204" pitchFamily="34" charset="-122"/>
                <a:sym typeface="Arial" panose="020B0604020202020204" pitchFamily="34" charset="0"/>
              </a:rPr>
              <a:t>PaaS</a:t>
            </a:r>
            <a:r>
              <a:rPr lang="zh-CN" altLang="en-US" sz="1100" b="1">
                <a:solidFill>
                  <a:srgbClr val="1E73F5"/>
                </a:solidFill>
                <a:latin typeface="+mj-lt"/>
                <a:ea typeface="微软雅黑" panose="020B0503020204020204" pitchFamily="34" charset="-122"/>
                <a:sym typeface="Arial" panose="020B0604020202020204" pitchFamily="34" charset="0"/>
              </a:rPr>
              <a:t>平台和</a:t>
            </a:r>
            <a:r>
              <a:rPr lang="en-US" altLang="zh-CN" sz="1100" b="1">
                <a:solidFill>
                  <a:srgbClr val="1E73F5"/>
                </a:solidFill>
                <a:latin typeface="+mj-lt"/>
                <a:ea typeface="微软雅黑" panose="020B0503020204020204" pitchFamily="34" charset="-122"/>
                <a:sym typeface="Arial" panose="020B0604020202020204" pitchFamily="34" charset="0"/>
              </a:rPr>
              <a:t>CS+FS</a:t>
            </a:r>
            <a:r>
              <a:rPr lang="zh-CN" altLang="en-US" sz="1100" b="1">
                <a:solidFill>
                  <a:srgbClr val="1E73F5"/>
                </a:solidFill>
                <a:latin typeface="+mj-lt"/>
                <a:ea typeface="微软雅黑" panose="020B0503020204020204" pitchFamily="34" charset="-122"/>
                <a:sym typeface="Arial" panose="020B0604020202020204" pitchFamily="34" charset="0"/>
              </a:rPr>
              <a:t>产品，支持</a:t>
            </a:r>
            <a:r>
              <a:rPr lang="en-US" altLang="zh-CN" sz="1100" b="1">
                <a:solidFill>
                  <a:srgbClr val="1E73F5"/>
                </a:solidFill>
                <a:latin typeface="+mj-lt"/>
                <a:ea typeface="微软雅黑" panose="020B0503020204020204" pitchFamily="34" charset="-122"/>
                <a:sym typeface="Arial" panose="020B0604020202020204" pitchFamily="34" charset="0"/>
              </a:rPr>
              <a:t>70%</a:t>
            </a:r>
            <a:r>
              <a:rPr lang="zh-CN" altLang="en-US" sz="1100" b="1">
                <a:solidFill>
                  <a:srgbClr val="1E73F5"/>
                </a:solidFill>
                <a:latin typeface="+mj-lt"/>
                <a:ea typeface="微软雅黑" panose="020B0503020204020204" pitchFamily="34" charset="-122"/>
                <a:sym typeface="Arial" panose="020B0604020202020204" pitchFamily="34" charset="0"/>
              </a:rPr>
              <a:t>以上功能快速配置</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，高效替代客户原有</a:t>
            </a:r>
            <a:r>
              <a:rPr lang="en-US" altLang="zh-CN" sz="1100">
                <a:solidFill>
                  <a:schemeClr val="bg2">
                    <a:lumMod val="10000"/>
                  </a:schemeClr>
                </a:solidFill>
                <a:latin typeface="+mj-lt"/>
                <a:ea typeface="微软雅黑" panose="020B0503020204020204" pitchFamily="34" charset="-122"/>
                <a:sym typeface="Arial" panose="020B0604020202020204" pitchFamily="34" charset="0"/>
              </a:rPr>
              <a:t>Salesforce</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的相关产品</a:t>
            </a:r>
            <a:endParaRPr lang="zh-CN" altLang="en-US" sz="1100">
              <a:solidFill>
                <a:schemeClr val="bg2">
                  <a:lumMod val="10000"/>
                </a:schemeClr>
              </a:solidFill>
              <a:latin typeface="+mj-lt"/>
              <a:ea typeface="微软雅黑" panose="020B0503020204020204" pitchFamily="34" charset="-122"/>
              <a:sym typeface="Arial" panose="020B0604020202020204" pitchFamily="34" charset="0"/>
            </a:endParaRPr>
          </a:p>
        </p:txBody>
      </p:sp>
      <p:grpSp>
        <p:nvGrpSpPr>
          <p:cNvPr id="3" name="组合 2"/>
          <p:cNvGrpSpPr/>
          <p:nvPr/>
        </p:nvGrpSpPr>
        <p:grpSpPr>
          <a:xfrm>
            <a:off x="8999289" y="1519091"/>
            <a:ext cx="2203200" cy="3353156"/>
            <a:chOff x="6691051" y="1521425"/>
            <a:chExt cx="2203200" cy="3353156"/>
          </a:xfrm>
        </p:grpSpPr>
        <p:sp>
          <p:nvSpPr>
            <p:cNvPr id="9" name="矩形 8"/>
            <p:cNvSpPr/>
            <p:nvPr/>
          </p:nvSpPr>
          <p:spPr>
            <a:xfrm>
              <a:off x="6691051" y="1521425"/>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ctr" defTabSz="914400" rtl="0" eaLnBrk="1" latinLnBrk="0" hangingPunct="1">
                <a:lnSpc>
                  <a:spcPct val="130000"/>
                </a:lnSpc>
              </a:pPr>
              <a:r>
                <a:rPr lang="en-US" altLang="zh-CN" sz="1100">
                  <a:solidFill>
                    <a:schemeClr val="bg2">
                      <a:lumMod val="10000"/>
                    </a:schemeClr>
                  </a:solidFill>
                  <a:latin typeface="+mj-lt"/>
                  <a:ea typeface="微软雅黑" panose="020B0503020204020204" pitchFamily="34" charset="-122"/>
                  <a:sym typeface="Arial" panose="020B0604020202020204" pitchFamily="34" charset="0"/>
                </a:rPr>
                <a:t>3</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万</a:t>
              </a:r>
              <a:r>
                <a:rPr lang="en-US" altLang="zh-CN" sz="1100">
                  <a:solidFill>
                    <a:schemeClr val="bg2">
                      <a:lumMod val="10000"/>
                    </a:schemeClr>
                  </a:solidFill>
                  <a:latin typeface="+mj-lt"/>
                  <a:ea typeface="微软雅黑" panose="020B0503020204020204" pitchFamily="34" charset="-122"/>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人</a:t>
              </a:r>
              <a:endPar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17" name="矩形 16"/>
            <p:cNvSpPr/>
            <p:nvPr/>
          </p:nvSpPr>
          <p:spPr>
            <a:xfrm>
              <a:off x="6691051" y="1974944"/>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营</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销</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服</a:t>
              </a:r>
              <a:endPar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20" name="矩形 19"/>
            <p:cNvSpPr/>
            <p:nvPr/>
          </p:nvSpPr>
          <p:spPr>
            <a:xfrm>
              <a:off x="6691051" y="2420161"/>
              <a:ext cx="2203200" cy="111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878205" rtl="0" eaLnBrk="1" fontAlgn="auto" latinLnBrk="0" hangingPunct="1">
                <a:lnSpc>
                  <a:spcPct val="120000"/>
                </a:lnSpc>
                <a:spcBef>
                  <a:spcPts val="0"/>
                </a:spcBef>
                <a:spcAft>
                  <a:spcPts val="0"/>
                </a:spcAft>
                <a:buClrTx/>
                <a:buSzTx/>
                <a:buFontTx/>
                <a:buNone/>
                <a:defRPr/>
              </a:pPr>
              <a:r>
                <a:rPr lang="zh-CN" altLang="en-US" sz="1100">
                  <a:solidFill>
                    <a:schemeClr val="bg2">
                      <a:lumMod val="10000"/>
                    </a:schemeClr>
                  </a:solidFill>
                  <a:latin typeface="+mj-lt"/>
                  <a:ea typeface="微软雅黑" panose="020B0503020204020204" pitchFamily="34" charset="-122"/>
                  <a:sym typeface="Calibri" panose="020F0502020204030204"/>
                </a:rPr>
                <a:t>支撑客户</a:t>
              </a:r>
              <a:r>
                <a:rPr lang="en-US" altLang="zh-CN" sz="1100">
                  <a:solidFill>
                    <a:schemeClr val="bg2">
                      <a:lumMod val="10000"/>
                    </a:schemeClr>
                  </a:solidFill>
                  <a:latin typeface="+mj-lt"/>
                  <a:ea typeface="微软雅黑" panose="020B0503020204020204" pitchFamily="34" charset="-122"/>
                  <a:sym typeface="Calibri" panose="020F0502020204030204"/>
                </a:rPr>
                <a:t>380</a:t>
              </a:r>
              <a:r>
                <a:rPr lang="zh-CN" altLang="en-US" sz="1100">
                  <a:solidFill>
                    <a:schemeClr val="bg2">
                      <a:lumMod val="10000"/>
                    </a:schemeClr>
                  </a:solidFill>
                  <a:latin typeface="+mj-lt"/>
                  <a:ea typeface="微软雅黑" panose="020B0503020204020204" pitchFamily="34" charset="-122"/>
                  <a:sym typeface="Calibri" panose="020F0502020204030204"/>
                </a:rPr>
                <a:t>家店</a:t>
              </a:r>
              <a:r>
                <a:rPr lang="en-US" altLang="zh-CN" sz="1100">
                  <a:solidFill>
                    <a:schemeClr val="bg2">
                      <a:lumMod val="10000"/>
                    </a:schemeClr>
                  </a:solidFill>
                  <a:latin typeface="+mj-lt"/>
                  <a:ea typeface="微软雅黑" panose="020B0503020204020204" pitchFamily="34" charset="-122"/>
                  <a:sym typeface="Calibri" panose="020F0502020204030204"/>
                </a:rPr>
                <a:t>/14</a:t>
              </a:r>
              <a:r>
                <a:rPr lang="zh-CN" altLang="en-US" sz="1100">
                  <a:solidFill>
                    <a:schemeClr val="bg2">
                      <a:lumMod val="10000"/>
                    </a:schemeClr>
                  </a:solidFill>
                  <a:latin typeface="+mj-lt"/>
                  <a:ea typeface="微软雅黑" panose="020B0503020204020204" pitchFamily="34" charset="-122"/>
                  <a:sym typeface="Calibri" panose="020F0502020204030204"/>
                </a:rPr>
                <a:t>个经销品牌的</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营销</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销售</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服务全生命周期的数字化，连接车主以精细经营客户，构建有竞争力的企业平台</a:t>
              </a:r>
              <a:endPar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23" name="矩形 22"/>
            <p:cNvSpPr/>
            <p:nvPr/>
          </p:nvSpPr>
          <p:spPr>
            <a:xfrm>
              <a:off x="6691051" y="3614581"/>
              <a:ext cx="2203200" cy="12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878205" rtl="0" eaLnBrk="1" fontAlgn="auto" latinLnBrk="0" hangingPunct="1">
                <a:lnSpc>
                  <a:spcPct val="120000"/>
                </a:lnSpc>
                <a:spcBef>
                  <a:spcPts val="0"/>
                </a:spcBef>
                <a:spcAft>
                  <a:spcPts val="0"/>
                </a:spcAft>
                <a:buClrTx/>
                <a:buSzTx/>
                <a:buFontTx/>
                <a:buNone/>
                <a:defRPr/>
              </a:pPr>
              <a:r>
                <a:rPr lang="zh-CN" altLang="en-US" sz="1100" b="0" kern="1200" dirty="0">
                  <a:solidFill>
                    <a:schemeClr val="bg2">
                      <a:lumMod val="10000"/>
                    </a:schemeClr>
                  </a:solidFill>
                  <a:latin typeface="+mj-lt"/>
                  <a:ea typeface="微软雅黑" panose="020B0503020204020204" pitchFamily="34" charset="-122"/>
                  <a:cs typeface="+mn-cs"/>
                  <a:sym typeface="Arial" panose="020B0604020202020204" pitchFamily="34" charset="0"/>
                </a:rPr>
                <a:t>提供基于客户生命周期的</a:t>
              </a:r>
              <a:r>
                <a:rPr lang="zh-CN" altLang="en-US" sz="1100" b="1" kern="1200" dirty="0">
                  <a:solidFill>
                    <a:srgbClr val="1E73F5"/>
                  </a:solidFill>
                  <a:latin typeface="+mj-lt"/>
                  <a:ea typeface="微软雅黑" panose="020B0503020204020204" pitchFamily="34" charset="-122"/>
                  <a:cs typeface="+mn-cs"/>
                  <a:sym typeface="Arial" panose="020B0604020202020204" pitchFamily="34" charset="0"/>
                </a:rPr>
                <a:t>营销服一体化产品和解决方案</a:t>
              </a:r>
              <a:r>
                <a:rPr lang="zh-CN" altLang="en-US" sz="1100" b="0" kern="1200" dirty="0">
                  <a:solidFill>
                    <a:srgbClr val="1E73F5"/>
                  </a:solidFill>
                  <a:latin typeface="+mj-lt"/>
                  <a:ea typeface="微软雅黑" panose="020B0503020204020204" pitchFamily="34" charset="-122"/>
                  <a:cs typeface="+mn-cs"/>
                  <a:sym typeface="Arial" panose="020B0604020202020204" pitchFamily="34" charset="0"/>
                </a:rPr>
                <a:t>，</a:t>
              </a:r>
              <a:r>
                <a:rPr lang="zh-CN" altLang="en-US" sz="1100" b="1" kern="1200" dirty="0">
                  <a:solidFill>
                    <a:srgbClr val="1E73F5"/>
                  </a:solidFill>
                  <a:latin typeface="+mj-lt"/>
                  <a:ea typeface="微软雅黑" panose="020B0503020204020204" pitchFamily="34" charset="-122"/>
                  <a:cs typeface="+mn-cs"/>
                  <a:sym typeface="Arial" panose="020B0604020202020204" pitchFamily="34" charset="0"/>
                </a:rPr>
                <a:t>售后服务切入连接客户</a:t>
              </a:r>
              <a:r>
                <a:rPr lang="en-US" altLang="zh-CN" sz="1100" b="1" kern="1200" dirty="0">
                  <a:solidFill>
                    <a:srgbClr val="1E73F5"/>
                  </a:solidFill>
                  <a:latin typeface="+mj-lt"/>
                  <a:ea typeface="微软雅黑" panose="020B0503020204020204" pitchFamily="34" charset="-122"/>
                  <a:cs typeface="+mn-cs"/>
                  <a:sym typeface="Arial" panose="020B0604020202020204" pitchFamily="34" charset="0"/>
                </a:rPr>
                <a:t>-</a:t>
              </a:r>
              <a:r>
                <a:rPr lang="zh-CN" altLang="en-US" sz="1100" b="1" kern="1200" dirty="0">
                  <a:solidFill>
                    <a:srgbClr val="1E73F5"/>
                  </a:solidFill>
                  <a:latin typeface="+mj-lt"/>
                  <a:ea typeface="微软雅黑" panose="020B0503020204020204" pitchFamily="34" charset="-122"/>
                  <a:cs typeface="+mn-cs"/>
                  <a:sym typeface="Arial" panose="020B0604020202020204" pitchFamily="34" charset="0"/>
                </a:rPr>
                <a:t>高效触达</a:t>
              </a:r>
              <a:r>
                <a:rPr lang="en-US" altLang="zh-CN" sz="1100" b="1" kern="1200" dirty="0">
                  <a:solidFill>
                    <a:srgbClr val="1E73F5"/>
                  </a:solidFill>
                  <a:latin typeface="+mj-lt"/>
                  <a:ea typeface="微软雅黑" panose="020B0503020204020204" pitchFamily="34" charset="-122"/>
                  <a:cs typeface="+mn-cs"/>
                  <a:sym typeface="Arial" panose="020B0604020202020204" pitchFamily="34" charset="0"/>
                </a:rPr>
                <a:t>-</a:t>
              </a:r>
              <a:r>
                <a:rPr lang="zh-CN" altLang="en-US" sz="1100" b="1" kern="1200" dirty="0">
                  <a:solidFill>
                    <a:srgbClr val="1E73F5"/>
                  </a:solidFill>
                  <a:latin typeface="+mj-lt"/>
                  <a:ea typeface="微软雅黑" panose="020B0503020204020204" pitchFamily="34" charset="-122"/>
                  <a:cs typeface="+mn-cs"/>
                  <a:sym typeface="Arial" panose="020B0604020202020204" pitchFamily="34" charset="0"/>
                </a:rPr>
                <a:t>经营转化</a:t>
              </a:r>
              <a:r>
                <a:rPr lang="zh-CN" altLang="en-US" sz="1100" b="0" kern="1200" dirty="0">
                  <a:solidFill>
                    <a:schemeClr val="bg2">
                      <a:lumMod val="10000"/>
                    </a:schemeClr>
                  </a:solidFill>
                  <a:latin typeface="+mj-lt"/>
                  <a:ea typeface="微软雅黑" panose="020B0503020204020204" pitchFamily="34" charset="-122"/>
                  <a:cs typeface="+mn-cs"/>
                  <a:sym typeface="Arial" panose="020B0604020202020204" pitchFamily="34" charset="0"/>
                </a:rPr>
                <a:t>，打造差异化竞争壁垒的</a:t>
              </a:r>
              <a:r>
                <a:rPr lang="zh-CN" altLang="en-US" sz="1100" b="1" kern="1200" dirty="0">
                  <a:solidFill>
                    <a:srgbClr val="1E73F5"/>
                  </a:solidFill>
                  <a:latin typeface="+mj-lt"/>
                  <a:ea typeface="微软雅黑" panose="020B0503020204020204" pitchFamily="34" charset="-122"/>
                  <a:cs typeface="+mn-cs"/>
                  <a:sym typeface="Arial" panose="020B0604020202020204" pitchFamily="34" charset="0"/>
                </a:rPr>
                <a:t>创新能力平台</a:t>
              </a:r>
              <a:endParaRPr lang="en-US" altLang="zh-CN" sz="1100" b="1" kern="1200" dirty="0">
                <a:solidFill>
                  <a:srgbClr val="1E73F5"/>
                </a:solidFill>
                <a:latin typeface="+mj-lt"/>
                <a:ea typeface="微软雅黑" panose="020B0503020204020204" pitchFamily="34" charset="-122"/>
                <a:cs typeface="+mn-cs"/>
                <a:sym typeface="Arial" panose="020B0604020202020204" pitchFamily="34" charset="0"/>
              </a:endParaRPr>
            </a:p>
          </p:txBody>
        </p:sp>
      </p:grpSp>
      <p:sp>
        <p:nvSpPr>
          <p:cNvPr id="116" name="矩形"/>
          <p:cNvSpPr/>
          <p:nvPr/>
        </p:nvSpPr>
        <p:spPr>
          <a:xfrm>
            <a:off x="8958802" y="5271309"/>
            <a:ext cx="2203200" cy="972000"/>
          </a:xfrm>
          <a:prstGeom prst="rect">
            <a:avLst/>
          </a:prstGeom>
          <a:solidFill>
            <a:srgbClr val="1E73F5"/>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mj-lt"/>
              <a:ea typeface="微软雅黑" panose="020B0503020204020204" pitchFamily="34" charset="-122"/>
              <a:sym typeface="Arial" panose="020B0604020202020204" pitchFamily="34" charset="0"/>
            </a:endParaRPr>
          </a:p>
        </p:txBody>
      </p:sp>
      <p:sp>
        <p:nvSpPr>
          <p:cNvPr id="117" name="矩形 116"/>
          <p:cNvSpPr/>
          <p:nvPr/>
        </p:nvSpPr>
        <p:spPr>
          <a:xfrm>
            <a:off x="8741541" y="5405934"/>
            <a:ext cx="2641575" cy="276999"/>
          </a:xfrm>
          <a:prstGeom prst="rect">
            <a:avLst/>
          </a:prstGeom>
        </p:spPr>
        <p:txBody>
          <a:bodyPr wrap="square" anchor="ctr">
            <a:spAutoFit/>
          </a:bodyPr>
          <a:lstStyle/>
          <a:p>
            <a:pPr algn="ctr"/>
            <a:r>
              <a:rPr lang="zh-CN" altLang="en-US" sz="1200" b="1">
                <a:solidFill>
                  <a:schemeClr val="bg1"/>
                </a:solidFill>
                <a:latin typeface="+mj-lt"/>
                <a:ea typeface="微软雅黑" panose="020B0503020204020204" pitchFamily="34" charset="-122"/>
                <a:sym typeface="Arial" panose="020B0604020202020204" pitchFamily="34" charset="0"/>
              </a:rPr>
              <a:t>高性能和高可靠安全保障</a:t>
            </a:r>
            <a:endParaRPr lang="zh-CN" altLang="en-US" sz="1200" b="1">
              <a:solidFill>
                <a:schemeClr val="bg1"/>
              </a:solidFill>
              <a:latin typeface="+mj-lt"/>
              <a:ea typeface="微软雅黑" panose="020B0503020204020204" pitchFamily="34" charset="-122"/>
              <a:sym typeface="Arial" panose="020B0604020202020204" pitchFamily="34" charset="0"/>
            </a:endParaRPr>
          </a:p>
        </p:txBody>
      </p:sp>
      <p:sp>
        <p:nvSpPr>
          <p:cNvPr id="118" name="矩形 117"/>
          <p:cNvSpPr/>
          <p:nvPr/>
        </p:nvSpPr>
        <p:spPr>
          <a:xfrm>
            <a:off x="8962009" y="5624040"/>
            <a:ext cx="2277760" cy="510717"/>
          </a:xfrm>
          <a:prstGeom prst="rect">
            <a:avLst/>
          </a:prstGeom>
        </p:spPr>
        <p:txBody>
          <a:bodyPr wrap="square" anchor="ctr">
            <a:spAutoFit/>
          </a:bodyPr>
          <a:lstStyle/>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沙盒管理支持开发环境隔离，</a:t>
            </a:r>
            <a:endParaRPr lang="en-US" altLang="zh-CN" sz="1100">
              <a:solidFill>
                <a:schemeClr val="bg1"/>
              </a:solidFill>
              <a:latin typeface="+mj-lt"/>
              <a:ea typeface="微软雅黑" panose="020B0503020204020204" pitchFamily="34" charset="-122"/>
              <a:sym typeface="Arial" panose="020B0604020202020204" pitchFamily="34" charset="0"/>
            </a:endParaRPr>
          </a:p>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支持动态数据扩容和高并发</a:t>
            </a:r>
            <a:endParaRPr lang="en-US" altLang="zh-CN" sz="1100">
              <a:solidFill>
                <a:schemeClr val="bg1"/>
              </a:solidFill>
              <a:latin typeface="+mj-lt"/>
              <a:ea typeface="微软雅黑" panose="020B0503020204020204" pitchFamily="34" charset="-122"/>
              <a:sym typeface="Arial" panose="020B0604020202020204" pitchFamily="34" charset="0"/>
            </a:endParaRPr>
          </a:p>
        </p:txBody>
      </p:sp>
      <p:sp>
        <p:nvSpPr>
          <p:cNvPr id="113" name="矩形"/>
          <p:cNvSpPr/>
          <p:nvPr/>
        </p:nvSpPr>
        <p:spPr>
          <a:xfrm>
            <a:off x="2141580" y="5272337"/>
            <a:ext cx="2203418" cy="972000"/>
          </a:xfrm>
          <a:prstGeom prst="rect">
            <a:avLst/>
          </a:prstGeom>
          <a:solidFill>
            <a:srgbClr val="1E73F5"/>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mj-lt"/>
              <a:ea typeface="微软雅黑" panose="020B0503020204020204" pitchFamily="34" charset="-122"/>
              <a:sym typeface="Arial" panose="020B0604020202020204" pitchFamily="34" charset="0"/>
            </a:endParaRPr>
          </a:p>
        </p:txBody>
      </p:sp>
      <p:sp>
        <p:nvSpPr>
          <p:cNvPr id="114" name="矩形 113"/>
          <p:cNvSpPr/>
          <p:nvPr/>
        </p:nvSpPr>
        <p:spPr>
          <a:xfrm>
            <a:off x="1906553" y="5421326"/>
            <a:ext cx="2641575" cy="276999"/>
          </a:xfrm>
          <a:prstGeom prst="rect">
            <a:avLst/>
          </a:prstGeom>
        </p:spPr>
        <p:txBody>
          <a:bodyPr wrap="square" anchor="ctr">
            <a:spAutoFit/>
          </a:bodyPr>
          <a:lstStyle/>
          <a:p>
            <a:pPr algn="ctr"/>
            <a:r>
              <a:rPr lang="zh-CN" altLang="en-US" sz="1200" b="1">
                <a:solidFill>
                  <a:schemeClr val="bg1"/>
                </a:solidFill>
                <a:latin typeface="+mj-lt"/>
                <a:ea typeface="微软雅黑" panose="020B0503020204020204" pitchFamily="34" charset="-122"/>
                <a:sym typeface="Arial" panose="020B0604020202020204" pitchFamily="34" charset="0"/>
              </a:rPr>
              <a:t>元数据模型驱动业务扩展</a:t>
            </a:r>
            <a:endParaRPr lang="zh-CN" altLang="en-US" sz="1200" b="1">
              <a:solidFill>
                <a:schemeClr val="bg1"/>
              </a:solidFill>
              <a:latin typeface="+mj-lt"/>
              <a:ea typeface="微软雅黑" panose="020B0503020204020204" pitchFamily="34" charset="-122"/>
              <a:sym typeface="Arial" panose="020B0604020202020204" pitchFamily="34" charset="0"/>
            </a:endParaRPr>
          </a:p>
        </p:txBody>
      </p:sp>
      <p:sp>
        <p:nvSpPr>
          <p:cNvPr id="115" name="矩形 114"/>
          <p:cNvSpPr/>
          <p:nvPr/>
        </p:nvSpPr>
        <p:spPr>
          <a:xfrm>
            <a:off x="2158151" y="5646313"/>
            <a:ext cx="2153890" cy="510717"/>
          </a:xfrm>
          <a:prstGeom prst="rect">
            <a:avLst/>
          </a:prstGeom>
        </p:spPr>
        <p:txBody>
          <a:bodyPr wrap="square" anchor="ctr">
            <a:spAutoFit/>
          </a:bodyPr>
          <a:lstStyle/>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自定义业务实体、便捷权限和</a:t>
            </a:r>
            <a:endParaRPr lang="en-US" altLang="zh-CN" sz="1100">
              <a:solidFill>
                <a:schemeClr val="bg1"/>
              </a:solidFill>
              <a:latin typeface="+mj-lt"/>
              <a:ea typeface="微软雅黑" panose="020B0503020204020204" pitchFamily="34" charset="-122"/>
              <a:sym typeface="Arial" panose="020B0604020202020204" pitchFamily="34" charset="0"/>
            </a:endParaRPr>
          </a:p>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流程管理、灵活</a:t>
            </a:r>
            <a:r>
              <a:rPr lang="en-US" altLang="zh-CN" sz="1100">
                <a:solidFill>
                  <a:schemeClr val="bg1"/>
                </a:solidFill>
                <a:latin typeface="+mj-lt"/>
                <a:ea typeface="微软雅黑" panose="020B0503020204020204" pitchFamily="34" charset="-122"/>
                <a:sym typeface="Arial" panose="020B0604020202020204" pitchFamily="34" charset="0"/>
              </a:rPr>
              <a:t>UI</a:t>
            </a:r>
            <a:r>
              <a:rPr lang="zh-CN" altLang="en-US" sz="1100">
                <a:solidFill>
                  <a:schemeClr val="bg1"/>
                </a:solidFill>
                <a:latin typeface="+mj-lt"/>
                <a:ea typeface="微软雅黑" panose="020B0503020204020204" pitchFamily="34" charset="-122"/>
                <a:sym typeface="Arial" panose="020B0604020202020204" pitchFamily="34" charset="0"/>
              </a:rPr>
              <a:t>框架</a:t>
            </a:r>
            <a:endParaRPr lang="en-US" altLang="zh-CN" sz="1100">
              <a:solidFill>
                <a:schemeClr val="bg1"/>
              </a:solidFill>
              <a:latin typeface="+mj-lt"/>
              <a:ea typeface="微软雅黑" panose="020B0503020204020204" pitchFamily="34" charset="-122"/>
              <a:sym typeface="Arial" panose="020B0604020202020204" pitchFamily="34" charset="0"/>
            </a:endParaRPr>
          </a:p>
        </p:txBody>
      </p:sp>
      <p:sp>
        <p:nvSpPr>
          <p:cNvPr id="110" name="矩形"/>
          <p:cNvSpPr/>
          <p:nvPr/>
        </p:nvSpPr>
        <p:spPr>
          <a:xfrm>
            <a:off x="4415750" y="5280150"/>
            <a:ext cx="2203419" cy="972000"/>
          </a:xfrm>
          <a:prstGeom prst="rect">
            <a:avLst/>
          </a:prstGeom>
          <a:solidFill>
            <a:srgbClr val="1E73F5"/>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mj-lt"/>
              <a:ea typeface="微软雅黑" panose="020B0503020204020204" pitchFamily="34" charset="-122"/>
              <a:sym typeface="Arial" panose="020B0604020202020204" pitchFamily="34" charset="0"/>
            </a:endParaRPr>
          </a:p>
        </p:txBody>
      </p:sp>
      <p:sp>
        <p:nvSpPr>
          <p:cNvPr id="111" name="矩形 110"/>
          <p:cNvSpPr/>
          <p:nvPr/>
        </p:nvSpPr>
        <p:spPr>
          <a:xfrm>
            <a:off x="4198489" y="5417802"/>
            <a:ext cx="2641575" cy="276999"/>
          </a:xfrm>
          <a:prstGeom prst="rect">
            <a:avLst/>
          </a:prstGeom>
        </p:spPr>
        <p:txBody>
          <a:bodyPr wrap="square" anchor="ctr">
            <a:spAutoFit/>
          </a:bodyPr>
          <a:lstStyle/>
          <a:p>
            <a:pPr algn="ctr"/>
            <a:r>
              <a:rPr lang="zh-CN" altLang="en-US" sz="1200" b="1">
                <a:solidFill>
                  <a:schemeClr val="bg1"/>
                </a:solidFill>
                <a:latin typeface="+mj-lt"/>
                <a:ea typeface="微软雅黑" panose="020B0503020204020204" pitchFamily="34" charset="-122"/>
                <a:sym typeface="Arial" panose="020B0604020202020204" pitchFamily="34" charset="0"/>
              </a:rPr>
              <a:t>代码开发支持个性化应用</a:t>
            </a:r>
            <a:endParaRPr lang="zh-CN" altLang="en-US" sz="1200" b="1">
              <a:solidFill>
                <a:schemeClr val="bg1"/>
              </a:solidFill>
              <a:latin typeface="+mj-lt"/>
              <a:ea typeface="微软雅黑" panose="020B0503020204020204" pitchFamily="34" charset="-122"/>
              <a:sym typeface="Arial" panose="020B0604020202020204" pitchFamily="34" charset="0"/>
            </a:endParaRPr>
          </a:p>
        </p:txBody>
      </p:sp>
      <p:sp>
        <p:nvSpPr>
          <p:cNvPr id="112" name="矩形 111"/>
          <p:cNvSpPr/>
          <p:nvPr/>
        </p:nvSpPr>
        <p:spPr>
          <a:xfrm>
            <a:off x="4450087" y="5634555"/>
            <a:ext cx="2153890" cy="510717"/>
          </a:xfrm>
          <a:prstGeom prst="rect">
            <a:avLst/>
          </a:prstGeom>
        </p:spPr>
        <p:txBody>
          <a:bodyPr wrap="square" anchor="ctr">
            <a:spAutoFit/>
          </a:bodyPr>
          <a:lstStyle/>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低代码开发支持复杂业务场景</a:t>
            </a:r>
            <a:endParaRPr lang="en-US" altLang="zh-CN" sz="1100">
              <a:solidFill>
                <a:schemeClr val="bg1"/>
              </a:solidFill>
              <a:latin typeface="+mj-lt"/>
              <a:ea typeface="微软雅黑" panose="020B0503020204020204" pitchFamily="34" charset="-122"/>
              <a:sym typeface="Arial" panose="020B0604020202020204" pitchFamily="34" charset="0"/>
            </a:endParaRPr>
          </a:p>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应用，</a:t>
            </a:r>
            <a:r>
              <a:rPr lang="en-US" altLang="zh-CN" sz="1100">
                <a:solidFill>
                  <a:schemeClr val="bg1"/>
                </a:solidFill>
                <a:latin typeface="+mj-lt"/>
                <a:ea typeface="微软雅黑" panose="020B0503020204020204" pitchFamily="34" charset="-122"/>
                <a:sym typeface="Arial" panose="020B0604020202020204" pitchFamily="34" charset="0"/>
              </a:rPr>
              <a:t>CICD</a:t>
            </a:r>
            <a:r>
              <a:rPr lang="zh-CN" altLang="en-US" sz="1100">
                <a:solidFill>
                  <a:schemeClr val="bg1"/>
                </a:solidFill>
                <a:latin typeface="+mj-lt"/>
                <a:ea typeface="微软雅黑" panose="020B0503020204020204" pitchFamily="34" charset="-122"/>
                <a:sym typeface="Arial" panose="020B0604020202020204" pitchFamily="34" charset="0"/>
              </a:rPr>
              <a:t>保障高质交付</a:t>
            </a:r>
            <a:endParaRPr lang="en-US" altLang="zh-CN" sz="1100">
              <a:solidFill>
                <a:schemeClr val="bg1"/>
              </a:solidFill>
              <a:latin typeface="+mj-lt"/>
              <a:ea typeface="微软雅黑" panose="020B0503020204020204" pitchFamily="34" charset="-122"/>
              <a:sym typeface="Arial" panose="020B0604020202020204" pitchFamily="34" charset="0"/>
            </a:endParaRPr>
          </a:p>
        </p:txBody>
      </p:sp>
      <p:sp>
        <p:nvSpPr>
          <p:cNvPr id="107" name="矩形"/>
          <p:cNvSpPr/>
          <p:nvPr/>
        </p:nvSpPr>
        <p:spPr>
          <a:xfrm>
            <a:off x="6691051" y="5276023"/>
            <a:ext cx="2203200" cy="972000"/>
          </a:xfrm>
          <a:prstGeom prst="rect">
            <a:avLst/>
          </a:prstGeom>
          <a:solidFill>
            <a:srgbClr val="1E73F5"/>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600" b="0" i="0" u="none" strike="noStrike" kern="1200" cap="none" spc="0" normalizeH="0" baseline="0" noProof="0">
              <a:ln>
                <a:noFill/>
              </a:ln>
              <a:solidFill>
                <a:prstClr val="black"/>
              </a:solidFill>
              <a:effectLst/>
              <a:uLnTx/>
              <a:uFillTx/>
              <a:latin typeface="+mj-lt"/>
              <a:ea typeface="微软雅黑" panose="020B0503020204020204" pitchFamily="34" charset="-122"/>
              <a:sym typeface="Arial" panose="020B0604020202020204" pitchFamily="34" charset="0"/>
            </a:endParaRPr>
          </a:p>
        </p:txBody>
      </p:sp>
      <p:sp>
        <p:nvSpPr>
          <p:cNvPr id="108" name="矩形 107"/>
          <p:cNvSpPr/>
          <p:nvPr/>
        </p:nvSpPr>
        <p:spPr>
          <a:xfrm>
            <a:off x="6458350" y="5406882"/>
            <a:ext cx="2641575" cy="276999"/>
          </a:xfrm>
          <a:prstGeom prst="rect">
            <a:avLst/>
          </a:prstGeom>
        </p:spPr>
        <p:txBody>
          <a:bodyPr wrap="square" anchor="ctr">
            <a:spAutoFit/>
          </a:bodyPr>
          <a:lstStyle/>
          <a:p>
            <a:pPr algn="ctr"/>
            <a:r>
              <a:rPr lang="zh-CN" altLang="en-US" sz="1200" b="1">
                <a:solidFill>
                  <a:schemeClr val="bg1"/>
                </a:solidFill>
                <a:latin typeface="+mj-lt"/>
                <a:ea typeface="微软雅黑" panose="020B0503020204020204" pitchFamily="34" charset="-122"/>
                <a:sym typeface="Arial" panose="020B0604020202020204" pitchFamily="34" charset="0"/>
              </a:rPr>
              <a:t>高效</a:t>
            </a:r>
            <a:r>
              <a:rPr lang="en-US" altLang="zh-CN" sz="1200" b="1">
                <a:solidFill>
                  <a:schemeClr val="bg1"/>
                </a:solidFill>
                <a:latin typeface="+mj-lt"/>
                <a:ea typeface="微软雅黑" panose="020B0503020204020204" pitchFamily="34" charset="-122"/>
                <a:sym typeface="Arial" panose="020B0604020202020204" pitchFamily="34" charset="0"/>
              </a:rPr>
              <a:t>API</a:t>
            </a:r>
            <a:r>
              <a:rPr lang="zh-CN" altLang="en-US" sz="1200" b="1">
                <a:solidFill>
                  <a:schemeClr val="bg1"/>
                </a:solidFill>
                <a:latin typeface="+mj-lt"/>
                <a:ea typeface="微软雅黑" panose="020B0503020204020204" pitchFamily="34" charset="-122"/>
                <a:sym typeface="Arial" panose="020B0604020202020204" pitchFamily="34" charset="0"/>
              </a:rPr>
              <a:t>集成实现无缝连接</a:t>
            </a:r>
            <a:endParaRPr lang="zh-CN" altLang="en-US" sz="1200" b="1">
              <a:solidFill>
                <a:schemeClr val="bg1"/>
              </a:solidFill>
              <a:latin typeface="+mj-lt"/>
              <a:ea typeface="微软雅黑" panose="020B0503020204020204" pitchFamily="34" charset="-122"/>
              <a:sym typeface="Arial" panose="020B0604020202020204" pitchFamily="34" charset="0"/>
            </a:endParaRPr>
          </a:p>
        </p:txBody>
      </p:sp>
      <p:sp>
        <p:nvSpPr>
          <p:cNvPr id="109" name="矩形 108"/>
          <p:cNvSpPr/>
          <p:nvPr/>
        </p:nvSpPr>
        <p:spPr>
          <a:xfrm>
            <a:off x="6677238" y="5636856"/>
            <a:ext cx="2186600" cy="510717"/>
          </a:xfrm>
          <a:prstGeom prst="rect">
            <a:avLst/>
          </a:prstGeom>
        </p:spPr>
        <p:txBody>
          <a:bodyPr wrap="square" anchor="ctr">
            <a:spAutoFit/>
          </a:bodyPr>
          <a:lstStyle/>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提供多类</a:t>
            </a:r>
            <a:r>
              <a:rPr lang="en-US" altLang="zh-CN" sz="1100">
                <a:solidFill>
                  <a:schemeClr val="bg1"/>
                </a:solidFill>
                <a:latin typeface="+mj-lt"/>
                <a:ea typeface="微软雅黑" panose="020B0503020204020204" pitchFamily="34" charset="-122"/>
                <a:sym typeface="Arial" panose="020B0604020202020204" pitchFamily="34" charset="0"/>
              </a:rPr>
              <a:t>API</a:t>
            </a:r>
            <a:r>
              <a:rPr lang="zh-CN" altLang="en-US" sz="1100">
                <a:solidFill>
                  <a:schemeClr val="bg1"/>
                </a:solidFill>
                <a:latin typeface="+mj-lt"/>
                <a:ea typeface="微软雅黑" panose="020B0503020204020204" pitchFamily="34" charset="-122"/>
                <a:sym typeface="Arial" panose="020B0604020202020204" pitchFamily="34" charset="0"/>
              </a:rPr>
              <a:t>，支持内部灵活</a:t>
            </a:r>
            <a:endParaRPr lang="en-US" altLang="zh-CN" sz="1100">
              <a:solidFill>
                <a:schemeClr val="bg1"/>
              </a:solidFill>
              <a:latin typeface="+mj-lt"/>
              <a:ea typeface="微软雅黑" panose="020B0503020204020204" pitchFamily="34" charset="-122"/>
              <a:sym typeface="Arial" panose="020B0604020202020204" pitchFamily="34" charset="0"/>
            </a:endParaRPr>
          </a:p>
          <a:p>
            <a:pPr algn="ctr">
              <a:lnSpc>
                <a:spcPct val="130000"/>
              </a:lnSpc>
            </a:pPr>
            <a:r>
              <a:rPr lang="zh-CN" altLang="en-US" sz="1100">
                <a:solidFill>
                  <a:schemeClr val="bg1"/>
                </a:solidFill>
                <a:latin typeface="+mj-lt"/>
                <a:ea typeface="微软雅黑" panose="020B0503020204020204" pitchFamily="34" charset="-122"/>
                <a:sym typeface="Arial" panose="020B0604020202020204" pitchFamily="34" charset="0"/>
              </a:rPr>
              <a:t>查询和外部高效调用及集成</a:t>
            </a:r>
            <a:endParaRPr lang="en-US" altLang="zh-CN" sz="1100">
              <a:solidFill>
                <a:schemeClr val="bg1"/>
              </a:solidFill>
              <a:latin typeface="+mj-lt"/>
              <a:ea typeface="微软雅黑" panose="020B0503020204020204" pitchFamily="34" charset="-122"/>
              <a:sym typeface="Arial" panose="020B0604020202020204" pitchFamily="34" charset="0"/>
            </a:endParaRPr>
          </a:p>
        </p:txBody>
      </p:sp>
      <p:sp>
        <p:nvSpPr>
          <p:cNvPr id="120" name="矩形 119"/>
          <p:cNvSpPr/>
          <p:nvPr/>
        </p:nvSpPr>
        <p:spPr>
          <a:xfrm>
            <a:off x="4415750" y="1521425"/>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1100" b="0">
                <a:solidFill>
                  <a:schemeClr val="bg2">
                    <a:lumMod val="10000"/>
                  </a:schemeClr>
                </a:solidFill>
                <a:latin typeface="+mj-lt"/>
                <a:ea typeface="微软雅黑" panose="020B0503020204020204" pitchFamily="34" charset="-122"/>
                <a:sym typeface="Arial" panose="020B0604020202020204" pitchFamily="34" charset="0"/>
              </a:rPr>
              <a:t>7</a:t>
            </a:r>
            <a:r>
              <a:rPr lang="zh-CN" altLang="en-US" sz="1100" b="0">
                <a:solidFill>
                  <a:schemeClr val="bg2">
                    <a:lumMod val="10000"/>
                  </a:schemeClr>
                </a:solidFill>
                <a:latin typeface="+mj-lt"/>
                <a:ea typeface="微软雅黑" panose="020B0503020204020204" pitchFamily="34" charset="-122"/>
                <a:sym typeface="Arial" panose="020B0604020202020204" pitchFamily="34" charset="0"/>
              </a:rPr>
              <a:t>万</a:t>
            </a:r>
            <a:r>
              <a:rPr lang="en-US" altLang="zh-CN" sz="1100" b="0">
                <a:solidFill>
                  <a:schemeClr val="bg2">
                    <a:lumMod val="10000"/>
                  </a:schemeClr>
                </a:solidFill>
                <a:latin typeface="+mj-lt"/>
                <a:ea typeface="微软雅黑" panose="020B0503020204020204" pitchFamily="34" charset="-122"/>
                <a:sym typeface="Arial" panose="020B0604020202020204" pitchFamily="34" charset="0"/>
              </a:rPr>
              <a:t>+</a:t>
            </a:r>
            <a:r>
              <a:rPr lang="zh-CN" altLang="en-US" sz="1100" b="0">
                <a:solidFill>
                  <a:schemeClr val="bg2">
                    <a:lumMod val="10000"/>
                  </a:schemeClr>
                </a:solidFill>
                <a:latin typeface="+mj-lt"/>
                <a:ea typeface="微软雅黑" panose="020B0503020204020204" pitchFamily="34" charset="-122"/>
                <a:sym typeface="Arial" panose="020B0604020202020204" pitchFamily="34" charset="0"/>
              </a:rPr>
              <a:t>人</a:t>
            </a:r>
            <a:endParaRPr lang="en-US" altLang="zh-CN" sz="1100" b="0">
              <a:solidFill>
                <a:schemeClr val="bg2">
                  <a:lumMod val="10000"/>
                </a:schemeClr>
              </a:solidFill>
              <a:latin typeface="+mj-lt"/>
              <a:ea typeface="微软雅黑" panose="020B0503020204020204" pitchFamily="34" charset="-122"/>
              <a:sym typeface="Arial" panose="020B0604020202020204" pitchFamily="34" charset="0"/>
            </a:endParaRPr>
          </a:p>
        </p:txBody>
      </p:sp>
      <p:sp>
        <p:nvSpPr>
          <p:cNvPr id="121" name="矩形 120"/>
          <p:cNvSpPr/>
          <p:nvPr/>
        </p:nvSpPr>
        <p:spPr>
          <a:xfrm>
            <a:off x="4415750" y="1974944"/>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zh-CN" altLang="en-US" sz="1100" b="0" kern="1200">
                <a:solidFill>
                  <a:schemeClr val="bg2">
                    <a:lumMod val="10000"/>
                  </a:schemeClr>
                </a:solidFill>
                <a:latin typeface="+mj-lt"/>
                <a:ea typeface="微软雅黑" panose="020B0503020204020204" pitchFamily="34" charset="-122"/>
                <a:sym typeface="Arial" panose="020B0604020202020204" pitchFamily="34" charset="0"/>
              </a:rPr>
              <a:t>销售</a:t>
            </a:r>
            <a:endParaRPr lang="en-US" altLang="zh-CN" sz="1100" b="0" kern="1200">
              <a:solidFill>
                <a:schemeClr val="bg2">
                  <a:lumMod val="10000"/>
                </a:schemeClr>
              </a:solidFill>
              <a:latin typeface="+mj-lt"/>
              <a:ea typeface="微软雅黑" panose="020B0503020204020204" pitchFamily="34" charset="-122"/>
              <a:sym typeface="Arial" panose="020B0604020202020204" pitchFamily="34" charset="0"/>
            </a:endParaRPr>
          </a:p>
        </p:txBody>
      </p:sp>
      <p:sp>
        <p:nvSpPr>
          <p:cNvPr id="122" name="矩形 121"/>
          <p:cNvSpPr/>
          <p:nvPr/>
        </p:nvSpPr>
        <p:spPr>
          <a:xfrm>
            <a:off x="4415750" y="2420161"/>
            <a:ext cx="2203200" cy="111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878205">
              <a:lnSpc>
                <a:spcPct val="120000"/>
              </a:lnSpc>
              <a:defRPr/>
            </a:pP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满足中国区大客户部线索到现金流程需求、渠道伙伴管理需求、业务分析需求，实现对</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Salesforce</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的成功替代</a:t>
            </a:r>
            <a:endPar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123" name="矩形 122"/>
          <p:cNvSpPr/>
          <p:nvPr/>
        </p:nvSpPr>
        <p:spPr>
          <a:xfrm>
            <a:off x="4415750" y="3615375"/>
            <a:ext cx="2203200" cy="12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878205">
              <a:lnSpc>
                <a:spcPct val="120000"/>
              </a:lnSpc>
              <a:defRPr/>
            </a:pPr>
            <a:r>
              <a:rPr lang="zh-CN" altLang="en-US" sz="1100">
                <a:solidFill>
                  <a:schemeClr val="bg2">
                    <a:lumMod val="10000"/>
                  </a:schemeClr>
                </a:solidFill>
                <a:latin typeface="+mj-lt"/>
                <a:ea typeface="微软雅黑" panose="020B0503020204020204" pitchFamily="34" charset="-122"/>
                <a:sym typeface="Arial" panose="020B0604020202020204" pitchFamily="34" charset="0"/>
              </a:rPr>
              <a:t>提供</a:t>
            </a:r>
            <a:r>
              <a:rPr lang="zh-CN" altLang="en-US" sz="1100" b="1">
                <a:solidFill>
                  <a:srgbClr val="1E73F5"/>
                </a:solidFill>
                <a:latin typeface="+mj-lt"/>
                <a:ea typeface="微软雅黑" panose="020B0503020204020204" pitchFamily="34" charset="-122"/>
                <a:sym typeface="Arial" panose="020B0604020202020204" pitchFamily="34" charset="0"/>
              </a:rPr>
              <a:t>基于客户业务流程的企业</a:t>
            </a:r>
            <a:r>
              <a:rPr lang="en-US" altLang="zh-CN" sz="1100" b="1">
                <a:solidFill>
                  <a:srgbClr val="1E73F5"/>
                </a:solidFill>
                <a:latin typeface="+mj-lt"/>
                <a:ea typeface="微软雅黑" panose="020B0503020204020204" pitchFamily="34" charset="-122"/>
                <a:sym typeface="Arial" panose="020B0604020202020204" pitchFamily="34" charset="0"/>
              </a:rPr>
              <a:t>CRM</a:t>
            </a:r>
            <a:r>
              <a:rPr lang="zh-CN" altLang="en-US" sz="1100" b="1">
                <a:solidFill>
                  <a:srgbClr val="1E73F5"/>
                </a:solidFill>
                <a:latin typeface="+mj-lt"/>
                <a:ea typeface="微软雅黑" panose="020B0503020204020204" pitchFamily="34" charset="-122"/>
                <a:sym typeface="Arial" panose="020B0604020202020204" pitchFamily="34" charset="0"/>
              </a:rPr>
              <a:t>系统</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，通过</a:t>
            </a:r>
            <a:r>
              <a:rPr lang="en-US" altLang="zh-CN" sz="1100" b="1">
                <a:solidFill>
                  <a:srgbClr val="1E73F5"/>
                </a:solidFill>
                <a:latin typeface="+mj-lt"/>
                <a:ea typeface="微软雅黑" panose="020B0503020204020204" pitchFamily="34" charset="-122"/>
                <a:sym typeface="Arial" panose="020B0604020202020204" pitchFamily="34" charset="0"/>
              </a:rPr>
              <a:t>CRM</a:t>
            </a:r>
            <a:r>
              <a:rPr lang="zh-CN" altLang="en-US" sz="1100" b="1">
                <a:solidFill>
                  <a:srgbClr val="1E73F5"/>
                </a:solidFill>
                <a:latin typeface="+mj-lt"/>
                <a:ea typeface="微软雅黑" panose="020B0503020204020204" pitchFamily="34" charset="-122"/>
                <a:sym typeface="Arial" panose="020B0604020202020204" pitchFamily="34" charset="0"/>
              </a:rPr>
              <a:t>业务中台和数据集成</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，实现</a:t>
            </a:r>
            <a:r>
              <a:rPr lang="zh-CN" altLang="en-US" sz="1100" b="1">
                <a:solidFill>
                  <a:srgbClr val="1E73F5"/>
                </a:solidFill>
                <a:latin typeface="+mj-lt"/>
                <a:ea typeface="微软雅黑" panose="020B0503020204020204" pitchFamily="34" charset="-122"/>
                <a:sym typeface="Arial" panose="020B0604020202020204" pitchFamily="34" charset="0"/>
              </a:rPr>
              <a:t>销售自动化、伙伴及客户高效管理、智能业务分析等</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相关功能</a:t>
            </a:r>
            <a:endParaRPr lang="en-US" altLang="zh-CN" sz="1100">
              <a:solidFill>
                <a:schemeClr val="bg2">
                  <a:lumMod val="10000"/>
                </a:schemeClr>
              </a:solidFill>
              <a:latin typeface="+mj-lt"/>
              <a:ea typeface="微软雅黑" panose="020B0503020204020204" pitchFamily="34" charset="-122"/>
              <a:sym typeface="Arial" panose="020B0604020202020204" pitchFamily="34" charset="0"/>
            </a:endParaRPr>
          </a:p>
        </p:txBody>
      </p:sp>
      <p:pic>
        <p:nvPicPr>
          <p:cNvPr id="53" name="图片 52" descr="徽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29920" y="1057220"/>
            <a:ext cx="887602" cy="267668"/>
          </a:xfrm>
          <a:prstGeom prst="rect">
            <a:avLst/>
          </a:prstGeom>
        </p:spPr>
      </p:pic>
      <p:pic>
        <p:nvPicPr>
          <p:cNvPr id="54" name="Picture 2" descr="Lenovo logo vector by WindyThePlaneh on DeviantArt"/>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709" b="91262" l="2653" r="97551">
                        <a14:foregroundMark x1="20204" y1="64078" x2="20204" y2="64078"/>
                        <a14:foregroundMark x1="3469" y1="51456" x2="3469" y2="51456"/>
                        <a14:foregroundMark x1="20204" y1="65049" x2="20204" y2="65049"/>
                        <a14:foregroundMark x1="3878" y1="47573" x2="3878" y2="47573"/>
                        <a14:foregroundMark x1="3878" y1="49515" x2="3878" y2="49515"/>
                        <a14:foregroundMark x1="3878" y1="16505" x2="3878" y2="16505"/>
                        <a14:foregroundMark x1="3878" y1="16505" x2="4082" y2="68932"/>
                        <a14:foregroundMark x1="4286" y1="84466" x2="4286" y2="88350"/>
                        <a14:foregroundMark x1="7959" y1="88350" x2="12857" y2="88350"/>
                        <a14:foregroundMark x1="33878" y1="30097" x2="33878" y2="62136"/>
                        <a14:foregroundMark x1="43061" y1="31068" x2="43061" y2="31068"/>
                        <a14:foregroundMark x1="41633" y1="30097" x2="44898" y2="32039"/>
                        <a14:foregroundMark x1="55306" y1="31068" x2="52857" y2="40777"/>
                        <a14:foregroundMark x1="61633" y1="33981" x2="64082" y2="46602"/>
                        <a14:foregroundMark x1="64694" y1="65049" x2="61020" y2="83495"/>
                        <a14:foregroundMark x1="52653" y1="62136" x2="54490" y2="78641"/>
                        <a14:foregroundMark x1="70000" y1="39806" x2="71429" y2="62136"/>
                        <a14:foregroundMark x1="79388" y1="41748" x2="77959" y2="57282"/>
                        <a14:foregroundMark x1="77347" y1="78641" x2="76531" y2="91262"/>
                        <a14:foregroundMark x1="87959" y1="36893" x2="86122" y2="47573"/>
                        <a14:foregroundMark x1="94286" y1="35922" x2="96122" y2="48544"/>
                        <a14:foregroundMark x1="97755" y1="57282" x2="96122" y2="69903"/>
                        <a14:foregroundMark x1="35510" y1="91262" x2="35510" y2="91262"/>
                        <a14:foregroundMark x1="34490" y1="63107" x2="35306" y2="84466"/>
                        <a14:foregroundMark x1="47959" y1="57282" x2="47755" y2="80583"/>
                        <a14:foregroundMark x1="21020" y1="63107" x2="28776" y2="54369"/>
                        <a14:foregroundMark x1="17143" y1="49515" x2="17143" y2="67961"/>
                        <a14:foregroundMark x1="18571" y1="34951" x2="23061" y2="29126"/>
                        <a14:foregroundMark x1="20204" y1="88350" x2="23469" y2="89320"/>
                        <a14:foregroundMark x1="25918" y1="88350" x2="25918" y2="88350"/>
                        <a14:foregroundMark x1="28163" y1="83495" x2="28163" y2="83495"/>
                        <a14:foregroundMark x1="85306" y1="48544" x2="85306" y2="48544"/>
                        <a14:foregroundMark x1="85306" y1="64078" x2="85306" y2="64078"/>
                        <a14:foregroundMark x1="86327" y1="76699" x2="86327" y2="76699"/>
                        <a14:foregroundMark x1="87755" y1="83495" x2="91224" y2="88350"/>
                        <a14:foregroundMark x1="84694" y1="40777" x2="84694" y2="40777"/>
                        <a14:foregroundMark x1="84898" y1="41748" x2="84898" y2="45631"/>
                        <a14:foregroundMark x1="85102" y1="36893" x2="84082" y2="48544"/>
                      </a14:backgroundRemoval>
                    </a14:imgEffect>
                  </a14:imgLayer>
                </a14:imgProps>
              </a:ext>
              <a:ext uri="{28A0092B-C50C-407E-A947-70E740481C1C}">
                <a14:useLocalDpi xmlns:a14="http://schemas.microsoft.com/office/drawing/2010/main" val="0"/>
              </a:ext>
            </a:extLst>
          </a:blip>
          <a:srcRect/>
          <a:stretch>
            <a:fillRect/>
          </a:stretch>
        </p:blipFill>
        <p:spPr bwMode="auto">
          <a:xfrm>
            <a:off x="5125082" y="1066690"/>
            <a:ext cx="810198" cy="170307"/>
          </a:xfrm>
          <a:prstGeom prst="rect">
            <a:avLst/>
          </a:prstGeom>
          <a:noFill/>
          <a:extLst>
            <a:ext uri="{909E8E84-426E-40DD-AFC4-6F175D3DCCD1}">
              <a14:hiddenFill xmlns:a14="http://schemas.microsoft.com/office/drawing/2010/main">
                <a:solidFill>
                  <a:srgbClr val="FFFFFF"/>
                </a:solidFill>
              </a14:hiddenFill>
            </a:ext>
          </a:extLst>
        </p:spPr>
      </p:pic>
      <p:pic>
        <p:nvPicPr>
          <p:cNvPr id="55" name="图片 54" descr="文本&#10;&#10;描述已自动生成"/>
          <p:cNvPicPr>
            <a:picLocks noChangeAspect="1"/>
          </p:cNvPicPr>
          <p:nvPr/>
        </p:nvPicPr>
        <p:blipFill rotWithShape="1">
          <a:blip r:embed="rId4">
            <a:extLst>
              <a:ext uri="{28A0092B-C50C-407E-A947-70E740481C1C}">
                <a14:useLocalDpi xmlns:a14="http://schemas.microsoft.com/office/drawing/2010/main" val="0"/>
              </a:ext>
            </a:extLst>
          </a:blip>
          <a:srcRect b="20285"/>
          <a:stretch>
            <a:fillRect/>
          </a:stretch>
        </p:blipFill>
        <p:spPr>
          <a:xfrm>
            <a:off x="9631590" y="1026480"/>
            <a:ext cx="985620" cy="269467"/>
          </a:xfrm>
          <a:prstGeom prst="rect">
            <a:avLst/>
          </a:prstGeom>
        </p:spPr>
      </p:pic>
      <p:grpSp>
        <p:nvGrpSpPr>
          <p:cNvPr id="4" name="组合 3"/>
          <p:cNvGrpSpPr/>
          <p:nvPr/>
        </p:nvGrpSpPr>
        <p:grpSpPr>
          <a:xfrm>
            <a:off x="6681946" y="1521425"/>
            <a:ext cx="2203200" cy="3353156"/>
            <a:chOff x="8958802" y="1521425"/>
            <a:chExt cx="2203200" cy="3353156"/>
          </a:xfrm>
        </p:grpSpPr>
        <p:sp>
          <p:nvSpPr>
            <p:cNvPr id="47" name="矩形 46"/>
            <p:cNvSpPr/>
            <p:nvPr/>
          </p:nvSpPr>
          <p:spPr>
            <a:xfrm>
              <a:off x="8958802" y="1521425"/>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algn="ctr" defTabSz="914400" rtl="0" eaLnBrk="1" latinLnBrk="0" hangingPunct="1">
                <a:lnSpc>
                  <a:spcPct val="130000"/>
                </a:lnSpc>
              </a:pPr>
              <a:r>
                <a:rPr lang="en-US" altLang="zh-CN" sz="1100">
                  <a:solidFill>
                    <a:schemeClr val="bg2">
                      <a:lumMod val="10000"/>
                    </a:schemeClr>
                  </a:solidFill>
                  <a:latin typeface="+mj-lt"/>
                  <a:ea typeface="微软雅黑" panose="020B0503020204020204" pitchFamily="34" charset="-122"/>
                  <a:sym typeface="Arial" panose="020B0604020202020204" pitchFamily="34" charset="0"/>
                </a:rPr>
                <a:t>4</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万</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人</a:t>
              </a:r>
              <a:endPar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48" name="矩形 47"/>
            <p:cNvSpPr/>
            <p:nvPr/>
          </p:nvSpPr>
          <p:spPr>
            <a:xfrm>
              <a:off x="8958802" y="1974944"/>
              <a:ext cx="2203200" cy="3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销</a:t>
              </a:r>
              <a:r>
                <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rPr>
                <a:t>服</a:t>
              </a:r>
              <a:endParaRPr lang="zh-CN" altLang="en-US"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49" name="矩形 48"/>
            <p:cNvSpPr/>
            <p:nvPr/>
          </p:nvSpPr>
          <p:spPr>
            <a:xfrm>
              <a:off x="8958802" y="2420161"/>
              <a:ext cx="2203200" cy="111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878205" rtl="0" eaLnBrk="1" fontAlgn="auto" latinLnBrk="0" hangingPunct="1">
                <a:lnSpc>
                  <a:spcPct val="120000"/>
                </a:lnSpc>
                <a:spcBef>
                  <a:spcPts val="0"/>
                </a:spcBef>
                <a:spcAft>
                  <a:spcPts val="0"/>
                </a:spcAft>
                <a:buClrTx/>
                <a:buSzTx/>
                <a:buFontTx/>
                <a:buNone/>
                <a:defRPr/>
              </a:pPr>
              <a:r>
                <a:rPr lang="zh-CN" altLang="en-US" sz="1100">
                  <a:solidFill>
                    <a:schemeClr val="bg2">
                      <a:lumMod val="10000"/>
                    </a:schemeClr>
                  </a:solidFill>
                  <a:latin typeface="+mj-lt"/>
                  <a:ea typeface="微软雅黑" panose="020B0503020204020204" pitchFamily="34" charset="-122"/>
                  <a:sym typeface="Arial" panose="020B0604020202020204" pitchFamily="34" charset="0"/>
                </a:rPr>
                <a:t>短时间内亟需完成</a:t>
              </a:r>
              <a:r>
                <a:rPr lang="en-US" altLang="zh-CN" sz="1100">
                  <a:solidFill>
                    <a:schemeClr val="bg2">
                      <a:lumMod val="10000"/>
                    </a:schemeClr>
                  </a:solidFill>
                  <a:latin typeface="+mj-lt"/>
                  <a:ea typeface="微软雅黑" panose="020B0503020204020204" pitchFamily="34" charset="-122"/>
                  <a:sym typeface="Arial" panose="020B0604020202020204" pitchFamily="34" charset="0"/>
                </a:rPr>
                <a:t>CRM</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软件国产替代，支持覆盖全球</a:t>
              </a:r>
              <a:r>
                <a:rPr lang="en-US" altLang="zh-CN" sz="1100">
                  <a:solidFill>
                    <a:schemeClr val="bg2">
                      <a:lumMod val="10000"/>
                    </a:schemeClr>
                  </a:solidFill>
                  <a:latin typeface="+mj-lt"/>
                  <a:ea typeface="微软雅黑" panose="020B0503020204020204" pitchFamily="34" charset="-122"/>
                  <a:sym typeface="Arial" panose="020B0604020202020204" pitchFamily="34" charset="0"/>
                </a:rPr>
                <a:t>19</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个大区</a:t>
              </a:r>
              <a:r>
                <a:rPr lang="en-US" altLang="zh-CN" sz="1100">
                  <a:solidFill>
                    <a:schemeClr val="bg2">
                      <a:lumMod val="10000"/>
                    </a:schemeClr>
                  </a:solidFill>
                  <a:latin typeface="+mj-lt"/>
                  <a:ea typeface="微软雅黑" panose="020B0503020204020204" pitchFamily="34" charset="-122"/>
                  <a:sym typeface="Arial" panose="020B0604020202020204" pitchFamily="34" charset="0"/>
                </a:rPr>
                <a:t>150</a:t>
              </a:r>
              <a:r>
                <a:rPr lang="zh-CN" altLang="en-US" sz="1100">
                  <a:solidFill>
                    <a:schemeClr val="bg2">
                      <a:lumMod val="10000"/>
                    </a:schemeClr>
                  </a:solidFill>
                  <a:latin typeface="+mj-lt"/>
                  <a:ea typeface="微软雅黑" panose="020B0503020204020204" pitchFamily="34" charset="-122"/>
                  <a:sym typeface="Arial" panose="020B0604020202020204" pitchFamily="34" charset="0"/>
                </a:rPr>
                <a:t>余个国家的销售管理、服务管理</a:t>
              </a:r>
              <a:endParaRPr lang="en-US" altLang="zh-CN" sz="1100" b="0" kern="1200">
                <a:solidFill>
                  <a:schemeClr val="bg2">
                    <a:lumMod val="10000"/>
                  </a:schemeClr>
                </a:solidFill>
                <a:latin typeface="+mj-lt"/>
                <a:ea typeface="微软雅黑" panose="020B0503020204020204" pitchFamily="34" charset="-122"/>
                <a:cs typeface="+mn-cs"/>
                <a:sym typeface="Arial" panose="020B0604020202020204" pitchFamily="34" charset="0"/>
              </a:endParaRPr>
            </a:p>
          </p:txBody>
        </p:sp>
        <p:sp>
          <p:nvSpPr>
            <p:cNvPr id="50" name="矩形 49"/>
            <p:cNvSpPr/>
            <p:nvPr/>
          </p:nvSpPr>
          <p:spPr>
            <a:xfrm>
              <a:off x="8958802" y="3614581"/>
              <a:ext cx="2203200" cy="126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878205" rtl="0" eaLnBrk="1" fontAlgn="auto" latinLnBrk="0" hangingPunct="1">
                <a:lnSpc>
                  <a:spcPct val="120000"/>
                </a:lnSpc>
                <a:spcBef>
                  <a:spcPts val="0"/>
                </a:spcBef>
                <a:spcAft>
                  <a:spcPts val="0"/>
                </a:spcAft>
                <a:buClrTx/>
                <a:buSzTx/>
                <a:buFontTx/>
                <a:buNone/>
                <a:defRPr/>
              </a:pPr>
              <a:r>
                <a:rPr lang="zh-CN" altLang="en-US" sz="1100" kern="1200">
                  <a:solidFill>
                    <a:schemeClr val="bg2">
                      <a:lumMod val="10000"/>
                    </a:schemeClr>
                  </a:solidFill>
                  <a:latin typeface="+mj-lt"/>
                  <a:ea typeface="微软雅黑" panose="020B0503020204020204" pitchFamily="34" charset="-122"/>
                  <a:cs typeface="+mn-cs"/>
                  <a:sym typeface="Arial" panose="020B0604020202020204" pitchFamily="34" charset="0"/>
                </a:rPr>
                <a:t>提供</a:t>
              </a:r>
              <a:r>
                <a:rPr lang="zh-CN" altLang="en-US" sz="1100" b="1">
                  <a:solidFill>
                    <a:srgbClr val="1E73F5"/>
                  </a:solidFill>
                  <a:latin typeface="+mj-lt"/>
                  <a:ea typeface="微软雅黑" panose="020B0503020204020204" pitchFamily="34" charset="-122"/>
                  <a:sym typeface="Arial" panose="020B0604020202020204" pitchFamily="34" charset="0"/>
                </a:rPr>
                <a:t>基于</a:t>
              </a:r>
              <a:r>
                <a:rPr lang="en-US" altLang="zh-CN" sz="1100" b="1">
                  <a:solidFill>
                    <a:srgbClr val="1E73F5"/>
                  </a:solidFill>
                  <a:latin typeface="+mj-lt"/>
                  <a:ea typeface="微软雅黑" panose="020B0503020204020204" pitchFamily="34" charset="-122"/>
                  <a:sym typeface="Arial" panose="020B0604020202020204" pitchFamily="34" charset="0"/>
                </a:rPr>
                <a:t>PaaS</a:t>
              </a:r>
              <a:r>
                <a:rPr lang="zh-CN" altLang="en-US" sz="1100" b="1">
                  <a:solidFill>
                    <a:srgbClr val="1E73F5"/>
                  </a:solidFill>
                  <a:latin typeface="+mj-lt"/>
                  <a:ea typeface="微软雅黑" panose="020B0503020204020204" pitchFamily="34" charset="-122"/>
                  <a:sym typeface="Arial" panose="020B0604020202020204" pitchFamily="34" charset="0"/>
                </a:rPr>
                <a:t>平台</a:t>
              </a:r>
              <a:r>
                <a:rPr lang="zh-CN" altLang="en-US" sz="1100" kern="1200">
                  <a:solidFill>
                    <a:schemeClr val="bg2">
                      <a:lumMod val="10000"/>
                    </a:schemeClr>
                  </a:solidFill>
                  <a:latin typeface="+mj-lt"/>
                  <a:ea typeface="微软雅黑" panose="020B0503020204020204" pitchFamily="34" charset="-122"/>
                  <a:cs typeface="+mn-cs"/>
                  <a:sym typeface="Arial" panose="020B0604020202020204" pitchFamily="34" charset="0"/>
                </a:rPr>
                <a:t>的</a:t>
              </a:r>
              <a:r>
                <a:rPr lang="zh-CN" altLang="en-US" sz="1100" b="1">
                  <a:solidFill>
                    <a:srgbClr val="1E73F5"/>
                  </a:solidFill>
                  <a:latin typeface="+mj-lt"/>
                  <a:ea typeface="微软雅黑" panose="020B0503020204020204" pitchFamily="34" charset="-122"/>
                  <a:sym typeface="Arial" panose="020B0604020202020204" pitchFamily="34" charset="0"/>
                </a:rPr>
                <a:t>国际化销服一体解决方案</a:t>
              </a:r>
              <a:r>
                <a:rPr lang="zh-CN" altLang="en-US" sz="1100" kern="1200">
                  <a:solidFill>
                    <a:schemeClr val="bg2">
                      <a:lumMod val="10000"/>
                    </a:schemeClr>
                  </a:solidFill>
                  <a:latin typeface="+mj-lt"/>
                  <a:ea typeface="微软雅黑" panose="020B0503020204020204" pitchFamily="34" charset="-122"/>
                  <a:cs typeface="+mn-cs"/>
                  <a:sym typeface="Arial" panose="020B0604020202020204" pitchFamily="34" charset="0"/>
                </a:rPr>
                <a:t>，打造客户资源池，有效管理各级经销商，支持客服多渠道接入，无缝集成</a:t>
              </a:r>
              <a:r>
                <a:rPr lang="en-US" altLang="zh-CN" sz="1100" kern="1200">
                  <a:solidFill>
                    <a:schemeClr val="bg2">
                      <a:lumMod val="10000"/>
                    </a:schemeClr>
                  </a:solidFill>
                  <a:latin typeface="+mj-lt"/>
                  <a:ea typeface="微软雅黑" panose="020B0503020204020204" pitchFamily="34" charset="-122"/>
                  <a:cs typeface="+mn-cs"/>
                  <a:sym typeface="Arial" panose="020B0604020202020204" pitchFamily="34" charset="0"/>
                </a:rPr>
                <a:t>ERP</a:t>
              </a:r>
              <a:r>
                <a:rPr lang="zh-CN" altLang="en-US" sz="1100" kern="1200">
                  <a:solidFill>
                    <a:schemeClr val="bg2">
                      <a:lumMod val="10000"/>
                    </a:schemeClr>
                  </a:solidFill>
                  <a:latin typeface="+mj-lt"/>
                  <a:ea typeface="微软雅黑" panose="020B0503020204020204" pitchFamily="34" charset="-122"/>
                  <a:cs typeface="+mn-cs"/>
                  <a:sym typeface="Arial" panose="020B0604020202020204" pitchFamily="34" charset="0"/>
                </a:rPr>
                <a:t>，</a:t>
              </a:r>
              <a:r>
                <a:rPr lang="zh-CN" altLang="en-US" sz="1100" b="1">
                  <a:solidFill>
                    <a:srgbClr val="1E73F5"/>
                  </a:solidFill>
                  <a:latin typeface="+mj-lt"/>
                  <a:ea typeface="微软雅黑" panose="020B0503020204020204" pitchFamily="34" charset="-122"/>
                  <a:sym typeface="Arial" panose="020B0604020202020204" pitchFamily="34" charset="0"/>
                </a:rPr>
                <a:t>高效替换原有</a:t>
              </a:r>
              <a:r>
                <a:rPr lang="en-US" altLang="zh-CN" sz="1100" b="1">
                  <a:solidFill>
                    <a:srgbClr val="1E73F5"/>
                  </a:solidFill>
                  <a:latin typeface="+mj-lt"/>
                  <a:ea typeface="微软雅黑" panose="020B0503020204020204" pitchFamily="34" charset="-122"/>
                  <a:sym typeface="Arial" panose="020B0604020202020204" pitchFamily="34" charset="0"/>
                </a:rPr>
                <a:t>Salesforce</a:t>
              </a:r>
              <a:r>
                <a:rPr lang="zh-CN" altLang="en-US" sz="1100" kern="1200">
                  <a:solidFill>
                    <a:schemeClr val="bg2">
                      <a:lumMod val="10000"/>
                    </a:schemeClr>
                  </a:solidFill>
                  <a:latin typeface="+mj-lt"/>
                  <a:ea typeface="微软雅黑" panose="020B0503020204020204" pitchFamily="34" charset="-122"/>
                  <a:cs typeface="+mn-cs"/>
                  <a:sym typeface="Arial" panose="020B0604020202020204" pitchFamily="34" charset="0"/>
                </a:rPr>
                <a:t>产品</a:t>
              </a:r>
              <a:endParaRPr lang="en-US" altLang="zh-CN" sz="1100" kern="1200">
                <a:solidFill>
                  <a:srgbClr val="1E73F5"/>
                </a:solidFill>
                <a:latin typeface="+mj-lt"/>
                <a:ea typeface="微软雅黑" panose="020B0503020204020204" pitchFamily="34" charset="-122"/>
                <a:cs typeface="+mn-cs"/>
                <a:sym typeface="Arial" panose="020B0604020202020204" pitchFamily="34" charset="0"/>
              </a:endParaRPr>
            </a:p>
          </p:txBody>
        </p:sp>
      </p:grpSp>
      <p:pic>
        <p:nvPicPr>
          <p:cNvPr id="51" name="Picture 50" descr="HIKVISION是什么牌子_海康威视品牌怎么样?-百强网"/>
          <p:cNvPicPr>
            <a:picLocks noChangeAspect="1" noChangeArrowheads="1"/>
          </p:cNvPicPr>
          <p:nvPr/>
        </p:nvPicPr>
        <p:blipFill rotWithShape="1">
          <a:blip r:embed="rId5">
            <a:extLst>
              <a:ext uri="{28A0092B-C50C-407E-A947-70E740481C1C}">
                <a14:useLocalDpi xmlns:a14="http://schemas.microsoft.com/office/drawing/2010/main" val="0"/>
              </a:ext>
            </a:extLst>
          </a:blip>
          <a:srcRect t="17836" r="1137" b="4369"/>
          <a:stretch>
            <a:fillRect/>
          </a:stretch>
        </p:blipFill>
        <p:spPr bwMode="auto">
          <a:xfrm>
            <a:off x="7168816" y="984307"/>
            <a:ext cx="887602" cy="332598"/>
          </a:xfrm>
          <a:prstGeom prst="rect">
            <a:avLst/>
          </a:prstGeom>
          <a:noFill/>
          <a:extLst>
            <a:ext uri="{909E8E84-426E-40DD-AFC4-6F175D3DCCD1}">
              <a14:hiddenFill xmlns:a14="http://schemas.microsoft.com/office/drawing/2010/main">
                <a:solidFill>
                  <a:srgbClr val="FFFFFF"/>
                </a:solidFill>
              </a14:hiddenFill>
            </a:ext>
          </a:extLst>
        </p:spPr>
      </p:pic>
      <p:sp>
        <p:nvSpPr>
          <p:cNvPr id="64" name="Shape 136"/>
          <p:cNvSpPr/>
          <p:nvPr/>
        </p:nvSpPr>
        <p:spPr>
          <a:xfrm>
            <a:off x="2019186" y="5272277"/>
            <a:ext cx="44627" cy="972000"/>
          </a:xfrm>
          <a:prstGeom prst="rect">
            <a:avLst/>
          </a:prstGeom>
          <a:solidFill>
            <a:schemeClr val="tx1"/>
          </a:solidFill>
          <a:ln w="12700">
            <a:miter lim="400000"/>
          </a:ln>
        </p:spPr>
        <p:txBody>
          <a:bodyPr lIns="54051" tIns="54051" rIns="54051" bIns="54051" anchor="ctr"/>
          <a:lstStyle/>
          <a:p>
            <a:pPr marL="0" marR="0" lvl="0" indent="0" algn="ctr" defTabSz="914400" rtl="0" eaLnBrk="1" fontAlgn="auto" latinLnBrk="0" hangingPunct="1">
              <a:lnSpc>
                <a:spcPct val="100000"/>
              </a:lnSpc>
              <a:spcBef>
                <a:spcPts val="0"/>
              </a:spcBef>
              <a:spcAft>
                <a:spcPts val="0"/>
              </a:spcAft>
              <a:buClrTx/>
              <a:buSzTx/>
              <a:buFontTx/>
              <a:buNone/>
              <a:defRPr sz="2800"/>
            </a:pPr>
            <a:endParaRPr kumimoji="0" sz="1200" i="0" u="none" strike="noStrike" kern="1200" cap="none" spc="0" normalizeH="0" baseline="0" noProof="0">
              <a:ln>
                <a:noFill/>
              </a:ln>
              <a:solidFill>
                <a:schemeClr val="tx2"/>
              </a:solidFill>
              <a:effectLst/>
              <a:uLnTx/>
              <a:uFillTx/>
              <a:latin typeface="+mj-lt"/>
              <a:ea typeface="微软雅黑" panose="020B0503020204020204" pitchFamily="34" charset="-122"/>
              <a:cs typeface="+mn-ea"/>
              <a:sym typeface="Arial" panose="020B0604020202020204" pitchFamily="34" charset="0"/>
            </a:endParaRPr>
          </a:p>
        </p:txBody>
      </p:sp>
      <p:sp>
        <p:nvSpPr>
          <p:cNvPr id="65" name="Shape 136"/>
          <p:cNvSpPr/>
          <p:nvPr/>
        </p:nvSpPr>
        <p:spPr>
          <a:xfrm>
            <a:off x="939111" y="5272277"/>
            <a:ext cx="44627" cy="972000"/>
          </a:xfrm>
          <a:prstGeom prst="rect">
            <a:avLst/>
          </a:prstGeom>
          <a:solidFill>
            <a:schemeClr val="tx1"/>
          </a:solidFill>
          <a:ln w="12700">
            <a:miter lim="400000"/>
          </a:ln>
        </p:spPr>
        <p:txBody>
          <a:bodyPr lIns="54051" tIns="54051" rIns="54051" bIns="54051" anchor="ctr"/>
          <a:lstStyle/>
          <a:p>
            <a:pPr marL="0" marR="0" lvl="0" indent="0" algn="ctr" defTabSz="914400" rtl="0" eaLnBrk="1" fontAlgn="auto" latinLnBrk="0" hangingPunct="1">
              <a:lnSpc>
                <a:spcPct val="100000"/>
              </a:lnSpc>
              <a:spcBef>
                <a:spcPts val="0"/>
              </a:spcBef>
              <a:spcAft>
                <a:spcPts val="0"/>
              </a:spcAft>
              <a:buClrTx/>
              <a:buSzTx/>
              <a:buFontTx/>
              <a:buNone/>
              <a:defRPr sz="2800"/>
            </a:pPr>
            <a:endParaRPr kumimoji="0" sz="1200" i="0" u="none" strike="noStrike" kern="1200" cap="none" spc="0" normalizeH="0" baseline="0" noProof="0">
              <a:ln>
                <a:noFill/>
              </a:ln>
              <a:solidFill>
                <a:schemeClr val="tx2"/>
              </a:solidFill>
              <a:effectLst/>
              <a:uLnTx/>
              <a:uFillTx/>
              <a:latin typeface="+mj-lt"/>
              <a:ea typeface="微软雅黑" panose="020B0503020204020204" pitchFamily="34" charset="-122"/>
              <a:cs typeface="+mn-ea"/>
              <a:sym typeface="Arial" panose="020B0604020202020204" pitchFamily="34" charset="0"/>
            </a:endParaRPr>
          </a:p>
        </p:txBody>
      </p:sp>
      <p:sp>
        <p:nvSpPr>
          <p:cNvPr id="66" name="梯形 65"/>
          <p:cNvSpPr/>
          <p:nvPr/>
        </p:nvSpPr>
        <p:spPr>
          <a:xfrm>
            <a:off x="983739" y="4940164"/>
            <a:ext cx="10178264" cy="252426"/>
          </a:xfrm>
          <a:prstGeom prst="trapezoid">
            <a:avLst>
              <a:gd name="adj" fmla="val 544037"/>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96000" y="479615"/>
            <a:ext cx="10800000" cy="368300"/>
          </a:xfrm>
        </p:spPr>
        <p:txBody>
          <a:bodyPr/>
          <a:lstStyle/>
          <a:p>
            <a:r>
              <a:rPr lang="zh-CN" altLang="en-US"/>
              <a:t>与客户一同成长</a:t>
            </a:r>
            <a:endParaRPr lang="zh-CN" altLang="en-US"/>
          </a:p>
        </p:txBody>
      </p:sp>
      <p:sp>
        <p:nvSpPr>
          <p:cNvPr id="2" name="灯片编号占位符 1"/>
          <p:cNvSpPr>
            <a:spLocks noGrp="1"/>
          </p:cNvSpPr>
          <p:nvPr>
            <p:ph type="sldNum" sz="quarter" idx="4294967295"/>
          </p:nvPr>
        </p:nvSpPr>
        <p:spPr>
          <a:xfrm>
            <a:off x="9448800" y="6356350"/>
            <a:ext cx="2743200" cy="365125"/>
          </a:xfrm>
        </p:spPr>
        <p:txBody>
          <a:bodyPr/>
          <a:lstStyle/>
          <a:p>
            <a:fld id="{83FF20C7-02B7-4EF6-8B33-0F816EA93A6B}" type="slidenum">
              <a:rPr lang="zh-CN" altLang="en-US" smtClean="0"/>
            </a:fld>
            <a:endParaRPr lang="zh-CN" altLang="en-US"/>
          </a:p>
        </p:txBody>
      </p:sp>
      <p:pic>
        <p:nvPicPr>
          <p:cNvPr id="5" name="图片 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1078865" y="1171575"/>
            <a:ext cx="10312400" cy="4771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2662291"/>
            <a:ext cx="12192000" cy="18844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64881" y="1345222"/>
            <a:ext cx="11478357" cy="4822581"/>
          </a:xfrm>
          <a:prstGeom prst="rect">
            <a:avLst/>
          </a:prstGeom>
          <a:solidFill>
            <a:schemeClr val="bg1"/>
          </a:solidFill>
          <a:ln>
            <a:noFill/>
          </a:ln>
          <a:effectLst>
            <a:outerShdw blurRad="254000" dist="38100" dir="5400000" algn="t" rotWithShape="0">
              <a:schemeClr val="dk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p:txBody>
          <a:bodyPr>
            <a:normAutofit/>
          </a:bodyPr>
          <a:lstStyle/>
          <a:p>
            <a:r>
              <a:rPr lang="zh-CN" altLang="en-US" dirty="0">
                <a:cs typeface="+mn-ea"/>
                <a:sym typeface="+mn-lt"/>
              </a:rPr>
              <a:t>销售易的优势</a:t>
            </a:r>
            <a:endParaRPr lang="zh-CN" altLang="en-US"/>
          </a:p>
        </p:txBody>
      </p:sp>
      <p:grpSp>
        <p:nvGrpSpPr>
          <p:cNvPr id="47" name="组 34"/>
          <p:cNvGrpSpPr/>
          <p:nvPr/>
        </p:nvGrpSpPr>
        <p:grpSpPr>
          <a:xfrm>
            <a:off x="7266029" y="3499969"/>
            <a:ext cx="3368687" cy="983790"/>
            <a:chOff x="5610021" y="3544970"/>
            <a:chExt cx="3495578" cy="1020848"/>
          </a:xfrm>
        </p:grpSpPr>
        <p:grpSp>
          <p:nvGrpSpPr>
            <p:cNvPr id="48" name="组合 60"/>
            <p:cNvGrpSpPr/>
            <p:nvPr/>
          </p:nvGrpSpPr>
          <p:grpSpPr>
            <a:xfrm>
              <a:off x="6451139" y="3544970"/>
              <a:ext cx="2654460" cy="1020848"/>
              <a:chOff x="0" y="-128330"/>
              <a:chExt cx="3539279" cy="1361125"/>
            </a:xfrm>
          </p:grpSpPr>
          <p:sp>
            <p:nvSpPr>
              <p:cNvPr id="50" name="矩形 61"/>
              <p:cNvSpPr txBox="1"/>
              <p:nvPr/>
            </p:nvSpPr>
            <p:spPr>
              <a:xfrm>
                <a:off x="3" y="368296"/>
                <a:ext cx="3539276" cy="864499"/>
              </a:xfrm>
              <a:prstGeom prst="rect">
                <a:avLst/>
              </a:prstGeom>
              <a:noFill/>
              <a:ln w="12700" cap="flat">
                <a:noFill/>
                <a:miter lim="400000"/>
              </a:ln>
              <a:effectLst/>
            </p:spPr>
            <p:txBody>
              <a:bodyPr wrap="square" lIns="35999" tIns="35999" rIns="35999" bIns="35999" numCol="1" anchor="t">
                <a:spAutoFit/>
              </a:bodyPr>
              <a:lstStyle/>
              <a:p>
                <a:pPr>
                  <a:lnSpc>
                    <a:spcPct val="120000"/>
                  </a:lnSpc>
                  <a:spcBef>
                    <a:spcPct val="0"/>
                  </a:spcBef>
                </a:pP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铁四边一条龙团队，轻咨询</a:t>
                </a:r>
                <a:r>
                  <a:rPr lang="en-US" altLang="zh-CN"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专业交付</a:t>
                </a:r>
                <a:r>
                  <a:rPr lang="en-US" altLang="zh-CN"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客户成功</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无缝结合的服务与支持，保证客户满意度</a:t>
                </a:r>
                <a:endPar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1" name="矩形 62"/>
              <p:cNvSpPr txBox="1"/>
              <p:nvPr/>
            </p:nvSpPr>
            <p:spPr>
              <a:xfrm>
                <a:off x="0" y="-128330"/>
                <a:ext cx="2164602" cy="538564"/>
              </a:xfrm>
              <a:prstGeom prst="rect">
                <a:avLst/>
              </a:prstGeom>
              <a:noFill/>
              <a:ln w="12700" cap="flat">
                <a:noFill/>
                <a:miter lim="400000"/>
              </a:ln>
              <a:effectLst/>
            </p:spPr>
            <p:txBody>
              <a:bodyPr wrap="square" lIns="35999" tIns="35999" rIns="35999" bIns="35999" numCol="1" anchor="t">
                <a:spAutoFit/>
              </a:bodyPr>
              <a:lstStyle>
                <a:lvl1pPr algn="just">
                  <a:lnSpc>
                    <a:spcPct val="120000"/>
                  </a:lnSpc>
                  <a:defRPr b="1">
                    <a:solidFill>
                      <a:srgbClr val="2A2A2A"/>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dirty="0">
                    <a:solidFill>
                      <a:srgbClr val="1C69D4"/>
                    </a:solidFill>
                    <a:cs typeface="+mn-ea"/>
                    <a:sym typeface="+mn-lt"/>
                  </a:rPr>
                  <a:t>服务优势</a:t>
                </a:r>
                <a:endParaRPr lang="zh-CN" altLang="en-US" dirty="0">
                  <a:solidFill>
                    <a:srgbClr val="1C69D4"/>
                  </a:solidFill>
                  <a:cs typeface="+mn-ea"/>
                  <a:sym typeface="+mn-lt"/>
                </a:endParaRPr>
              </a:p>
            </p:txBody>
          </p:sp>
        </p:grpSp>
        <p:cxnSp>
          <p:nvCxnSpPr>
            <p:cNvPr id="49" name="直接连接符 28"/>
            <p:cNvCxnSpPr/>
            <p:nvPr/>
          </p:nvCxnSpPr>
          <p:spPr>
            <a:xfrm>
              <a:off x="5610021" y="3752827"/>
              <a:ext cx="679569" cy="0"/>
            </a:xfrm>
            <a:prstGeom prst="line">
              <a:avLst/>
            </a:prstGeom>
            <a:ln w="9525">
              <a:solidFill>
                <a:schemeClr val="bg1">
                  <a:lumMod val="75000"/>
                </a:schemeClr>
              </a:solidFill>
              <a:prstDash val="solid"/>
              <a:tailEnd type="oval" w="sm" len="sm"/>
            </a:ln>
          </p:spPr>
          <p:style>
            <a:lnRef idx="1">
              <a:schemeClr val="accent1"/>
            </a:lnRef>
            <a:fillRef idx="0">
              <a:schemeClr val="accent1"/>
            </a:fillRef>
            <a:effectRef idx="0">
              <a:schemeClr val="accent1"/>
            </a:effectRef>
            <a:fontRef idx="minor">
              <a:schemeClr val="tx1"/>
            </a:fontRef>
          </p:style>
        </p:cxnSp>
      </p:grpSp>
      <p:grpSp>
        <p:nvGrpSpPr>
          <p:cNvPr id="54" name="组 45"/>
          <p:cNvGrpSpPr/>
          <p:nvPr/>
        </p:nvGrpSpPr>
        <p:grpSpPr>
          <a:xfrm>
            <a:off x="526744" y="3483101"/>
            <a:ext cx="3940537" cy="742160"/>
            <a:chOff x="-904234" y="3545611"/>
            <a:chExt cx="4088969" cy="770116"/>
          </a:xfrm>
        </p:grpSpPr>
        <p:grpSp>
          <p:nvGrpSpPr>
            <p:cNvPr id="55" name="组合 66"/>
            <p:cNvGrpSpPr/>
            <p:nvPr/>
          </p:nvGrpSpPr>
          <p:grpSpPr>
            <a:xfrm>
              <a:off x="-904234" y="3545611"/>
              <a:ext cx="3283636" cy="770116"/>
              <a:chOff x="-1562820" y="-127475"/>
              <a:chExt cx="4378179" cy="1026818"/>
            </a:xfrm>
          </p:grpSpPr>
          <p:sp>
            <p:nvSpPr>
              <p:cNvPr id="58" name="矩形 67"/>
              <p:cNvSpPr txBox="1"/>
              <p:nvPr/>
            </p:nvSpPr>
            <p:spPr>
              <a:xfrm>
                <a:off x="-1562820" y="375723"/>
                <a:ext cx="4378179" cy="523620"/>
              </a:xfrm>
              <a:prstGeom prst="rect">
                <a:avLst/>
              </a:prstGeom>
              <a:noFill/>
              <a:ln w="12700" cap="flat">
                <a:noFill/>
                <a:miter lim="400000"/>
              </a:ln>
              <a:effectLst/>
            </p:spPr>
            <p:txBody>
              <a:bodyPr wrap="square" lIns="35999" tIns="35999" rIns="35999" bIns="35999" numCol="1"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2pPr lvl="1" algn="r">
                  <a:defRPr sz="1200">
                    <a:solidFill>
                      <a:schemeClr val="bg1">
                        <a:lumMod val="50000"/>
                      </a:schemeClr>
                    </a:solidFill>
                    <a:latin typeface="苹方-简" panose="020B0400000000000000" pitchFamily="2" charset="-120"/>
                    <a:ea typeface="苹方-简" panose="020B0400000000000000" pitchFamily="2" charset="-120"/>
                    <a:cs typeface="苹方-简" panose="020B0400000000000000" pitchFamily="2" charset="-120"/>
                  </a:defRPr>
                </a:lvl2pPr>
              </a:lstStyle>
              <a:p>
                <a:pPr algn="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基于移动、社交、云、大数据、</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AI</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IoT</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打造全新一代移动</a:t>
                </a:r>
                <a:r>
                  <a:rPr lang="en-US" altLang="zh-CN"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CRM</a:t>
                </a:r>
                <a:endParaRPr lang="en-US" altLang="zh-CN"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9" name="矩形 68"/>
              <p:cNvSpPr txBox="1"/>
              <p:nvPr/>
            </p:nvSpPr>
            <p:spPr>
              <a:xfrm>
                <a:off x="626271" y="-127475"/>
                <a:ext cx="2098473" cy="517452"/>
              </a:xfrm>
              <a:prstGeom prst="rect">
                <a:avLst/>
              </a:prstGeom>
              <a:noFill/>
              <a:ln w="12700" cap="flat">
                <a:noFill/>
                <a:miter lim="400000"/>
              </a:ln>
              <a:effectLst/>
            </p:spPr>
            <p:txBody>
              <a:bodyPr wrap="square" lIns="35999" tIns="35999" rIns="35999" bIns="35999" numCol="1"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r">
                  <a:lnSpc>
                    <a:spcPct val="120000"/>
                  </a:lnSpc>
                  <a:defRPr sz="1890" b="1">
                    <a:solidFill>
                      <a:srgbClr val="1C69D4"/>
                    </a:solidFill>
                    <a:latin typeface="苹方-简" panose="020B0400000000000000" pitchFamily="2" charset="-120"/>
                    <a:ea typeface="苹方-简" panose="020B0400000000000000" pitchFamily="2" charset="-120"/>
                    <a:cs typeface="苹方-简" panose="020B0400000000000000" pitchFamily="2" charset="-120"/>
                  </a:defRPr>
                </a:lvl1pPr>
              </a:lstStyle>
              <a:p>
                <a:r>
                  <a:rPr lang="zh-CN" altLang="en-US" sz="1800" dirty="0">
                    <a:latin typeface="微软雅黑" panose="020B0503020204020204" pitchFamily="34" charset="-122"/>
                    <a:ea typeface="微软雅黑" panose="020B0503020204020204" pitchFamily="34" charset="-122"/>
                    <a:cs typeface="+mn-ea"/>
                    <a:sym typeface="+mn-lt"/>
                  </a:rPr>
                  <a:t>创新优势</a:t>
                </a:r>
                <a:endParaRPr lang="zh-CN" altLang="en-US" sz="1800" dirty="0">
                  <a:latin typeface="微软雅黑" panose="020B0503020204020204" pitchFamily="34" charset="-122"/>
                  <a:ea typeface="微软雅黑" panose="020B0503020204020204" pitchFamily="34" charset="-122"/>
                  <a:cs typeface="+mn-ea"/>
                  <a:sym typeface="+mn-lt"/>
                </a:endParaRPr>
              </a:p>
            </p:txBody>
          </p:sp>
        </p:grpSp>
        <p:cxnSp>
          <p:nvCxnSpPr>
            <p:cNvPr id="56" name="直接连接符 28"/>
            <p:cNvCxnSpPr/>
            <p:nvPr/>
          </p:nvCxnSpPr>
          <p:spPr>
            <a:xfrm flipH="1">
              <a:off x="2547233" y="3767807"/>
              <a:ext cx="637502" cy="0"/>
            </a:xfrm>
            <a:prstGeom prst="line">
              <a:avLst/>
            </a:prstGeom>
            <a:ln w="9525">
              <a:solidFill>
                <a:schemeClr val="bg1">
                  <a:lumMod val="75000"/>
                </a:schemeClr>
              </a:solidFill>
              <a:prstDash val="solid"/>
              <a:tailEnd type="oval" w="sm" len="sm"/>
            </a:ln>
          </p:spPr>
          <p:style>
            <a:lnRef idx="1">
              <a:schemeClr val="accent1"/>
            </a:lnRef>
            <a:fillRef idx="0">
              <a:schemeClr val="accent1"/>
            </a:fillRef>
            <a:effectRef idx="0">
              <a:schemeClr val="accent1"/>
            </a:effectRef>
            <a:fontRef idx="minor">
              <a:schemeClr val="tx1"/>
            </a:fontRef>
          </p:style>
        </p:cxnSp>
      </p:grpSp>
      <p:grpSp>
        <p:nvGrpSpPr>
          <p:cNvPr id="60" name="组 52"/>
          <p:cNvGrpSpPr/>
          <p:nvPr/>
        </p:nvGrpSpPr>
        <p:grpSpPr>
          <a:xfrm>
            <a:off x="7266028" y="1767452"/>
            <a:ext cx="3368688" cy="900897"/>
            <a:chOff x="5610021" y="1648873"/>
            <a:chExt cx="3495580" cy="934832"/>
          </a:xfrm>
        </p:grpSpPr>
        <p:grpSp>
          <p:nvGrpSpPr>
            <p:cNvPr id="61" name="组合 57"/>
            <p:cNvGrpSpPr/>
            <p:nvPr/>
          </p:nvGrpSpPr>
          <p:grpSpPr>
            <a:xfrm>
              <a:off x="6451139" y="1648873"/>
              <a:ext cx="2654462" cy="934832"/>
              <a:chOff x="0" y="-128332"/>
              <a:chExt cx="4282529" cy="1246438"/>
            </a:xfrm>
          </p:grpSpPr>
          <p:sp>
            <p:nvSpPr>
              <p:cNvPr id="63" name="矩形 58"/>
              <p:cNvSpPr txBox="1"/>
              <p:nvPr/>
            </p:nvSpPr>
            <p:spPr>
              <a:xfrm>
                <a:off x="2" y="380998"/>
                <a:ext cx="4282527" cy="737108"/>
              </a:xfrm>
              <a:prstGeom prst="rect">
                <a:avLst/>
              </a:prstGeom>
              <a:noFill/>
              <a:ln w="12700" cap="flat">
                <a:noFill/>
                <a:miter lim="400000"/>
              </a:ln>
              <a:effectLst/>
            </p:spPr>
            <p:txBody>
              <a:bodyPr wrap="square" lIns="35999" tIns="35999" rIns="35999" bIns="35999" numCol="1"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r">
                  <a:defRPr sz="1200">
                    <a:solidFill>
                      <a:schemeClr val="bg1">
                        <a:lumMod val="65000"/>
                      </a:schemeClr>
                    </a:solidFill>
                    <a:latin typeface="苹方 细体" panose="020B0200000000000000" pitchFamily="34" charset="-122"/>
                    <a:ea typeface="苹方 细体" panose="020B0200000000000000" pitchFamily="34" charset="-122"/>
                  </a:defRPr>
                </a:lvl1pPr>
                <a:lvl2pPr lvl="1" algn="r">
                  <a:defRPr sz="1200">
                    <a:solidFill>
                      <a:schemeClr val="bg1">
                        <a:lumMod val="50000"/>
                      </a:schemeClr>
                    </a:solidFill>
                    <a:latin typeface="苹方-简" panose="020B0400000000000000" pitchFamily="2" charset="-120"/>
                    <a:ea typeface="苹方-简" panose="020B0400000000000000" pitchFamily="2" charset="-120"/>
                    <a:cs typeface="苹方-简" panose="020B0400000000000000" pitchFamily="2" charset="-120"/>
                  </a:defRPr>
                </a:lvl2pPr>
              </a:lstStyle>
              <a:p>
                <a:pPr algn="l"/>
                <a:r>
                  <a:rPr lang="zh-CN" altLang="en-US" sz="1000" b="1" dirty="0">
                    <a:solidFill>
                      <a:schemeClr val="tx1"/>
                    </a:solidFill>
                    <a:latin typeface="微软雅黑" panose="020B0503020204020204" pitchFamily="34" charset="-122"/>
                    <a:ea typeface="微软雅黑" panose="020B0503020204020204" pitchFamily="34" charset="-122"/>
                    <a:cs typeface="+mn-ea"/>
                    <a:sym typeface="+mn-lt"/>
                  </a:rPr>
                  <a:t>腾讯、红杉资本、经纬中国</a:t>
                </a:r>
                <a:r>
                  <a:rPr lang="zh-CN" altLang="en-US" sz="1000" dirty="0">
                    <a:solidFill>
                      <a:schemeClr val="tx1"/>
                    </a:solidFill>
                    <a:latin typeface="微软雅黑" panose="020B0503020204020204" pitchFamily="34" charset="-122"/>
                    <a:ea typeface="微软雅黑" panose="020B0503020204020204" pitchFamily="34" charset="-122"/>
                    <a:cs typeface="+mn-ea"/>
                    <a:sym typeface="+mn-lt"/>
                  </a:rPr>
                  <a:t>鼎力支持，保障产品、技术、服务、运营全面领先</a:t>
                </a:r>
                <a:endParaRPr lang="en-US" altLang="zh-CN" sz="1000" dirty="0">
                  <a:solidFill>
                    <a:schemeClr val="tx1"/>
                  </a:solidFill>
                  <a:latin typeface="微软雅黑" panose="020B0503020204020204" pitchFamily="34" charset="-122"/>
                  <a:ea typeface="微软雅黑" panose="020B0503020204020204" pitchFamily="34" charset="-122"/>
                  <a:cs typeface="+mn-ea"/>
                  <a:sym typeface="+mn-lt"/>
                </a:endParaRPr>
              </a:p>
              <a:p>
                <a:pPr algn="l"/>
                <a:endParaRPr lang="en-US" altLang="zh-CN" sz="100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64" name="矩形 59"/>
              <p:cNvSpPr txBox="1"/>
              <p:nvPr/>
            </p:nvSpPr>
            <p:spPr>
              <a:xfrm>
                <a:off x="0" y="-128332"/>
                <a:ext cx="3396116" cy="521533"/>
              </a:xfrm>
              <a:prstGeom prst="rect">
                <a:avLst/>
              </a:prstGeom>
              <a:noFill/>
              <a:ln w="12700" cap="flat">
                <a:noFill/>
                <a:miter lim="400000"/>
              </a:ln>
              <a:effectLst/>
            </p:spPr>
            <p:txBody>
              <a:bodyPr wrap="square" lIns="35999" tIns="35999" rIns="35999" bIns="35999" numCol="1" anchor="t">
                <a:spAutoFit/>
              </a:bodyPr>
              <a:lstStyle>
                <a:lvl1pPr algn="just">
                  <a:lnSpc>
                    <a:spcPct val="120000"/>
                  </a:lnSpc>
                  <a:defRPr b="1">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dirty="0">
                    <a:solidFill>
                      <a:srgbClr val="1C69D4"/>
                    </a:solidFill>
                    <a:cs typeface="+mn-ea"/>
                    <a:sym typeface="+mn-lt"/>
                  </a:rPr>
                  <a:t>资本优势</a:t>
                </a:r>
                <a:endParaRPr lang="zh-CN" altLang="en-US" dirty="0">
                  <a:solidFill>
                    <a:srgbClr val="1C69D4"/>
                  </a:solidFill>
                  <a:cs typeface="+mn-ea"/>
                  <a:sym typeface="+mn-lt"/>
                </a:endParaRPr>
              </a:p>
            </p:txBody>
          </p:sp>
        </p:grpSp>
        <p:cxnSp>
          <p:nvCxnSpPr>
            <p:cNvPr id="62" name="直接连接符 28"/>
            <p:cNvCxnSpPr/>
            <p:nvPr/>
          </p:nvCxnSpPr>
          <p:spPr>
            <a:xfrm>
              <a:off x="5610021" y="1861139"/>
              <a:ext cx="679569" cy="0"/>
            </a:xfrm>
            <a:prstGeom prst="line">
              <a:avLst/>
            </a:prstGeom>
            <a:ln w="9525">
              <a:solidFill>
                <a:schemeClr val="bg1">
                  <a:lumMod val="75000"/>
                </a:schemeClr>
              </a:solidFill>
              <a:prstDash val="solid"/>
              <a:tailEnd type="oval" w="sm" len="sm"/>
            </a:ln>
          </p:spPr>
          <p:style>
            <a:lnRef idx="1">
              <a:schemeClr val="accent1"/>
            </a:lnRef>
            <a:fillRef idx="0">
              <a:schemeClr val="accent1"/>
            </a:fillRef>
            <a:effectRef idx="0">
              <a:schemeClr val="accent1"/>
            </a:effectRef>
            <a:fontRef idx="minor">
              <a:schemeClr val="tx1"/>
            </a:fontRef>
          </p:style>
        </p:cxnSp>
      </p:grpSp>
      <p:grpSp>
        <p:nvGrpSpPr>
          <p:cNvPr id="65" name="组 59"/>
          <p:cNvGrpSpPr/>
          <p:nvPr/>
        </p:nvGrpSpPr>
        <p:grpSpPr>
          <a:xfrm>
            <a:off x="821055" y="1727835"/>
            <a:ext cx="3715385" cy="993775"/>
            <a:chOff x="-179665" y="1648874"/>
            <a:chExt cx="3646883" cy="1031326"/>
          </a:xfrm>
        </p:grpSpPr>
        <p:grpSp>
          <p:nvGrpSpPr>
            <p:cNvPr id="66" name="组合 63"/>
            <p:cNvGrpSpPr/>
            <p:nvPr/>
          </p:nvGrpSpPr>
          <p:grpSpPr>
            <a:xfrm>
              <a:off x="-179665" y="1648874"/>
              <a:ext cx="2799714" cy="1031326"/>
              <a:chOff x="-596729" y="-166829"/>
              <a:chExt cx="3732949" cy="1375096"/>
            </a:xfrm>
          </p:grpSpPr>
          <p:sp>
            <p:nvSpPr>
              <p:cNvPr id="68" name="矩形 64"/>
              <p:cNvSpPr txBox="1"/>
              <p:nvPr/>
            </p:nvSpPr>
            <p:spPr>
              <a:xfrm>
                <a:off x="-596729" y="343670"/>
                <a:ext cx="3658307" cy="864597"/>
              </a:xfrm>
              <a:prstGeom prst="rect">
                <a:avLst/>
              </a:prstGeom>
              <a:noFill/>
              <a:ln w="12700" cap="flat">
                <a:noFill/>
                <a:miter lim="400000"/>
              </a:ln>
              <a:effectLst/>
            </p:spPr>
            <p:txBody>
              <a:bodyPr wrap="square" lIns="35999" tIns="35999" rIns="35999" bIns="35999" numCol="1" anchor="t">
                <a:spAutoFit/>
              </a:bodyPr>
              <a:lstStyle/>
              <a:p>
                <a:pPr algn="r">
                  <a:lnSpc>
                    <a:spcPct val="120000"/>
                  </a:lnSpc>
                  <a:defRPr/>
                </a:pP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汇聚</a:t>
                </a: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企业应用与互联网专家</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，核心团队多由来自于</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SAP</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Oracle</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IBM</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Salesforce</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、埃森哲等</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IT</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企业级专家和国内</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BAT</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的互联网精英组成</a:t>
                </a:r>
                <a:endPar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9" name="矩形 65"/>
              <p:cNvSpPr txBox="1"/>
              <p:nvPr/>
            </p:nvSpPr>
            <p:spPr>
              <a:xfrm>
                <a:off x="861481" y="-166829"/>
                <a:ext cx="2274739" cy="521592"/>
              </a:xfrm>
              <a:prstGeom prst="rect">
                <a:avLst/>
              </a:prstGeom>
              <a:noFill/>
              <a:ln w="12700" cap="flat">
                <a:noFill/>
                <a:miter lim="400000"/>
              </a:ln>
              <a:effectLst/>
            </p:spPr>
            <p:txBody>
              <a:bodyPr wrap="square" lIns="35999" tIns="35999" rIns="35999" bIns="35999" numCol="1" anchor="t">
                <a:spAutoFit/>
              </a:bodyPr>
              <a:lstStyle>
                <a:lvl1pPr algn="r">
                  <a:lnSpc>
                    <a:spcPct val="120000"/>
                  </a:lnSpc>
                  <a:defRPr b="1">
                    <a:solidFill>
                      <a:srgbClr val="252425"/>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solidFill>
                      <a:srgbClr val="1C69D4"/>
                    </a:solidFill>
                    <a:cs typeface="+mn-ea"/>
                    <a:sym typeface="+mn-lt"/>
                  </a:rPr>
                  <a:t>团队优势</a:t>
                </a:r>
                <a:endParaRPr lang="zh-CN" altLang="en-US" dirty="0">
                  <a:solidFill>
                    <a:srgbClr val="1C69D4"/>
                  </a:solidFill>
                  <a:cs typeface="+mn-ea"/>
                  <a:sym typeface="+mn-lt"/>
                </a:endParaRPr>
              </a:p>
            </p:txBody>
          </p:sp>
        </p:grpSp>
        <p:cxnSp>
          <p:nvCxnSpPr>
            <p:cNvPr id="67" name="直接连接符 28"/>
            <p:cNvCxnSpPr/>
            <p:nvPr/>
          </p:nvCxnSpPr>
          <p:spPr>
            <a:xfrm flipH="1">
              <a:off x="2829716" y="1862116"/>
              <a:ext cx="637502" cy="0"/>
            </a:xfrm>
            <a:prstGeom prst="line">
              <a:avLst/>
            </a:prstGeom>
            <a:ln w="9525">
              <a:solidFill>
                <a:schemeClr val="bg1">
                  <a:lumMod val="75000"/>
                </a:schemeClr>
              </a:solidFill>
              <a:prstDash val="solid"/>
              <a:tailEnd type="oval" w="sm" len="sm"/>
            </a:ln>
          </p:spPr>
          <p:style>
            <a:lnRef idx="1">
              <a:schemeClr val="accent1"/>
            </a:lnRef>
            <a:fillRef idx="0">
              <a:schemeClr val="accent1"/>
            </a:fillRef>
            <a:effectRef idx="0">
              <a:schemeClr val="accent1"/>
            </a:effectRef>
            <a:fontRef idx="minor">
              <a:schemeClr val="tx1"/>
            </a:fontRef>
          </p:style>
        </p:cxnSp>
      </p:grpSp>
      <p:sp>
        <p:nvSpPr>
          <p:cNvPr id="70" name="任意多边形 5"/>
          <p:cNvSpPr/>
          <p:nvPr/>
        </p:nvSpPr>
        <p:spPr>
          <a:xfrm rot="10800000">
            <a:off x="5582499" y="3070041"/>
            <a:ext cx="1688907" cy="1300426"/>
          </a:xfrm>
          <a:custGeom>
            <a:avLst/>
            <a:gdLst/>
            <a:ahLst/>
            <a:cxnLst>
              <a:cxn ang="0">
                <a:pos x="wd2" y="hd2"/>
              </a:cxn>
              <a:cxn ang="5400000">
                <a:pos x="wd2" y="hd2"/>
              </a:cxn>
              <a:cxn ang="10800000">
                <a:pos x="wd2" y="hd2"/>
              </a:cxn>
              <a:cxn ang="16200000">
                <a:pos x="wd2" y="hd2"/>
              </a:cxn>
            </a:cxnLst>
            <a:rect l="0" t="0" r="r" b="b"/>
            <a:pathLst>
              <a:path w="21420" h="21600" extrusionOk="0">
                <a:moveTo>
                  <a:pt x="6561" y="21600"/>
                </a:moveTo>
                <a:lnTo>
                  <a:pt x="6224" y="20944"/>
                </a:lnTo>
                <a:cubicBezTo>
                  <a:pt x="5981" y="20584"/>
                  <a:pt x="5698" y="20264"/>
                  <a:pt x="5382" y="19996"/>
                </a:cubicBezTo>
                <a:cubicBezTo>
                  <a:pt x="4116" y="18921"/>
                  <a:pt x="2503" y="18840"/>
                  <a:pt x="1178" y="19783"/>
                </a:cubicBezTo>
                <a:cubicBezTo>
                  <a:pt x="846" y="20019"/>
                  <a:pt x="546" y="20310"/>
                  <a:pt x="283" y="20643"/>
                </a:cubicBezTo>
                <a:lnTo>
                  <a:pt x="0" y="21111"/>
                </a:lnTo>
                <a:lnTo>
                  <a:pt x="245" y="19012"/>
                </a:lnTo>
                <a:cubicBezTo>
                  <a:pt x="1940" y="8162"/>
                  <a:pt x="9270" y="0"/>
                  <a:pt x="18056" y="0"/>
                </a:cubicBezTo>
                <a:lnTo>
                  <a:pt x="19039" y="65"/>
                </a:lnTo>
                <a:lnTo>
                  <a:pt x="19775" y="477"/>
                </a:lnTo>
                <a:cubicBezTo>
                  <a:pt x="20286" y="875"/>
                  <a:pt x="20717" y="1450"/>
                  <a:pt x="21011" y="2159"/>
                </a:cubicBezTo>
                <a:cubicBezTo>
                  <a:pt x="21600" y="3578"/>
                  <a:pt x="21549" y="5304"/>
                  <a:pt x="20879" y="6658"/>
                </a:cubicBezTo>
                <a:cubicBezTo>
                  <a:pt x="20376" y="7674"/>
                  <a:pt x="19585" y="8359"/>
                  <a:pt x="18703" y="8586"/>
                </a:cubicBezTo>
                <a:lnTo>
                  <a:pt x="18459" y="8604"/>
                </a:lnTo>
                <a:lnTo>
                  <a:pt x="18056" y="8578"/>
                </a:lnTo>
                <a:cubicBezTo>
                  <a:pt x="12435" y="8578"/>
                  <a:pt x="7746" y="13799"/>
                  <a:pt x="6661" y="20741"/>
                </a:cubicBezTo>
                <a:lnTo>
                  <a:pt x="6561" y="21600"/>
                </a:lnTo>
                <a:close/>
              </a:path>
            </a:pathLst>
          </a:custGeom>
          <a:solidFill>
            <a:srgbClr val="FFCB00"/>
          </a:solidFill>
          <a:ln>
            <a:noFill/>
          </a:ln>
          <a:effectLst>
            <a:outerShdw blurRad="254000" dist="63500" dir="5400000" sx="102000" sy="102000" algn="t" rotWithShape="0">
              <a:prstClr val="black">
                <a:alpha val="31000"/>
              </a:prstClr>
            </a:outerShdw>
          </a:effectLst>
        </p:spPr>
        <p:txBody>
          <a:bodyPr wrap="square" lIns="35999" tIns="35999" rIns="35999" bIns="35999" numCol="1" anchor="ctr">
            <a:noAutofit/>
          </a:bodyPr>
          <a:lstStyle/>
          <a:p>
            <a:pPr algn="ctr"/>
            <a:endParaRPr sz="1400" dirty="0">
              <a:solidFill>
                <a:schemeClr val="tx1">
                  <a:lumMod val="85000"/>
                  <a:lumOff val="15000"/>
                </a:schemeClr>
              </a:solidFill>
              <a:cs typeface="+mn-ea"/>
              <a:sym typeface="+mn-lt"/>
            </a:endParaRPr>
          </a:p>
        </p:txBody>
      </p:sp>
      <p:sp>
        <p:nvSpPr>
          <p:cNvPr id="71" name="任意多边形 4"/>
          <p:cNvSpPr/>
          <p:nvPr/>
        </p:nvSpPr>
        <p:spPr>
          <a:xfrm rot="10800000">
            <a:off x="4430898" y="2821473"/>
            <a:ext cx="1259835" cy="1518409"/>
          </a:xfrm>
          <a:custGeom>
            <a:avLst/>
            <a:gdLst/>
            <a:ahLst/>
            <a:cxnLst>
              <a:cxn ang="0">
                <a:pos x="wd2" y="hd2"/>
              </a:cxn>
              <a:cxn ang="5400000">
                <a:pos x="wd2" y="hd2"/>
              </a:cxn>
              <a:cxn ang="10800000">
                <a:pos x="wd2" y="hd2"/>
              </a:cxn>
              <a:cxn ang="16200000">
                <a:pos x="wd2" y="hd2"/>
              </a:cxn>
            </a:cxnLst>
            <a:rect l="0" t="0" r="r" b="b"/>
            <a:pathLst>
              <a:path w="21600" h="21577" extrusionOk="0">
                <a:moveTo>
                  <a:pt x="16928" y="21574"/>
                </a:moveTo>
                <a:cubicBezTo>
                  <a:pt x="16125" y="21549"/>
                  <a:pt x="15330" y="21347"/>
                  <a:pt x="14631" y="20971"/>
                </a:cubicBezTo>
                <a:cubicBezTo>
                  <a:pt x="13931" y="20596"/>
                  <a:pt x="13384" y="20077"/>
                  <a:pt x="13028" y="19479"/>
                </a:cubicBezTo>
                <a:lnTo>
                  <a:pt x="12794" y="18908"/>
                </a:lnTo>
                <a:lnTo>
                  <a:pt x="12787" y="18781"/>
                </a:lnTo>
                <a:lnTo>
                  <a:pt x="12580" y="17657"/>
                </a:lnTo>
                <a:lnTo>
                  <a:pt x="12570" y="17518"/>
                </a:lnTo>
                <a:lnTo>
                  <a:pt x="12554" y="17517"/>
                </a:lnTo>
                <a:lnTo>
                  <a:pt x="12548" y="17487"/>
                </a:lnTo>
                <a:cubicBezTo>
                  <a:pt x="11292" y="12396"/>
                  <a:pt x="6454" y="8387"/>
                  <a:pt x="312" y="7345"/>
                </a:cubicBezTo>
                <a:lnTo>
                  <a:pt x="0" y="7306"/>
                </a:lnTo>
                <a:lnTo>
                  <a:pt x="835" y="6840"/>
                </a:lnTo>
                <a:cubicBezTo>
                  <a:pt x="1206" y="6568"/>
                  <a:pt x="1536" y="6252"/>
                  <a:pt x="1813" y="5897"/>
                </a:cubicBezTo>
                <a:cubicBezTo>
                  <a:pt x="2922" y="4479"/>
                  <a:pt x="3006" y="2671"/>
                  <a:pt x="2032" y="1187"/>
                </a:cubicBezTo>
                <a:cubicBezTo>
                  <a:pt x="1789" y="815"/>
                  <a:pt x="1489" y="479"/>
                  <a:pt x="1144" y="184"/>
                </a:cubicBezTo>
                <a:lnTo>
                  <a:pt x="864" y="0"/>
                </a:lnTo>
                <a:lnTo>
                  <a:pt x="2097" y="156"/>
                </a:lnTo>
                <a:cubicBezTo>
                  <a:pt x="12497" y="1920"/>
                  <a:pt x="20504" y="9128"/>
                  <a:pt x="21595" y="18030"/>
                </a:cubicBezTo>
                <a:lnTo>
                  <a:pt x="21600" y="18113"/>
                </a:lnTo>
                <a:lnTo>
                  <a:pt x="21485" y="18816"/>
                </a:lnTo>
                <a:cubicBezTo>
                  <a:pt x="21160" y="19787"/>
                  <a:pt x="20373" y="20625"/>
                  <a:pt x="19275" y="21120"/>
                </a:cubicBezTo>
                <a:cubicBezTo>
                  <a:pt x="18543" y="21449"/>
                  <a:pt x="17731" y="21600"/>
                  <a:pt x="16928" y="21574"/>
                </a:cubicBezTo>
                <a:close/>
              </a:path>
            </a:pathLst>
          </a:custGeom>
          <a:solidFill>
            <a:srgbClr val="1C69D4"/>
          </a:solidFill>
          <a:ln>
            <a:noFill/>
          </a:ln>
          <a:effectLst>
            <a:outerShdw blurRad="254000" dist="63500" dir="5400000" sx="102000" sy="102000" algn="t" rotWithShape="0">
              <a:prstClr val="black">
                <a:alpha val="31000"/>
              </a:prstClr>
            </a:outerShdw>
          </a:effectLst>
        </p:spPr>
        <p:txBody>
          <a:bodyPr wrap="square" lIns="35999" tIns="35999" rIns="35999" bIns="35999" numCol="1" anchor="ctr">
            <a:noAutofit/>
          </a:bodyPr>
          <a:lstStyle/>
          <a:p>
            <a:pPr algn="ctr">
              <a:defRPr>
                <a:solidFill>
                  <a:srgbClr val="FFFFFF"/>
                </a:solidFill>
                <a:latin typeface="Arial" panose="020B0604020202020204"/>
                <a:ea typeface="Arial" panose="020B0604020202020204"/>
                <a:cs typeface="Arial" panose="020B0604020202020204"/>
                <a:sym typeface="Arial" panose="020B0604020202020204"/>
              </a:defRPr>
            </a:pPr>
            <a:endParaRPr sz="1400" dirty="0">
              <a:solidFill>
                <a:schemeClr val="tx1">
                  <a:lumMod val="85000"/>
                  <a:lumOff val="15000"/>
                </a:schemeClr>
              </a:solidFill>
              <a:cs typeface="+mn-ea"/>
              <a:sym typeface="+mn-lt"/>
            </a:endParaRPr>
          </a:p>
        </p:txBody>
      </p:sp>
      <p:sp>
        <p:nvSpPr>
          <p:cNvPr id="72" name="任意多边形 3"/>
          <p:cNvSpPr/>
          <p:nvPr/>
        </p:nvSpPr>
        <p:spPr>
          <a:xfrm rot="10800000">
            <a:off x="6024119" y="1543944"/>
            <a:ext cx="1272834" cy="1640878"/>
          </a:xfrm>
          <a:custGeom>
            <a:avLst/>
            <a:gdLst/>
            <a:ahLst/>
            <a:cxnLst>
              <a:cxn ang="0">
                <a:pos x="wd2" y="hd2"/>
              </a:cxn>
              <a:cxn ang="5400000">
                <a:pos x="wd2" y="hd2"/>
              </a:cxn>
              <a:cxn ang="10800000">
                <a:pos x="wd2" y="hd2"/>
              </a:cxn>
              <a:cxn ang="16200000">
                <a:pos x="wd2" y="hd2"/>
              </a:cxn>
            </a:cxnLst>
            <a:rect l="0" t="0" r="r" b="b"/>
            <a:pathLst>
              <a:path w="21600" h="21414" extrusionOk="0">
                <a:moveTo>
                  <a:pt x="20970" y="21414"/>
                </a:moveTo>
                <a:lnTo>
                  <a:pt x="19425" y="21233"/>
                </a:lnTo>
                <a:cubicBezTo>
                  <a:pt x="8339" y="19488"/>
                  <a:pt x="0" y="11945"/>
                  <a:pt x="0" y="2904"/>
                </a:cubicBezTo>
                <a:lnTo>
                  <a:pt x="17" y="2645"/>
                </a:lnTo>
                <a:lnTo>
                  <a:pt x="36" y="2535"/>
                </a:lnTo>
                <a:cubicBezTo>
                  <a:pt x="358" y="1644"/>
                  <a:pt x="1137" y="874"/>
                  <a:pt x="2224" y="420"/>
                </a:cubicBezTo>
                <a:cubicBezTo>
                  <a:pt x="3673" y="-186"/>
                  <a:pt x="5437" y="-134"/>
                  <a:pt x="6821" y="556"/>
                </a:cubicBezTo>
                <a:cubicBezTo>
                  <a:pt x="7513" y="901"/>
                  <a:pt x="8054" y="1378"/>
                  <a:pt x="8407" y="1926"/>
                </a:cubicBezTo>
                <a:lnTo>
                  <a:pt x="8773" y="2758"/>
                </a:lnTo>
                <a:lnTo>
                  <a:pt x="8764" y="2904"/>
                </a:lnTo>
                <a:cubicBezTo>
                  <a:pt x="8764" y="8688"/>
                  <a:pt x="14099" y="13514"/>
                  <a:pt x="21191" y="14630"/>
                </a:cubicBezTo>
                <a:lnTo>
                  <a:pt x="21600" y="14678"/>
                </a:lnTo>
                <a:lnTo>
                  <a:pt x="20872" y="15054"/>
                </a:lnTo>
                <a:cubicBezTo>
                  <a:pt x="20505" y="15305"/>
                  <a:pt x="20178" y="15595"/>
                  <a:pt x="19904" y="15921"/>
                </a:cubicBezTo>
                <a:cubicBezTo>
                  <a:pt x="18806" y="17223"/>
                  <a:pt x="18723" y="18883"/>
                  <a:pt x="19687" y="20247"/>
                </a:cubicBezTo>
                <a:cubicBezTo>
                  <a:pt x="19928" y="20588"/>
                  <a:pt x="20225" y="20897"/>
                  <a:pt x="20566" y="21168"/>
                </a:cubicBezTo>
                <a:lnTo>
                  <a:pt x="20970" y="21414"/>
                </a:lnTo>
                <a:close/>
              </a:path>
            </a:pathLst>
          </a:custGeom>
          <a:solidFill>
            <a:srgbClr val="1C69D4"/>
          </a:solidFill>
          <a:ln>
            <a:noFill/>
          </a:ln>
          <a:effectLst>
            <a:outerShdw blurRad="254000" dist="63500" dir="5400000" sx="102000" sy="102000" algn="t" rotWithShape="0">
              <a:prstClr val="black">
                <a:alpha val="31000"/>
              </a:prstClr>
            </a:outerShdw>
          </a:effectLst>
        </p:spPr>
        <p:txBody>
          <a:bodyPr wrap="square" lIns="35999" tIns="35999" rIns="35999" bIns="35999" numCol="1" anchor="ctr">
            <a:noAutofit/>
          </a:bodyPr>
          <a:lstStyle/>
          <a:p>
            <a:pPr algn="ctr"/>
            <a:endParaRPr sz="1400" dirty="0">
              <a:solidFill>
                <a:schemeClr val="tx1">
                  <a:lumMod val="85000"/>
                  <a:lumOff val="15000"/>
                </a:schemeClr>
              </a:solidFill>
              <a:cs typeface="+mn-ea"/>
              <a:sym typeface="+mn-lt"/>
            </a:endParaRPr>
          </a:p>
        </p:txBody>
      </p:sp>
      <p:sp>
        <p:nvSpPr>
          <p:cNvPr id="73" name="任意多边形 2"/>
          <p:cNvSpPr/>
          <p:nvPr/>
        </p:nvSpPr>
        <p:spPr>
          <a:xfrm rot="10800000">
            <a:off x="4435497" y="1512412"/>
            <a:ext cx="1686210" cy="1416684"/>
          </a:xfrm>
          <a:custGeom>
            <a:avLst/>
            <a:gdLst/>
            <a:ahLst/>
            <a:cxnLst>
              <a:cxn ang="0">
                <a:pos x="wd2" y="hd2"/>
              </a:cxn>
              <a:cxn ang="5400000">
                <a:pos x="wd2" y="hd2"/>
              </a:cxn>
              <a:cxn ang="10800000">
                <a:pos x="wd2" y="hd2"/>
              </a:cxn>
              <a:cxn ang="16200000">
                <a:pos x="wd2" y="hd2"/>
              </a:cxn>
            </a:cxnLst>
            <a:rect l="0" t="0" r="r" b="b"/>
            <a:pathLst>
              <a:path w="21419" h="21600" extrusionOk="0">
                <a:moveTo>
                  <a:pt x="3220" y="21600"/>
                </a:moveTo>
                <a:lnTo>
                  <a:pt x="2632" y="21564"/>
                </a:lnTo>
                <a:lnTo>
                  <a:pt x="2468" y="21538"/>
                </a:lnTo>
                <a:cubicBezTo>
                  <a:pt x="1600" y="21249"/>
                  <a:pt x="851" y="20549"/>
                  <a:pt x="409" y="19572"/>
                </a:cubicBezTo>
                <a:cubicBezTo>
                  <a:pt x="-181" y="18270"/>
                  <a:pt x="-130" y="16686"/>
                  <a:pt x="541" y="15442"/>
                </a:cubicBezTo>
                <a:cubicBezTo>
                  <a:pt x="877" y="14821"/>
                  <a:pt x="1341" y="14334"/>
                  <a:pt x="1875" y="14017"/>
                </a:cubicBezTo>
                <a:lnTo>
                  <a:pt x="2672" y="13693"/>
                </a:lnTo>
                <a:lnTo>
                  <a:pt x="3220" y="13726"/>
                </a:lnTo>
                <a:cubicBezTo>
                  <a:pt x="9252" y="13726"/>
                  <a:pt x="14213" y="8224"/>
                  <a:pt x="14810" y="1173"/>
                </a:cubicBezTo>
                <a:lnTo>
                  <a:pt x="14842" y="408"/>
                </a:lnTo>
                <a:lnTo>
                  <a:pt x="14923" y="552"/>
                </a:lnTo>
                <a:cubicBezTo>
                  <a:pt x="15166" y="882"/>
                  <a:pt x="15449" y="1176"/>
                  <a:pt x="15766" y="1423"/>
                </a:cubicBezTo>
                <a:cubicBezTo>
                  <a:pt x="17034" y="2409"/>
                  <a:pt x="18649" y="2484"/>
                  <a:pt x="19977" y="1618"/>
                </a:cubicBezTo>
                <a:cubicBezTo>
                  <a:pt x="20309" y="1401"/>
                  <a:pt x="20609" y="1134"/>
                  <a:pt x="20873" y="828"/>
                </a:cubicBezTo>
                <a:lnTo>
                  <a:pt x="21419" y="0"/>
                </a:lnTo>
                <a:lnTo>
                  <a:pt x="21336" y="1978"/>
                </a:lnTo>
                <a:cubicBezTo>
                  <a:pt x="20403" y="12999"/>
                  <a:pt x="12648" y="21600"/>
                  <a:pt x="3220" y="21600"/>
                </a:cubicBezTo>
                <a:close/>
              </a:path>
            </a:pathLst>
          </a:custGeom>
          <a:solidFill>
            <a:srgbClr val="FFCB00"/>
          </a:solidFill>
          <a:ln>
            <a:noFill/>
          </a:ln>
          <a:effectLst>
            <a:outerShdw blurRad="254000" dist="63500" dir="5400000" sx="102000" sy="102000" algn="t" rotWithShape="0">
              <a:prstClr val="black">
                <a:alpha val="31000"/>
              </a:prstClr>
            </a:outerShdw>
          </a:effectLst>
        </p:spPr>
        <p:txBody>
          <a:bodyPr wrap="square" lIns="35999" tIns="35999" rIns="35999" bIns="35999" numCol="1" anchor="ctr">
            <a:noAutofit/>
          </a:bodyPr>
          <a:lstStyle/>
          <a:p>
            <a:pPr algn="ctr"/>
            <a:endParaRPr sz="1400" dirty="0">
              <a:solidFill>
                <a:schemeClr val="tx1">
                  <a:lumMod val="85000"/>
                  <a:lumOff val="15000"/>
                </a:schemeClr>
              </a:solidFill>
              <a:cs typeface="+mn-ea"/>
              <a:sym typeface="+mn-lt"/>
            </a:endParaRPr>
          </a:p>
        </p:txBody>
      </p:sp>
      <p:sp>
        <p:nvSpPr>
          <p:cNvPr id="74" name="100%客户导向"/>
          <p:cNvSpPr txBox="1"/>
          <p:nvPr/>
        </p:nvSpPr>
        <p:spPr>
          <a:xfrm>
            <a:off x="5229908" y="3061123"/>
            <a:ext cx="1315720" cy="501650"/>
          </a:xfrm>
          <a:prstGeom prst="rect">
            <a:avLst/>
          </a:prstGeom>
          <a:ln w="12700">
            <a:miter lim="400000"/>
          </a:ln>
        </p:spPr>
        <p:txBody>
          <a:bodyPr wrap="none" lIns="35999" tIns="35999" rIns="35999" bIns="35999">
            <a:spAutoFit/>
          </a:bodyPr>
          <a:lstStyle>
            <a:lvl1pPr>
              <a:defRPr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重塑企业与客户</a:t>
            </a:r>
            <a:endPar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a:p>
            <a:pPr algn="ct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的连接</a:t>
            </a:r>
            <a:endParaRPr lang="en-US" sz="14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pSp>
        <p:nvGrpSpPr>
          <p:cNvPr id="75" name="组 83"/>
          <p:cNvGrpSpPr/>
          <p:nvPr/>
        </p:nvGrpSpPr>
        <p:grpSpPr>
          <a:xfrm>
            <a:off x="5653002" y="1641510"/>
            <a:ext cx="259927" cy="269149"/>
            <a:chOff x="5583377" y="2098237"/>
            <a:chExt cx="367570" cy="380608"/>
          </a:xfrm>
          <a:solidFill>
            <a:schemeClr val="tx1">
              <a:lumMod val="75000"/>
              <a:lumOff val="25000"/>
            </a:schemeClr>
          </a:solidFill>
        </p:grpSpPr>
        <p:sp>
          <p:nvSpPr>
            <p:cNvPr id="76" name="Freeform 19">
              <a:hlinkClick r:id="rId1"/>
            </p:cNvPr>
            <p:cNvSpPr/>
            <p:nvPr/>
          </p:nvSpPr>
          <p:spPr bwMode="auto">
            <a:xfrm>
              <a:off x="5844646" y="2170734"/>
              <a:ext cx="106301" cy="244072"/>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20090"/>
              <a:endParaRPr lang="zh-CN" altLang="en-US" sz="1400">
                <a:solidFill>
                  <a:schemeClr val="tx1">
                    <a:lumMod val="85000"/>
                    <a:lumOff val="15000"/>
                  </a:schemeClr>
                </a:solidFill>
                <a:cs typeface="+mn-ea"/>
                <a:sym typeface="+mn-lt"/>
              </a:endParaRPr>
            </a:p>
          </p:txBody>
        </p:sp>
        <p:sp>
          <p:nvSpPr>
            <p:cNvPr id="77" name="Freeform 20">
              <a:hlinkClick r:id="rId1"/>
            </p:cNvPr>
            <p:cNvSpPr/>
            <p:nvPr/>
          </p:nvSpPr>
          <p:spPr bwMode="auto">
            <a:xfrm>
              <a:off x="5714011" y="2254105"/>
              <a:ext cx="106301" cy="160701"/>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20090"/>
              <a:endParaRPr lang="zh-CN" altLang="en-US" sz="1400">
                <a:solidFill>
                  <a:schemeClr val="tx1">
                    <a:lumMod val="85000"/>
                    <a:lumOff val="15000"/>
                  </a:schemeClr>
                </a:solidFill>
                <a:cs typeface="+mn-ea"/>
                <a:sym typeface="+mn-lt"/>
              </a:endParaRPr>
            </a:p>
          </p:txBody>
        </p:sp>
        <p:sp>
          <p:nvSpPr>
            <p:cNvPr id="78" name="Freeform 21">
              <a:hlinkClick r:id="rId1"/>
            </p:cNvPr>
            <p:cNvSpPr/>
            <p:nvPr/>
          </p:nvSpPr>
          <p:spPr bwMode="auto">
            <a:xfrm>
              <a:off x="5583377" y="2231148"/>
              <a:ext cx="106301" cy="183658"/>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20090"/>
              <a:endParaRPr lang="zh-CN" altLang="en-US" sz="1400">
                <a:solidFill>
                  <a:schemeClr val="tx1">
                    <a:lumMod val="85000"/>
                    <a:lumOff val="15000"/>
                  </a:schemeClr>
                </a:solidFill>
                <a:cs typeface="+mn-ea"/>
                <a:sym typeface="+mn-lt"/>
              </a:endParaRPr>
            </a:p>
          </p:txBody>
        </p:sp>
        <p:sp>
          <p:nvSpPr>
            <p:cNvPr id="79" name="Rectangle 22">
              <a:hlinkClick r:id="rId1"/>
            </p:cNvPr>
            <p:cNvSpPr>
              <a:spLocks noChangeArrowheads="1"/>
            </p:cNvSpPr>
            <p:nvPr/>
          </p:nvSpPr>
          <p:spPr bwMode="auto">
            <a:xfrm>
              <a:off x="5583377" y="2441388"/>
              <a:ext cx="367570" cy="374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20090"/>
              <a:endParaRPr lang="zh-CN" altLang="en-US" sz="1400">
                <a:solidFill>
                  <a:schemeClr val="tx1">
                    <a:lumMod val="85000"/>
                    <a:lumOff val="15000"/>
                  </a:schemeClr>
                </a:solidFill>
                <a:cs typeface="+mn-ea"/>
                <a:sym typeface="+mn-lt"/>
              </a:endParaRPr>
            </a:p>
          </p:txBody>
        </p:sp>
        <p:sp>
          <p:nvSpPr>
            <p:cNvPr id="80" name="Freeform 23">
              <a:hlinkClick r:id="rId1"/>
            </p:cNvPr>
            <p:cNvSpPr/>
            <p:nvPr/>
          </p:nvSpPr>
          <p:spPr bwMode="auto">
            <a:xfrm>
              <a:off x="5583377" y="2098237"/>
              <a:ext cx="363727" cy="17036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20090"/>
              <a:endParaRPr lang="zh-CN" altLang="en-US" sz="1400">
                <a:solidFill>
                  <a:schemeClr val="tx1">
                    <a:lumMod val="85000"/>
                    <a:lumOff val="15000"/>
                  </a:schemeClr>
                </a:solidFill>
                <a:cs typeface="+mn-ea"/>
                <a:sym typeface="+mn-lt"/>
              </a:endParaRPr>
            </a:p>
          </p:txBody>
        </p:sp>
      </p:grpSp>
      <p:sp>
        <p:nvSpPr>
          <p:cNvPr id="86" name="AutoShape 28"/>
          <p:cNvSpPr/>
          <p:nvPr/>
        </p:nvSpPr>
        <p:spPr bwMode="auto">
          <a:xfrm>
            <a:off x="5781608" y="3981944"/>
            <a:ext cx="280533" cy="280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tx1">
              <a:lumMod val="75000"/>
              <a:lumOff val="25000"/>
            </a:schemeClr>
          </a:solidFill>
          <a:ln>
            <a:noFill/>
          </a:ln>
          <a:effectLst/>
        </p:spPr>
        <p:txBody>
          <a:bodyPr lIns="53333" tIns="53333" rIns="53333" bIns="53333" anchor="ctr"/>
          <a:lstStyle/>
          <a:p>
            <a:pPr defTabSz="640080"/>
            <a:endParaRPr lang="en-US" sz="4000" dirty="0">
              <a:solidFill>
                <a:schemeClr val="tx1">
                  <a:lumMod val="85000"/>
                  <a:lumOff val="15000"/>
                </a:schemeClr>
              </a:solidFill>
              <a:effectLst>
                <a:outerShdw blurRad="38100" dist="38100" dir="2700000" algn="tl">
                  <a:srgbClr val="000000"/>
                </a:outerShdw>
              </a:effectLst>
              <a:cs typeface="+mn-ea"/>
              <a:sym typeface="+mn-lt"/>
            </a:endParaRPr>
          </a:p>
        </p:txBody>
      </p:sp>
      <p:pic>
        <p:nvPicPr>
          <p:cNvPr id="87" name="图片 86"/>
          <p:cNvPicPr>
            <a:picLocks noChangeAspect="1"/>
          </p:cNvPicPr>
          <p:nvPr/>
        </p:nvPicPr>
        <p:blipFill>
          <a:blip r:embed="rId2"/>
          <a:stretch>
            <a:fillRect/>
          </a:stretch>
        </p:blipFill>
        <p:spPr>
          <a:xfrm>
            <a:off x="4532363" y="2994349"/>
            <a:ext cx="312962" cy="309769"/>
          </a:xfrm>
          <a:prstGeom prst="rect">
            <a:avLst/>
          </a:prstGeom>
        </p:spPr>
      </p:pic>
      <p:sp>
        <p:nvSpPr>
          <p:cNvPr id="88" name="矩形 22"/>
          <p:cNvSpPr>
            <a:spLocks noChangeArrowheads="1"/>
          </p:cNvSpPr>
          <p:nvPr/>
        </p:nvSpPr>
        <p:spPr bwMode="auto">
          <a:xfrm>
            <a:off x="4121400" y="5445411"/>
            <a:ext cx="3577622" cy="532765"/>
          </a:xfrm>
          <a:prstGeom prst="rect">
            <a:avLst/>
          </a:prstGeom>
          <a:noFill/>
          <a:ln w="12700" cap="flat">
            <a:noFill/>
            <a:miter lim="400000"/>
          </a:ln>
          <a:effectLst/>
        </p:spPr>
        <p:txBody>
          <a:bodyPr wrap="square" lIns="35999" tIns="35999" rIns="35999" bIns="35999" numCol="1" anchor="t">
            <a:spAutoFit/>
          </a:bodyPr>
          <a:lstStyle/>
          <a:p>
            <a:pPr algn="ctr"/>
            <a:r>
              <a:rPr lang="zh-CN" altLang="en-US" sz="1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唯一一家连续五年</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2017-2021</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）入选</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Gartner </a:t>
            </a:r>
            <a:endPar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全球</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SFA</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魔力象限的中国</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CRM</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厂商</a:t>
            </a:r>
            <a:endPar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并入选</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Gartner </a:t>
            </a:r>
            <a:r>
              <a:rPr lang="en-US" altLang="zh-CN" sz="10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aPaaS</a:t>
            </a:r>
            <a:r>
              <a:rPr lang="en-US" altLang="zh-CN"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rPr>
              <a:t>推荐供应商名单</a:t>
            </a:r>
            <a:endParaRPr lang="zh-CN" altLang="en-US" sz="1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89" name="矩形 68"/>
          <p:cNvSpPr txBox="1"/>
          <p:nvPr/>
        </p:nvSpPr>
        <p:spPr>
          <a:xfrm>
            <a:off x="5112630" y="4691311"/>
            <a:ext cx="1516724" cy="403225"/>
          </a:xfrm>
          <a:prstGeom prst="rect">
            <a:avLst/>
          </a:prstGeom>
          <a:noFill/>
          <a:ln w="12700" cap="flat">
            <a:noFill/>
            <a:miter lim="400000"/>
          </a:ln>
          <a:effectLst/>
        </p:spPr>
        <p:txBody>
          <a:bodyPr wrap="square" lIns="35999" tIns="35999" rIns="35999" bIns="35999" numCol="1"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r">
              <a:lnSpc>
                <a:spcPct val="120000"/>
              </a:lnSpc>
              <a:defRPr sz="1890" b="1">
                <a:solidFill>
                  <a:srgbClr val="1C69D4"/>
                </a:solidFill>
                <a:latin typeface="苹方-简" panose="020B0400000000000000" pitchFamily="2" charset="-120"/>
                <a:ea typeface="苹方-简" panose="020B0400000000000000" pitchFamily="2" charset="-120"/>
                <a:cs typeface="苹方-简" panose="020B0400000000000000" pitchFamily="2" charset="-120"/>
              </a:defRPr>
            </a:lvl1pPr>
          </a:lstStyle>
          <a:p>
            <a:pPr algn="ctr"/>
            <a:r>
              <a:rPr lang="zh-CN" altLang="en-US" sz="1800" dirty="0">
                <a:latin typeface="微软雅黑" panose="020B0503020204020204" pitchFamily="34" charset="-122"/>
                <a:ea typeface="微软雅黑" panose="020B0503020204020204" pitchFamily="34" charset="-122"/>
                <a:cs typeface="+mn-ea"/>
                <a:sym typeface="+mn-lt"/>
              </a:rPr>
              <a:t>专业优势</a:t>
            </a:r>
            <a:endParaRPr lang="zh-CN" altLang="en-US" sz="1800" dirty="0">
              <a:latin typeface="微软雅黑" panose="020B0503020204020204" pitchFamily="34" charset="-122"/>
              <a:ea typeface="微软雅黑" panose="020B0503020204020204" pitchFamily="34" charset="-122"/>
              <a:cs typeface="+mn-ea"/>
              <a:sym typeface="+mn-lt"/>
            </a:endParaRPr>
          </a:p>
        </p:txBody>
      </p:sp>
      <p:cxnSp>
        <p:nvCxnSpPr>
          <p:cNvPr id="90" name="直接连接符 28"/>
          <p:cNvCxnSpPr/>
          <p:nvPr/>
        </p:nvCxnSpPr>
        <p:spPr>
          <a:xfrm>
            <a:off x="5912929" y="4441198"/>
            <a:ext cx="8945" cy="250113"/>
          </a:xfrm>
          <a:prstGeom prst="line">
            <a:avLst/>
          </a:prstGeom>
          <a:ln w="9525">
            <a:solidFill>
              <a:schemeClr val="bg1">
                <a:lumMod val="75000"/>
              </a:schemeClr>
            </a:solidFill>
            <a:prstDash val="solid"/>
            <a:tailEnd type="oval" w="sm" len="sm"/>
          </a:ln>
        </p:spPr>
        <p:style>
          <a:lnRef idx="1">
            <a:schemeClr val="accent1"/>
          </a:lnRef>
          <a:fillRef idx="0">
            <a:schemeClr val="accent1"/>
          </a:fillRef>
          <a:effectRef idx="0">
            <a:schemeClr val="accent1"/>
          </a:effectRef>
          <a:fontRef idx="minor">
            <a:schemeClr val="tx1"/>
          </a:fontRef>
        </p:style>
      </p:cxnSp>
      <p:pic>
        <p:nvPicPr>
          <p:cNvPr id="91" name="图片 9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5144" y="2420504"/>
            <a:ext cx="611695" cy="611695"/>
          </a:xfrm>
          <a:prstGeom prst="rect">
            <a:avLst/>
          </a:prstGeom>
          <a:noFill/>
          <a:ln>
            <a:noFill/>
          </a:ln>
          <a:effectLst>
            <a:outerShdw blurRad="317500" dist="88900" dir="5400000" algn="t" rotWithShape="0">
              <a:prstClr val="black">
                <a:alpha val="33000"/>
              </a:prstClr>
            </a:outerShdw>
          </a:effectLst>
        </p:spPr>
      </p:pic>
      <p:pic>
        <p:nvPicPr>
          <p:cNvPr id="42" name="图片 4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20627" y="5119267"/>
            <a:ext cx="1179168" cy="275139"/>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4196" y="446449"/>
            <a:ext cx="1850572" cy="1110343"/>
          </a:xfrm>
          <a:prstGeom prst="rect">
            <a:avLst/>
          </a:prstGeom>
        </p:spPr>
      </p:pic>
      <p:grpSp>
        <p:nvGrpSpPr>
          <p:cNvPr id="81" name="组 2"/>
          <p:cNvGrpSpPr/>
          <p:nvPr/>
        </p:nvGrpSpPr>
        <p:grpSpPr>
          <a:xfrm>
            <a:off x="6843298" y="2722105"/>
            <a:ext cx="342566" cy="342566"/>
            <a:chOff x="8353782" y="2708561"/>
            <a:chExt cx="488067" cy="488067"/>
          </a:xfrm>
          <a:solidFill>
            <a:schemeClr val="bg1"/>
          </a:solidFill>
        </p:grpSpPr>
        <p:sp>
          <p:nvSpPr>
            <p:cNvPr id="83" name="AutoShape 53"/>
            <p:cNvSpPr/>
            <p:nvPr/>
          </p:nvSpPr>
          <p:spPr bwMode="auto">
            <a:xfrm>
              <a:off x="8537329" y="2876258"/>
              <a:ext cx="131820" cy="136825"/>
            </a:xfrm>
            <a:custGeom>
              <a:avLst/>
              <a:gdLst>
                <a:gd name="T0" fmla="+- 0 10801 59"/>
                <a:gd name="T1" fmla="*/ T0 w 21484"/>
                <a:gd name="T2" fmla="+- 0 10799 41"/>
                <a:gd name="T3" fmla="*/ 10799 h 21516"/>
                <a:gd name="T4" fmla="+- 0 10801 59"/>
                <a:gd name="T5" fmla="*/ T4 w 21484"/>
                <a:gd name="T6" fmla="+- 0 10799 41"/>
                <a:gd name="T7" fmla="*/ 10799 h 21516"/>
                <a:gd name="T8" fmla="+- 0 10801 59"/>
                <a:gd name="T9" fmla="*/ T8 w 21484"/>
                <a:gd name="T10" fmla="+- 0 10799 41"/>
                <a:gd name="T11" fmla="*/ 10799 h 21516"/>
                <a:gd name="T12" fmla="+- 0 10801 59"/>
                <a:gd name="T13" fmla="*/ T12 w 21484"/>
                <a:gd name="T14" fmla="+- 0 10799 41"/>
                <a:gd name="T15" fmla="*/ 10799 h 21516"/>
              </a:gdLst>
              <a:ahLst/>
              <a:cxnLst>
                <a:cxn ang="0">
                  <a:pos x="T1" y="T3"/>
                </a:cxn>
                <a:cxn ang="0">
                  <a:pos x="T5" y="T7"/>
                </a:cxn>
                <a:cxn ang="0">
                  <a:pos x="T9" y="T11"/>
                </a:cxn>
                <a:cxn ang="0">
                  <a:pos x="T13" y="T15"/>
                </a:cxn>
              </a:cxnLst>
              <a:rect l="0" t="0" r="r" b="b"/>
              <a:pathLst>
                <a:path w="21484" h="21516">
                  <a:moveTo>
                    <a:pt x="17511" y="14987"/>
                  </a:moveTo>
                  <a:cubicBezTo>
                    <a:pt x="17287" y="15384"/>
                    <a:pt x="17032" y="15740"/>
                    <a:pt x="16731" y="16049"/>
                  </a:cubicBezTo>
                  <a:cubicBezTo>
                    <a:pt x="15340" y="14692"/>
                    <a:pt x="13947" y="13205"/>
                    <a:pt x="12559" y="11675"/>
                  </a:cubicBezTo>
                  <a:cubicBezTo>
                    <a:pt x="12912" y="11521"/>
                    <a:pt x="13287" y="11362"/>
                    <a:pt x="13689" y="11198"/>
                  </a:cubicBezTo>
                  <a:cubicBezTo>
                    <a:pt x="14092" y="11034"/>
                    <a:pt x="14494" y="10927"/>
                    <a:pt x="14895" y="10861"/>
                  </a:cubicBezTo>
                  <a:cubicBezTo>
                    <a:pt x="15308" y="10801"/>
                    <a:pt x="15715" y="10819"/>
                    <a:pt x="16122" y="10913"/>
                  </a:cubicBezTo>
                  <a:cubicBezTo>
                    <a:pt x="16527" y="11011"/>
                    <a:pt x="16909" y="11222"/>
                    <a:pt x="17262" y="11554"/>
                  </a:cubicBezTo>
                  <a:cubicBezTo>
                    <a:pt x="17612" y="11890"/>
                    <a:pt x="17835" y="12244"/>
                    <a:pt x="17923" y="12620"/>
                  </a:cubicBezTo>
                  <a:cubicBezTo>
                    <a:pt x="18020" y="13004"/>
                    <a:pt x="18025" y="13392"/>
                    <a:pt x="17958" y="13789"/>
                  </a:cubicBezTo>
                  <a:cubicBezTo>
                    <a:pt x="17883" y="14187"/>
                    <a:pt x="17738" y="14585"/>
                    <a:pt x="17511"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8" y="8570"/>
                  </a:moveTo>
                  <a:cubicBezTo>
                    <a:pt x="18868" y="7915"/>
                    <a:pt x="18055" y="7470"/>
                    <a:pt x="17235" y="7250"/>
                  </a:cubicBezTo>
                  <a:cubicBezTo>
                    <a:pt x="16421" y="7031"/>
                    <a:pt x="15603" y="6942"/>
                    <a:pt x="14779" y="6998"/>
                  </a:cubicBezTo>
                  <a:cubicBezTo>
                    <a:pt x="13964" y="7059"/>
                    <a:pt x="13130" y="7236"/>
                    <a:pt x="12296" y="7545"/>
                  </a:cubicBezTo>
                  <a:cubicBezTo>
                    <a:pt x="11462"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8" y="4051"/>
                    <a:pt x="11424" y="3958"/>
                    <a:pt x="11765" y="3682"/>
                  </a:cubicBezTo>
                  <a:cubicBezTo>
                    <a:pt x="12123" y="3382"/>
                    <a:pt x="12321" y="2994"/>
                    <a:pt x="12351" y="2526"/>
                  </a:cubicBezTo>
                  <a:cubicBezTo>
                    <a:pt x="12376" y="2054"/>
                    <a:pt x="12189" y="1596"/>
                    <a:pt x="11782" y="1147"/>
                  </a:cubicBezTo>
                  <a:cubicBezTo>
                    <a:pt x="11258"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4" y="12461"/>
                  </a:cubicBezTo>
                  <a:cubicBezTo>
                    <a:pt x="12532" y="14093"/>
                    <a:pt x="14002" y="15716"/>
                    <a:pt x="15470" y="17223"/>
                  </a:cubicBezTo>
                  <a:cubicBezTo>
                    <a:pt x="14849" y="17728"/>
                    <a:pt x="14305" y="18018"/>
                    <a:pt x="13826" y="18111"/>
                  </a:cubicBezTo>
                  <a:cubicBezTo>
                    <a:pt x="13344" y="18210"/>
                    <a:pt x="12917" y="18200"/>
                    <a:pt x="12530" y="18088"/>
                  </a:cubicBezTo>
                  <a:cubicBezTo>
                    <a:pt x="12142" y="17971"/>
                    <a:pt x="11782" y="17803"/>
                    <a:pt x="11455" y="17587"/>
                  </a:cubicBezTo>
                  <a:cubicBezTo>
                    <a:pt x="11125" y="17368"/>
                    <a:pt x="10799"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5" y="21451"/>
                    <a:pt x="12279" y="21502"/>
                  </a:cubicBezTo>
                  <a:cubicBezTo>
                    <a:pt x="13103" y="21559"/>
                    <a:pt x="13970" y="21437"/>
                    <a:pt x="14886" y="21109"/>
                  </a:cubicBezTo>
                  <a:cubicBezTo>
                    <a:pt x="15807" y="20787"/>
                    <a:pt x="16721" y="20202"/>
                    <a:pt x="17617" y="19332"/>
                  </a:cubicBezTo>
                  <a:cubicBezTo>
                    <a:pt x="18051" y="19739"/>
                    <a:pt x="18489" y="20127"/>
                    <a:pt x="18921" y="20501"/>
                  </a:cubicBezTo>
                  <a:cubicBezTo>
                    <a:pt x="19107" y="20656"/>
                    <a:pt x="19328" y="20731"/>
                    <a:pt x="19601" y="20712"/>
                  </a:cubicBezTo>
                  <a:cubicBezTo>
                    <a:pt x="19861" y="20703"/>
                    <a:pt x="20090" y="20586"/>
                    <a:pt x="20269" y="20375"/>
                  </a:cubicBezTo>
                  <a:cubicBezTo>
                    <a:pt x="20455" y="20160"/>
                    <a:pt x="20532" y="19921"/>
                    <a:pt x="20503" y="19674"/>
                  </a:cubicBezTo>
                  <a:cubicBezTo>
                    <a:pt x="20477" y="19421"/>
                    <a:pt x="20371" y="19229"/>
                    <a:pt x="20192" y="19089"/>
                  </a:cubicBezTo>
                  <a:cubicBezTo>
                    <a:pt x="19755" y="18752"/>
                    <a:pt x="19321" y="18397"/>
                    <a:pt x="18884" y="18022"/>
                  </a:cubicBezTo>
                  <a:cubicBezTo>
                    <a:pt x="19626" y="17143"/>
                    <a:pt x="20221" y="16217"/>
                    <a:pt x="20664" y="15300"/>
                  </a:cubicBezTo>
                  <a:cubicBezTo>
                    <a:pt x="21103" y="14379"/>
                    <a:pt x="21367" y="13490"/>
                    <a:pt x="21453" y="12667"/>
                  </a:cubicBezTo>
                  <a:cubicBezTo>
                    <a:pt x="21540" y="11839"/>
                    <a:pt x="21439" y="11091"/>
                    <a:pt x="21159" y="10412"/>
                  </a:cubicBezTo>
                  <a:cubicBezTo>
                    <a:pt x="20880" y="9725"/>
                    <a:pt x="20386" y="9135"/>
                    <a:pt x="19678" y="857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3333" tIns="53333" rIns="53333" bIns="53333" anchor="ctr"/>
            <a:lstStyle/>
            <a:p>
              <a:pPr defTabSz="640080"/>
              <a:endParaRPr lang="en-US" sz="4000" dirty="0">
                <a:solidFill>
                  <a:schemeClr val="tx1">
                    <a:lumMod val="85000"/>
                    <a:lumOff val="15000"/>
                  </a:schemeClr>
                </a:solidFill>
                <a:effectLst>
                  <a:outerShdw blurRad="38100" dist="38100" dir="2700000" algn="tl">
                    <a:srgbClr val="000000"/>
                  </a:outerShdw>
                </a:effectLst>
                <a:cs typeface="+mn-ea"/>
                <a:sym typeface="+mn-lt"/>
              </a:endParaRPr>
            </a:p>
          </p:txBody>
        </p:sp>
        <p:sp>
          <p:nvSpPr>
            <p:cNvPr id="84" name="AutoShape 54"/>
            <p:cNvSpPr/>
            <p:nvPr/>
          </p:nvSpPr>
          <p:spPr bwMode="auto">
            <a:xfrm>
              <a:off x="8521474" y="3043952"/>
              <a:ext cx="74253" cy="77589"/>
            </a:xfrm>
            <a:custGeom>
              <a:avLst/>
              <a:gdLst>
                <a:gd name="T0" fmla="+- 0 10791 197"/>
                <a:gd name="T1" fmla="*/ T0 w 21188"/>
                <a:gd name="T2" fmla="+- 0 10794 193"/>
                <a:gd name="T3" fmla="*/ 10794 h 21203"/>
                <a:gd name="T4" fmla="+- 0 10791 197"/>
                <a:gd name="T5" fmla="*/ T4 w 21188"/>
                <a:gd name="T6" fmla="+- 0 10794 193"/>
                <a:gd name="T7" fmla="*/ 10794 h 21203"/>
                <a:gd name="T8" fmla="+- 0 10791 197"/>
                <a:gd name="T9" fmla="*/ T8 w 21188"/>
                <a:gd name="T10" fmla="+- 0 10794 193"/>
                <a:gd name="T11" fmla="*/ 10794 h 21203"/>
                <a:gd name="T12" fmla="+- 0 10791 197"/>
                <a:gd name="T13" fmla="*/ T12 w 21188"/>
                <a:gd name="T14" fmla="+- 0 10794 193"/>
                <a:gd name="T15" fmla="*/ 10794 h 21203"/>
              </a:gdLst>
              <a:ahLst/>
              <a:cxnLst>
                <a:cxn ang="0">
                  <a:pos x="T1" y="T3"/>
                </a:cxn>
                <a:cxn ang="0">
                  <a:pos x="T5" y="T7"/>
                </a:cxn>
                <a:cxn ang="0">
                  <a:pos x="T9" y="T11"/>
                </a:cxn>
                <a:cxn ang="0">
                  <a:pos x="T13" y="T15"/>
                </a:cxn>
              </a:cxnLst>
              <a:rect l="0" t="0" r="r" b="b"/>
              <a:pathLst>
                <a:path w="21188" h="21203">
                  <a:moveTo>
                    <a:pt x="17615" y="468"/>
                  </a:moveTo>
                  <a:lnTo>
                    <a:pt x="17606" y="468"/>
                  </a:lnTo>
                  <a:cubicBezTo>
                    <a:pt x="14870" y="2476"/>
                    <a:pt x="12200" y="4590"/>
                    <a:pt x="9727" y="6958"/>
                  </a:cubicBezTo>
                  <a:cubicBezTo>
                    <a:pt x="7348" y="9227"/>
                    <a:pt x="5200" y="11619"/>
                    <a:pt x="3329" y="14060"/>
                  </a:cubicBezTo>
                  <a:lnTo>
                    <a:pt x="341" y="17962"/>
                  </a:lnTo>
                  <a:lnTo>
                    <a:pt x="350" y="17970"/>
                  </a:lnTo>
                  <a:cubicBezTo>
                    <a:pt x="-197" y="18786"/>
                    <a:pt x="-106" y="19880"/>
                    <a:pt x="638" y="20590"/>
                  </a:cubicBezTo>
                  <a:cubicBezTo>
                    <a:pt x="1491" y="21407"/>
                    <a:pt x="2889" y="21407"/>
                    <a:pt x="3746" y="20590"/>
                  </a:cubicBezTo>
                  <a:cubicBezTo>
                    <a:pt x="3877" y="20460"/>
                    <a:pt x="3984" y="20321"/>
                    <a:pt x="4069" y="20174"/>
                  </a:cubicBezTo>
                  <a:lnTo>
                    <a:pt x="6867" y="16517"/>
                  </a:lnTo>
                  <a:cubicBezTo>
                    <a:pt x="8601" y="14255"/>
                    <a:pt x="10606" y="12027"/>
                    <a:pt x="12824" y="9913"/>
                  </a:cubicBezTo>
                  <a:cubicBezTo>
                    <a:pt x="15281" y="7570"/>
                    <a:pt x="17557" y="5758"/>
                    <a:pt x="20329" y="3749"/>
                  </a:cubicBezTo>
                  <a:lnTo>
                    <a:pt x="20321" y="3741"/>
                  </a:lnTo>
                  <a:cubicBezTo>
                    <a:pt x="20400" y="3684"/>
                    <a:pt x="20473" y="3635"/>
                    <a:pt x="20543" y="3570"/>
                  </a:cubicBezTo>
                  <a:cubicBezTo>
                    <a:pt x="21402" y="2753"/>
                    <a:pt x="21402" y="1427"/>
                    <a:pt x="20543" y="606"/>
                  </a:cubicBezTo>
                  <a:cubicBezTo>
                    <a:pt x="19742" y="-161"/>
                    <a:pt x="18472" y="-193"/>
                    <a:pt x="17615" y="46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3333" tIns="53333" rIns="53333" bIns="53333" anchor="ctr"/>
            <a:lstStyle/>
            <a:p>
              <a:pPr defTabSz="640080"/>
              <a:endParaRPr lang="en-US" sz="4000" dirty="0">
                <a:solidFill>
                  <a:schemeClr val="tx1">
                    <a:lumMod val="85000"/>
                    <a:lumOff val="15000"/>
                  </a:schemeClr>
                </a:solidFill>
                <a:effectLst>
                  <a:outerShdw blurRad="38100" dist="38100" dir="2700000" algn="tl">
                    <a:srgbClr val="000000"/>
                  </a:outerShdw>
                </a:effectLst>
                <a:cs typeface="+mn-ea"/>
                <a:sym typeface="+mn-lt"/>
              </a:endParaRPr>
            </a:p>
          </p:txBody>
        </p:sp>
        <p:sp>
          <p:nvSpPr>
            <p:cNvPr id="85" name="AutoShape 55"/>
            <p:cNvSpPr/>
            <p:nvPr/>
          </p:nvSpPr>
          <p:spPr bwMode="auto">
            <a:xfrm>
              <a:off x="8598233" y="2784483"/>
              <a:ext cx="75087" cy="78424"/>
            </a:xfrm>
            <a:custGeom>
              <a:avLst/>
              <a:gdLst>
                <a:gd name="T0" fmla="+- 0 10803 213"/>
                <a:gd name="T1" fmla="*/ T0 w 21180"/>
                <a:gd name="T2" fmla="+- 0 10801 203"/>
                <a:gd name="T3" fmla="*/ 10801 h 21196"/>
                <a:gd name="T4" fmla="+- 0 10803 213"/>
                <a:gd name="T5" fmla="*/ T4 w 21180"/>
                <a:gd name="T6" fmla="+- 0 10801 203"/>
                <a:gd name="T7" fmla="*/ 10801 h 21196"/>
                <a:gd name="T8" fmla="+- 0 10803 213"/>
                <a:gd name="T9" fmla="*/ T8 w 21180"/>
                <a:gd name="T10" fmla="+- 0 10801 203"/>
                <a:gd name="T11" fmla="*/ 10801 h 21196"/>
                <a:gd name="T12" fmla="+- 0 10803 213"/>
                <a:gd name="T13" fmla="*/ T12 w 21180"/>
                <a:gd name="T14" fmla="+- 0 10801 203"/>
                <a:gd name="T15" fmla="*/ 10801 h 21196"/>
              </a:gdLst>
              <a:ahLst/>
              <a:cxnLst>
                <a:cxn ang="0">
                  <a:pos x="T1" y="T3"/>
                </a:cxn>
                <a:cxn ang="0">
                  <a:pos x="T5" y="T7"/>
                </a:cxn>
                <a:cxn ang="0">
                  <a:pos x="T9" y="T11"/>
                </a:cxn>
                <a:cxn ang="0">
                  <a:pos x="T13" y="T15"/>
                </a:cxn>
              </a:cxnLst>
              <a:rect l="0" t="0" r="r" b="b"/>
              <a:pathLst>
                <a:path w="21180" h="21196">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19" y="14263"/>
                  </a:cubicBezTo>
                  <a:cubicBezTo>
                    <a:pt x="13759" y="12030"/>
                    <a:pt x="15873" y="9685"/>
                    <a:pt x="17715" y="7283"/>
                  </a:cubicBezTo>
                  <a:lnTo>
                    <a:pt x="20663" y="3427"/>
                  </a:lnTo>
                  <a:lnTo>
                    <a:pt x="20654" y="3419"/>
                  </a:lnTo>
                  <a:cubicBezTo>
                    <a:pt x="21386" y="2600"/>
                    <a:pt x="21357" y="1379"/>
                    <a:pt x="20541" y="608"/>
                  </a:cubicBezTo>
                  <a:cubicBezTo>
                    <a:pt x="19697" y="-203"/>
                    <a:pt x="18323" y="-203"/>
                    <a:pt x="17468" y="608"/>
                  </a:cubicBezTo>
                  <a:cubicBezTo>
                    <a:pt x="17313" y="760"/>
                    <a:pt x="17197" y="937"/>
                    <a:pt x="17094" y="1114"/>
                  </a:cubicBezTo>
                  <a:lnTo>
                    <a:pt x="14228" y="4857"/>
                  </a:lnTo>
                  <a:cubicBezTo>
                    <a:pt x="12526" y="7090"/>
                    <a:pt x="10552" y="9275"/>
                    <a:pt x="8372" y="11356"/>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3333" tIns="53333" rIns="53333" bIns="53333" anchor="ctr"/>
            <a:lstStyle/>
            <a:p>
              <a:pPr defTabSz="640080"/>
              <a:endParaRPr lang="en-US" sz="4000" dirty="0">
                <a:solidFill>
                  <a:schemeClr val="tx1">
                    <a:lumMod val="85000"/>
                    <a:lumOff val="15000"/>
                  </a:schemeClr>
                </a:solidFill>
                <a:effectLst>
                  <a:outerShdw blurRad="38100" dist="38100" dir="2700000" algn="tl">
                    <a:srgbClr val="000000"/>
                  </a:outerShdw>
                </a:effectLst>
                <a:cs typeface="+mn-ea"/>
                <a:sym typeface="+mn-lt"/>
              </a:endParaRPr>
            </a:p>
          </p:txBody>
        </p:sp>
        <p:sp>
          <p:nvSpPr>
            <p:cNvPr id="82" name="AutoShape 52"/>
            <p:cNvSpPr/>
            <p:nvPr/>
          </p:nvSpPr>
          <p:spPr bwMode="auto">
            <a:xfrm>
              <a:off x="8353782" y="2708561"/>
              <a:ext cx="488067" cy="488067"/>
            </a:xfrm>
            <a:custGeom>
              <a:avLst/>
              <a:gdLst>
                <a:gd name="T0" fmla="+- 0 10800 87"/>
                <a:gd name="T1" fmla="*/ T0 w 21426"/>
                <a:gd name="T2" fmla="+- 0 10799 73"/>
                <a:gd name="T3" fmla="*/ 10799 h 21453"/>
                <a:gd name="T4" fmla="+- 0 10800 87"/>
                <a:gd name="T5" fmla="*/ T4 w 21426"/>
                <a:gd name="T6" fmla="+- 0 10799 73"/>
                <a:gd name="T7" fmla="*/ 10799 h 21453"/>
                <a:gd name="T8" fmla="+- 0 10800 87"/>
                <a:gd name="T9" fmla="*/ T8 w 21426"/>
                <a:gd name="T10" fmla="+- 0 10799 73"/>
                <a:gd name="T11" fmla="*/ 10799 h 21453"/>
                <a:gd name="T12" fmla="+- 0 10800 87"/>
                <a:gd name="T13" fmla="*/ T12 w 21426"/>
                <a:gd name="T14" fmla="+- 0 10799 73"/>
                <a:gd name="T15" fmla="*/ 10799 h 21453"/>
              </a:gdLst>
              <a:ahLst/>
              <a:cxnLst>
                <a:cxn ang="0">
                  <a:pos x="T1" y="T3"/>
                </a:cxn>
                <a:cxn ang="0">
                  <a:pos x="T5" y="T7"/>
                </a:cxn>
                <a:cxn ang="0">
                  <a:pos x="T9" y="T11"/>
                </a:cxn>
                <a:cxn ang="0">
                  <a:pos x="T13" y="T15"/>
                </a:cxn>
              </a:cxnLst>
              <a:rect l="0" t="0" r="r" b="b"/>
              <a:pathLst>
                <a:path w="21426" h="21453">
                  <a:moveTo>
                    <a:pt x="8034" y="20112"/>
                  </a:moveTo>
                  <a:cubicBezTo>
                    <a:pt x="5816" y="17892"/>
                    <a:pt x="3556" y="15628"/>
                    <a:pt x="1338" y="13408"/>
                  </a:cubicBezTo>
                  <a:cubicBezTo>
                    <a:pt x="3241" y="7240"/>
                    <a:pt x="11488" y="7509"/>
                    <a:pt x="13391" y="1341"/>
                  </a:cubicBezTo>
                  <a:cubicBezTo>
                    <a:pt x="15609" y="3560"/>
                    <a:pt x="17869" y="5825"/>
                    <a:pt x="20087" y="8045"/>
                  </a:cubicBezTo>
                  <a:cubicBezTo>
                    <a:pt x="18184" y="14212"/>
                    <a:pt x="9937" y="13944"/>
                    <a:pt x="8034" y="20112"/>
                  </a:cubicBezTo>
                  <a:moveTo>
                    <a:pt x="21034" y="7097"/>
                  </a:moveTo>
                  <a:lnTo>
                    <a:pt x="14338" y="393"/>
                  </a:lnTo>
                  <a:cubicBezTo>
                    <a:pt x="14006" y="60"/>
                    <a:pt x="13525" y="-73"/>
                    <a:pt x="13069" y="39"/>
                  </a:cubicBezTo>
                  <a:cubicBezTo>
                    <a:pt x="12828" y="98"/>
                    <a:pt x="12614" y="222"/>
                    <a:pt x="12444" y="393"/>
                  </a:cubicBezTo>
                  <a:cubicBezTo>
                    <a:pt x="12292" y="545"/>
                    <a:pt x="12177" y="733"/>
                    <a:pt x="12112" y="944"/>
                  </a:cubicBezTo>
                  <a:cubicBezTo>
                    <a:pt x="11808" y="1929"/>
                    <a:pt x="11283" y="2785"/>
                    <a:pt x="10507" y="3562"/>
                  </a:cubicBezTo>
                  <a:cubicBezTo>
                    <a:pt x="9471" y="4598"/>
                    <a:pt x="8121" y="5384"/>
                    <a:pt x="6693" y="6214"/>
                  </a:cubicBezTo>
                  <a:cubicBezTo>
                    <a:pt x="5177" y="7094"/>
                    <a:pt x="3611" y="8006"/>
                    <a:pt x="2328" y="9290"/>
                  </a:cubicBezTo>
                  <a:cubicBezTo>
                    <a:pt x="1237" y="10383"/>
                    <a:pt x="493" y="11600"/>
                    <a:pt x="59" y="13011"/>
                  </a:cubicBezTo>
                  <a:cubicBezTo>
                    <a:pt x="-87" y="13488"/>
                    <a:pt x="40" y="14004"/>
                    <a:pt x="391" y="14356"/>
                  </a:cubicBezTo>
                  <a:lnTo>
                    <a:pt x="7087" y="21060"/>
                  </a:lnTo>
                  <a:cubicBezTo>
                    <a:pt x="7419" y="21393"/>
                    <a:pt x="7900" y="21526"/>
                    <a:pt x="8356" y="21414"/>
                  </a:cubicBezTo>
                  <a:cubicBezTo>
                    <a:pt x="8597" y="21354"/>
                    <a:pt x="8811" y="21231"/>
                    <a:pt x="8981" y="21060"/>
                  </a:cubicBezTo>
                  <a:cubicBezTo>
                    <a:pt x="9133" y="20908"/>
                    <a:pt x="9248" y="20720"/>
                    <a:pt x="9314" y="20508"/>
                  </a:cubicBezTo>
                  <a:cubicBezTo>
                    <a:pt x="9617" y="19523"/>
                    <a:pt x="10142" y="18667"/>
                    <a:pt x="10918" y="17890"/>
                  </a:cubicBezTo>
                  <a:cubicBezTo>
                    <a:pt x="11954" y="16853"/>
                    <a:pt x="13304" y="16069"/>
                    <a:pt x="14733" y="15239"/>
                  </a:cubicBezTo>
                  <a:cubicBezTo>
                    <a:pt x="16248" y="14357"/>
                    <a:pt x="17814" y="13446"/>
                    <a:pt x="19097" y="12162"/>
                  </a:cubicBezTo>
                  <a:cubicBezTo>
                    <a:pt x="20188" y="11070"/>
                    <a:pt x="20932" y="9852"/>
                    <a:pt x="21366" y="8440"/>
                  </a:cubicBezTo>
                  <a:cubicBezTo>
                    <a:pt x="21512" y="7965"/>
                    <a:pt x="21385" y="7448"/>
                    <a:pt x="21034" y="7097"/>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53333" tIns="53333" rIns="53333" bIns="53333" anchor="ctr"/>
            <a:lstStyle/>
            <a:p>
              <a:pPr defTabSz="640080"/>
              <a:endParaRPr lang="en-US" sz="4000" dirty="0">
                <a:solidFill>
                  <a:schemeClr val="tx1">
                    <a:lumMod val="85000"/>
                    <a:lumOff val="15000"/>
                  </a:schemeClr>
                </a:solidFill>
                <a:effectLst>
                  <a:outerShdw blurRad="38100" dist="38100" dir="2700000" algn="tl">
                    <a:srgbClr val="000000"/>
                  </a:outerShdw>
                </a:effectLst>
                <a:cs typeface="+mn-ea"/>
                <a:sym typeface="+mn-l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圆顶角 66"/>
          <p:cNvSpPr/>
          <p:nvPr/>
        </p:nvSpPr>
        <p:spPr>
          <a:xfrm rot="5400000">
            <a:off x="2690271" y="-597429"/>
            <a:ext cx="2743200" cy="8123741"/>
          </a:xfrm>
          <a:prstGeom prst="round2SameRect">
            <a:avLst>
              <a:gd name="adj1" fmla="val 19712"/>
              <a:gd name="adj2" fmla="val 0"/>
            </a:avLst>
          </a:prstGeom>
          <a:solidFill>
            <a:srgbClr val="1C69D4"/>
          </a:solidFill>
          <a:ln>
            <a:noFill/>
          </a:ln>
          <a:effectLst>
            <a:outerShdw blurRad="342900" dist="38100" dir="54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8" name="图片 67"/>
          <p:cNvPicPr>
            <a:picLocks noChangeAspect="1"/>
          </p:cNvPicPr>
          <p:nvPr/>
        </p:nvPicPr>
        <p:blipFill rotWithShape="1">
          <a:blip r:embed="rId1">
            <a:extLst>
              <a:ext uri="{28A0092B-C50C-407E-A947-70E740481C1C}">
                <a14:useLocalDpi xmlns:a14="http://schemas.microsoft.com/office/drawing/2010/main" val="0"/>
              </a:ext>
            </a:extLst>
          </a:blip>
          <a:srcRect l="164" t="7458" r="164" b="5304"/>
          <a:stretch>
            <a:fillRect/>
          </a:stretch>
        </p:blipFill>
        <p:spPr>
          <a:xfrm>
            <a:off x="0" y="2092843"/>
            <a:ext cx="8119697" cy="2743199"/>
          </a:xfrm>
          <a:custGeom>
            <a:avLst/>
            <a:gdLst>
              <a:gd name="connsiteX0" fmla="*/ 0 w 8119697"/>
              <a:gd name="connsiteY0" fmla="*/ 0 h 2743199"/>
              <a:gd name="connsiteX1" fmla="*/ 7578957 w 8119697"/>
              <a:gd name="connsiteY1" fmla="*/ 0 h 2743199"/>
              <a:gd name="connsiteX2" fmla="*/ 8119697 w 8119697"/>
              <a:gd name="connsiteY2" fmla="*/ 540740 h 2743199"/>
              <a:gd name="connsiteX3" fmla="*/ 8119697 w 8119697"/>
              <a:gd name="connsiteY3" fmla="*/ 2202459 h 2743199"/>
              <a:gd name="connsiteX4" fmla="*/ 7578957 w 8119697"/>
              <a:gd name="connsiteY4" fmla="*/ 2743199 h 2743199"/>
              <a:gd name="connsiteX5" fmla="*/ 0 w 8119697"/>
              <a:gd name="connsiteY5" fmla="*/ 2743199 h 2743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9697" h="2743199">
                <a:moveTo>
                  <a:pt x="0" y="0"/>
                </a:moveTo>
                <a:lnTo>
                  <a:pt x="7578957" y="0"/>
                </a:lnTo>
                <a:cubicBezTo>
                  <a:pt x="7877599" y="0"/>
                  <a:pt x="8119697" y="242098"/>
                  <a:pt x="8119697" y="540740"/>
                </a:cubicBezTo>
                <a:lnTo>
                  <a:pt x="8119697" y="2202459"/>
                </a:lnTo>
                <a:cubicBezTo>
                  <a:pt x="8119697" y="2501101"/>
                  <a:pt x="7877599" y="2743199"/>
                  <a:pt x="7578957" y="2743199"/>
                </a:cubicBezTo>
                <a:lnTo>
                  <a:pt x="0" y="2743199"/>
                </a:lnTo>
                <a:close/>
              </a:path>
            </a:pathLst>
          </a:custGeom>
        </p:spPr>
      </p:pic>
      <p:grpSp>
        <p:nvGrpSpPr>
          <p:cNvPr id="10" name="组合 9"/>
          <p:cNvGrpSpPr/>
          <p:nvPr/>
        </p:nvGrpSpPr>
        <p:grpSpPr>
          <a:xfrm>
            <a:off x="8254440" y="2459421"/>
            <a:ext cx="3580207" cy="692331"/>
            <a:chOff x="412809" y="4760604"/>
            <a:chExt cx="3714464" cy="684740"/>
          </a:xfrm>
        </p:grpSpPr>
        <p:sp>
          <p:nvSpPr>
            <p:cNvPr id="16" name="文本框 15"/>
            <p:cNvSpPr txBox="1"/>
            <p:nvPr/>
          </p:nvSpPr>
          <p:spPr>
            <a:xfrm>
              <a:off x="412809" y="4929097"/>
              <a:ext cx="3714464" cy="516247"/>
            </a:xfrm>
            <a:prstGeom prst="rect">
              <a:avLst/>
            </a:prstGeom>
            <a:noFill/>
          </p:spPr>
          <p:txBody>
            <a:bodyPr wrap="square" rtlCol="0">
              <a:spAutoFit/>
            </a:bodyPr>
            <a:lstStyle>
              <a:defPPr>
                <a:defRPr lang="zh-CN"/>
              </a:defPPr>
              <a:lvl1pPr lvl="0">
                <a:defRPr kumimoji="0" sz="2400" b="1" i="0" u="none" strike="noStrike" cap="none" spc="0" normalizeH="0" baseline="0">
                  <a:ln>
                    <a:noFill/>
                  </a:ln>
                  <a:solidFill>
                    <a:srgbClr val="1C69D4"/>
                  </a:solidFill>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vl2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2pPr>
              <a:lvl3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3pPr>
              <a:lvl4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4pPr>
              <a:lvl5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5pPr>
              <a:lvl6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6pPr>
              <a:lvl7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7pPr>
              <a:lvl8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8pPr>
              <a:lvl9pPr marL="0" marR="0" indent="0" defTabSz="45720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defRPr>
              </a:lvl9pPr>
            </a:lstStyle>
            <a:p>
              <a:r>
                <a:rPr lang="zh-CN" altLang="en-US" sz="2800" spc="300" dirty="0"/>
                <a:t>销售云产品</a:t>
              </a:r>
              <a:endParaRPr lang="zh-CN" altLang="en-US" sz="2800" spc="300" dirty="0"/>
            </a:p>
          </p:txBody>
        </p:sp>
        <p:sp>
          <p:nvSpPr>
            <p:cNvPr id="3" name="矩形 2"/>
            <p:cNvSpPr/>
            <p:nvPr/>
          </p:nvSpPr>
          <p:spPr>
            <a:xfrm>
              <a:off x="503767" y="4760604"/>
              <a:ext cx="67261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69" name="矩形: 圆顶角 68"/>
          <p:cNvSpPr/>
          <p:nvPr/>
        </p:nvSpPr>
        <p:spPr>
          <a:xfrm rot="5400000">
            <a:off x="2690273" y="-597430"/>
            <a:ext cx="2743200" cy="8123741"/>
          </a:xfrm>
          <a:prstGeom prst="round2SameRect">
            <a:avLst>
              <a:gd name="adj1" fmla="val 19712"/>
              <a:gd name="adj2" fmla="val 0"/>
            </a:avLst>
          </a:prstGeom>
          <a:solidFill>
            <a:srgbClr val="1C69D4">
              <a:alpha val="27000"/>
            </a:srgbClr>
          </a:solidFill>
          <a:ln>
            <a:noFill/>
          </a:ln>
          <a:effectLst>
            <a:outerShdw blurRad="342900" dist="38100" dir="54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82200" y="3153865"/>
            <a:ext cx="4241233" cy="1014730"/>
          </a:xfrm>
          <a:prstGeom prst="rect">
            <a:avLst/>
          </a:prstGeom>
          <a:noFill/>
        </p:spPr>
        <p:txBody>
          <a:bodyPr wrap="square">
            <a:spAutoFit/>
          </a:bodyPr>
          <a:lstStyle/>
          <a:p>
            <a:r>
              <a:rPr lang="en-US" altLang="zh-CN" sz="6000" b="1" spc="300" dirty="0">
                <a:solidFill>
                  <a:srgbClr val="F3F8F2">
                    <a:alpha val="62000"/>
                  </a:srgbClr>
                </a:solidFill>
                <a:latin typeface="微软雅黑" panose="020B0503020204020204" pitchFamily="34" charset="-122"/>
                <a:ea typeface="微软雅黑" panose="020B0503020204020204" pitchFamily="34" charset="-122"/>
              </a:rPr>
              <a:t>Part 2</a:t>
            </a:r>
            <a:endParaRPr lang="zh-CN" altLang="en-US" sz="4400" b="1" spc="300" dirty="0">
              <a:solidFill>
                <a:srgbClr val="F3F8F2">
                  <a:alpha val="62000"/>
                </a:srgb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itle 3"/>
          <p:cNvSpPr txBox="1"/>
          <p:nvPr/>
        </p:nvSpPr>
        <p:spPr>
          <a:xfrm>
            <a:off x="606692" y="340810"/>
            <a:ext cx="5739075" cy="428600"/>
          </a:xfrm>
          <a:prstGeom prst="rect">
            <a:avLst/>
          </a:prstGeom>
          <a:ln w="12700">
            <a:miter lim="400000"/>
          </a:ln>
        </p:spPr>
        <p:txBody>
          <a:bodyPr lIns="60959" rIns="60959" anchor="t">
            <a:noAutofit/>
          </a:bodyPr>
          <a:lstStyle>
            <a:lvl1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1pPr>
            <a:lvl2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2pPr>
            <a:lvl3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3pPr>
            <a:lvl4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4pPr>
            <a:lvl5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5pPr>
            <a:lvl6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6pPr>
            <a:lvl7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7pPr>
            <a:lvl8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8pPr>
            <a:lvl9pPr marL="0" marR="0" indent="0" algn="ctr" defTabSz="457200" rtl="0" latinLnBrk="0">
              <a:lnSpc>
                <a:spcPct val="100000"/>
              </a:lnSpc>
              <a:spcBef>
                <a:spcPts val="0"/>
              </a:spcBef>
              <a:spcAft>
                <a:spcPts val="0"/>
              </a:spcAft>
              <a:buClrTx/>
              <a:buSzTx/>
              <a:buFontTx/>
              <a:buNone/>
              <a:defRPr sz="4400" b="0" i="0" u="none" strike="noStrike" cap="none" spc="0" baseline="0">
                <a:ln>
                  <a:noFill/>
                </a:ln>
                <a:solidFill>
                  <a:srgbClr val="000000"/>
                </a:solidFill>
                <a:uFillTx/>
                <a:latin typeface="+mn-lt"/>
                <a:ea typeface="+mn-ea"/>
                <a:cs typeface="+mn-cs"/>
                <a:sym typeface="Calibri" panose="020F0502020204030204"/>
              </a:defRPr>
            </a:lvl9pPr>
          </a:lstStyle>
          <a:p>
            <a:pPr algn="l" defTabSz="812800">
              <a:defRPr/>
            </a:pP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拆解销售黑匣子，透明化管理销售全过程</a:t>
            </a:r>
            <a:endPar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a:p>
            <a:pPr algn="l" defTabSz="812800">
              <a:defRPr/>
            </a:pPr>
            <a:endParaRPr lang="zh-CN" altLang="en-US" sz="2400" b="1" spc="400" dirty="0">
              <a:solidFill>
                <a:srgbClr val="404040"/>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1" name="弧形 130"/>
          <p:cNvSpPr/>
          <p:nvPr>
            <p:custDataLst>
              <p:tags r:id="rId1"/>
            </p:custDataLst>
          </p:nvPr>
        </p:nvSpPr>
        <p:spPr>
          <a:xfrm>
            <a:off x="2748830" y="1612999"/>
            <a:ext cx="6367082" cy="7000869"/>
          </a:xfrm>
          <a:prstGeom prst="arc">
            <a:avLst>
              <a:gd name="adj1" fmla="val 11771538"/>
              <a:gd name="adj2" fmla="val 20707085"/>
            </a:avLst>
          </a:prstGeom>
          <a:ln w="69850" cap="rnd">
            <a:solidFill>
              <a:sysClr val="window" lastClr="FFFFFF">
                <a:lumMod val="75000"/>
              </a:sysClr>
            </a:solidFill>
            <a:prstDash val="sysDot"/>
            <a:round/>
          </a:ln>
        </p:spPr>
        <p:style>
          <a:lnRef idx="1">
            <a:srgbClr val="1F74AD"/>
          </a:lnRef>
          <a:fillRef idx="0">
            <a:srgbClr val="1F74AD"/>
          </a:fillRef>
          <a:effectRef idx="0">
            <a:srgbClr val="1F74AD"/>
          </a:effectRef>
          <a:fontRef idx="minor">
            <a:srgbClr val="000000"/>
          </a:fontRef>
        </p:style>
        <p:txBody>
          <a:bodyPr anchor="ctr"/>
          <a:lstStyle/>
          <a:p>
            <a:pPr algn="ctr">
              <a:lnSpc>
                <a:spcPct val="130000"/>
              </a:lnSpc>
            </a:pPr>
            <a:endParaRPr sz="1200">
              <a:latin typeface="苹方-简" panose="020B0400000000000000" pitchFamily="2" charset="-120"/>
              <a:ea typeface="苹方-简" panose="020B0400000000000000" pitchFamily="2" charset="-120"/>
              <a:cs typeface="苹方-简" panose="020B0400000000000000" pitchFamily="2" charset="-120"/>
            </a:endParaRPr>
          </a:p>
        </p:txBody>
      </p:sp>
      <p:sp>
        <p:nvSpPr>
          <p:cNvPr id="4" name="椭圆 3"/>
          <p:cNvSpPr/>
          <p:nvPr>
            <p:custDataLst>
              <p:tags r:id="rId2"/>
            </p:custDataLst>
          </p:nvPr>
        </p:nvSpPr>
        <p:spPr>
          <a:xfrm>
            <a:off x="4609590" y="1403659"/>
            <a:ext cx="645639" cy="645639"/>
          </a:xfrm>
          <a:prstGeom prst="ellipse">
            <a:avLst/>
          </a:prstGeom>
          <a:solidFill>
            <a:srgbClr val="69A35B"/>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 name="椭圆 5"/>
          <p:cNvSpPr/>
          <p:nvPr>
            <p:custDataLst>
              <p:tags r:id="rId3"/>
            </p:custDataLst>
          </p:nvPr>
        </p:nvSpPr>
        <p:spPr>
          <a:xfrm>
            <a:off x="2523778" y="3715863"/>
            <a:ext cx="645639" cy="645639"/>
          </a:xfrm>
          <a:prstGeom prst="ellipse">
            <a:avLst/>
          </a:prstGeom>
          <a:solidFill>
            <a:srgbClr val="1F74AD"/>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 name="椭圆 7"/>
          <p:cNvSpPr/>
          <p:nvPr>
            <p:custDataLst>
              <p:tags r:id="rId4"/>
            </p:custDataLst>
          </p:nvPr>
        </p:nvSpPr>
        <p:spPr>
          <a:xfrm>
            <a:off x="6530792" y="1408811"/>
            <a:ext cx="645639" cy="645639"/>
          </a:xfrm>
          <a:prstGeom prst="ellipse">
            <a:avLst/>
          </a:prstGeom>
          <a:solidFill>
            <a:schemeClr val="accent2">
              <a:lumMod val="75000"/>
            </a:scheme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 name="椭圆 8"/>
          <p:cNvSpPr/>
          <p:nvPr>
            <p:custDataLst>
              <p:tags r:id="rId5"/>
            </p:custDataLst>
          </p:nvPr>
        </p:nvSpPr>
        <p:spPr>
          <a:xfrm>
            <a:off x="3285963" y="2360189"/>
            <a:ext cx="645639" cy="645639"/>
          </a:xfrm>
          <a:prstGeom prst="ellipse">
            <a:avLst/>
          </a:prstGeom>
          <a:solidFill>
            <a:srgbClr val="3498DB"/>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椭圆 6"/>
          <p:cNvSpPr/>
          <p:nvPr>
            <p:custDataLst>
              <p:tags r:id="rId6"/>
            </p:custDataLst>
          </p:nvPr>
        </p:nvSpPr>
        <p:spPr>
          <a:xfrm>
            <a:off x="7886865" y="2358759"/>
            <a:ext cx="645639" cy="645639"/>
          </a:xfrm>
          <a:prstGeom prst="ellipse">
            <a:avLst/>
          </a:prstGeom>
          <a:solidFill>
            <a:srgbClr val="FFC000"/>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9" name="椭圆 28"/>
          <p:cNvSpPr/>
          <p:nvPr>
            <p:custDataLst>
              <p:tags r:id="rId7"/>
            </p:custDataLst>
          </p:nvPr>
        </p:nvSpPr>
        <p:spPr>
          <a:xfrm>
            <a:off x="8668992" y="3720084"/>
            <a:ext cx="645639" cy="645639"/>
          </a:xfrm>
          <a:prstGeom prst="ellipse">
            <a:avLst/>
          </a:prstGeom>
          <a:solidFill>
            <a:srgbClr val="1AA3AA"/>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2" name="b4437930-d76b-4a1f-aeb8-361facac39e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custDataLst>
              <p:tags r:id="rId8"/>
            </p:custDataLst>
          </p:nvPr>
        </p:nvGrpSpPr>
        <p:grpSpPr>
          <a:xfrm>
            <a:off x="5181040" y="3167040"/>
            <a:ext cx="1525545" cy="1025943"/>
            <a:chOff x="2871788" y="881063"/>
            <a:chExt cx="6448425" cy="5116513"/>
          </a:xfrm>
        </p:grpSpPr>
        <p:sp>
          <p:nvSpPr>
            <p:cNvPr id="5" name="ïŝļiḑè"/>
            <p:cNvSpPr/>
            <p:nvPr/>
          </p:nvSpPr>
          <p:spPr bwMode="auto">
            <a:xfrm>
              <a:off x="3228976" y="881063"/>
              <a:ext cx="2290763" cy="3454400"/>
            </a:xfrm>
            <a:custGeom>
              <a:avLst/>
              <a:gdLst>
                <a:gd name="T0" fmla="*/ 18 w 1338"/>
                <a:gd name="T1" fmla="*/ 0 h 2021"/>
                <a:gd name="T2" fmla="*/ 1320 w 1338"/>
                <a:gd name="T3" fmla="*/ 0 h 2021"/>
                <a:gd name="T4" fmla="*/ 1338 w 1338"/>
                <a:gd name="T5" fmla="*/ 18 h 2021"/>
                <a:gd name="T6" fmla="*/ 1338 w 1338"/>
                <a:gd name="T7" fmla="*/ 2003 h 2021"/>
                <a:gd name="T8" fmla="*/ 1320 w 1338"/>
                <a:gd name="T9" fmla="*/ 2021 h 2021"/>
                <a:gd name="T10" fmla="*/ 18 w 1338"/>
                <a:gd name="T11" fmla="*/ 2021 h 2021"/>
                <a:gd name="T12" fmla="*/ 0 w 1338"/>
                <a:gd name="T13" fmla="*/ 2003 h 2021"/>
                <a:gd name="T14" fmla="*/ 0 w 1338"/>
                <a:gd name="T15" fmla="*/ 18 h 2021"/>
                <a:gd name="T16" fmla="*/ 18 w 1338"/>
                <a:gd name="T17" fmla="*/ 0 h 2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38" h="2021">
                  <a:moveTo>
                    <a:pt x="18" y="0"/>
                  </a:moveTo>
                  <a:cubicBezTo>
                    <a:pt x="1320" y="0"/>
                    <a:pt x="1320" y="0"/>
                    <a:pt x="1320" y="0"/>
                  </a:cubicBezTo>
                  <a:cubicBezTo>
                    <a:pt x="1330" y="0"/>
                    <a:pt x="1338" y="8"/>
                    <a:pt x="1338" y="18"/>
                  </a:cubicBezTo>
                  <a:cubicBezTo>
                    <a:pt x="1338" y="2003"/>
                    <a:pt x="1338" y="2003"/>
                    <a:pt x="1338" y="2003"/>
                  </a:cubicBezTo>
                  <a:cubicBezTo>
                    <a:pt x="1338" y="2013"/>
                    <a:pt x="1330" y="2021"/>
                    <a:pt x="1320" y="2021"/>
                  </a:cubicBezTo>
                  <a:cubicBezTo>
                    <a:pt x="18" y="2021"/>
                    <a:pt x="18" y="2021"/>
                    <a:pt x="18" y="2021"/>
                  </a:cubicBezTo>
                  <a:cubicBezTo>
                    <a:pt x="8" y="2021"/>
                    <a:pt x="0" y="2013"/>
                    <a:pt x="0" y="2003"/>
                  </a:cubicBezTo>
                  <a:cubicBezTo>
                    <a:pt x="0" y="18"/>
                    <a:pt x="0" y="18"/>
                    <a:pt x="0" y="18"/>
                  </a:cubicBezTo>
                  <a:cubicBezTo>
                    <a:pt x="0" y="8"/>
                    <a:pt x="8" y="0"/>
                    <a:pt x="18" y="0"/>
                  </a:cubicBezTo>
                </a:path>
              </a:pathLst>
            </a:custGeom>
            <a:solidFill>
              <a:schemeClr val="bg1">
                <a:lumMod val="85000"/>
                <a:alpha val="40000"/>
              </a:schemeClr>
            </a:solidFill>
            <a:ln>
              <a:noFill/>
            </a:ln>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 name="îSlîde"/>
            <p:cNvSpPr/>
            <p:nvPr/>
          </p:nvSpPr>
          <p:spPr bwMode="auto">
            <a:xfrm>
              <a:off x="3259138" y="904876"/>
              <a:ext cx="2228850" cy="3386138"/>
            </a:xfrm>
            <a:custGeom>
              <a:avLst/>
              <a:gdLst>
                <a:gd name="T0" fmla="*/ 18 w 1303"/>
                <a:gd name="T1" fmla="*/ 0 h 1981"/>
                <a:gd name="T2" fmla="*/ 1285 w 1303"/>
                <a:gd name="T3" fmla="*/ 0 h 1981"/>
                <a:gd name="T4" fmla="*/ 1303 w 1303"/>
                <a:gd name="T5" fmla="*/ 18 h 1981"/>
                <a:gd name="T6" fmla="*/ 1303 w 1303"/>
                <a:gd name="T7" fmla="*/ 1963 h 1981"/>
                <a:gd name="T8" fmla="*/ 1285 w 1303"/>
                <a:gd name="T9" fmla="*/ 1981 h 1981"/>
                <a:gd name="T10" fmla="*/ 18 w 1303"/>
                <a:gd name="T11" fmla="*/ 1981 h 1981"/>
                <a:gd name="T12" fmla="*/ 0 w 1303"/>
                <a:gd name="T13" fmla="*/ 1963 h 1981"/>
                <a:gd name="T14" fmla="*/ 0 w 1303"/>
                <a:gd name="T15" fmla="*/ 18 h 1981"/>
                <a:gd name="T16" fmla="*/ 18 w 1303"/>
                <a:gd name="T17" fmla="*/ 0 h 19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3" h="1981">
                  <a:moveTo>
                    <a:pt x="18" y="0"/>
                  </a:moveTo>
                  <a:cubicBezTo>
                    <a:pt x="1285" y="0"/>
                    <a:pt x="1285" y="0"/>
                    <a:pt x="1285" y="0"/>
                  </a:cubicBezTo>
                  <a:cubicBezTo>
                    <a:pt x="1295" y="0"/>
                    <a:pt x="1303" y="8"/>
                    <a:pt x="1303" y="18"/>
                  </a:cubicBezTo>
                  <a:cubicBezTo>
                    <a:pt x="1303" y="1963"/>
                    <a:pt x="1303" y="1963"/>
                    <a:pt x="1303" y="1963"/>
                  </a:cubicBezTo>
                  <a:cubicBezTo>
                    <a:pt x="1303" y="1973"/>
                    <a:pt x="1295" y="1981"/>
                    <a:pt x="1285" y="1981"/>
                  </a:cubicBezTo>
                  <a:cubicBezTo>
                    <a:pt x="18" y="1981"/>
                    <a:pt x="18" y="1981"/>
                    <a:pt x="18" y="1981"/>
                  </a:cubicBezTo>
                  <a:cubicBezTo>
                    <a:pt x="8" y="1981"/>
                    <a:pt x="0" y="1973"/>
                    <a:pt x="0" y="1963"/>
                  </a:cubicBezTo>
                  <a:cubicBezTo>
                    <a:pt x="0" y="18"/>
                    <a:pt x="0" y="18"/>
                    <a:pt x="0" y="18"/>
                  </a:cubicBezTo>
                  <a:cubicBezTo>
                    <a:pt x="0" y="8"/>
                    <a:pt x="8" y="0"/>
                    <a:pt x="18" y="0"/>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 name="ï$lîďè"/>
            <p:cNvSpPr/>
            <p:nvPr/>
          </p:nvSpPr>
          <p:spPr bwMode="auto">
            <a:xfrm>
              <a:off x="3482976" y="1528763"/>
              <a:ext cx="444500" cy="401638"/>
            </a:xfrm>
            <a:custGeom>
              <a:avLst/>
              <a:gdLst>
                <a:gd name="T0" fmla="*/ 242 w 260"/>
                <a:gd name="T1" fmla="*/ 0 h 235"/>
                <a:gd name="T2" fmla="*/ 18 w 260"/>
                <a:gd name="T3" fmla="*/ 0 h 235"/>
                <a:gd name="T4" fmla="*/ 0 w 260"/>
                <a:gd name="T5" fmla="*/ 18 h 235"/>
                <a:gd name="T6" fmla="*/ 0 w 260"/>
                <a:gd name="T7" fmla="*/ 217 h 235"/>
                <a:gd name="T8" fmla="*/ 18 w 260"/>
                <a:gd name="T9" fmla="*/ 235 h 235"/>
                <a:gd name="T10" fmla="*/ 242 w 260"/>
                <a:gd name="T11" fmla="*/ 235 h 235"/>
                <a:gd name="T12" fmla="*/ 260 w 260"/>
                <a:gd name="T13" fmla="*/ 217 h 235"/>
                <a:gd name="T14" fmla="*/ 260 w 260"/>
                <a:gd name="T15" fmla="*/ 18 h 235"/>
                <a:gd name="T16" fmla="*/ 242 w 260"/>
                <a:gd name="T17"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35">
                  <a:moveTo>
                    <a:pt x="242" y="0"/>
                  </a:moveTo>
                  <a:cubicBezTo>
                    <a:pt x="18" y="0"/>
                    <a:pt x="18" y="0"/>
                    <a:pt x="18" y="0"/>
                  </a:cubicBezTo>
                  <a:cubicBezTo>
                    <a:pt x="8" y="0"/>
                    <a:pt x="0" y="8"/>
                    <a:pt x="0" y="18"/>
                  </a:cubicBezTo>
                  <a:cubicBezTo>
                    <a:pt x="0" y="217"/>
                    <a:pt x="0" y="217"/>
                    <a:pt x="0" y="217"/>
                  </a:cubicBezTo>
                  <a:cubicBezTo>
                    <a:pt x="0" y="227"/>
                    <a:pt x="8" y="235"/>
                    <a:pt x="18" y="235"/>
                  </a:cubicBezTo>
                  <a:cubicBezTo>
                    <a:pt x="242" y="235"/>
                    <a:pt x="242" y="235"/>
                    <a:pt x="242" y="235"/>
                  </a:cubicBezTo>
                  <a:cubicBezTo>
                    <a:pt x="252" y="235"/>
                    <a:pt x="260" y="227"/>
                    <a:pt x="260" y="217"/>
                  </a:cubicBezTo>
                  <a:cubicBezTo>
                    <a:pt x="260" y="18"/>
                    <a:pt x="260" y="18"/>
                    <a:pt x="260" y="18"/>
                  </a:cubicBezTo>
                  <a:cubicBezTo>
                    <a:pt x="260" y="8"/>
                    <a:pt x="252" y="0"/>
                    <a:pt x="242" y="0"/>
                  </a:cubicBezTo>
                </a:path>
              </a:pathLst>
            </a:custGeom>
            <a:solidFill>
              <a:srgbClr val="9ABB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4" name="iṣḻíďè"/>
            <p:cNvSpPr/>
            <p:nvPr/>
          </p:nvSpPr>
          <p:spPr bwMode="auto">
            <a:xfrm>
              <a:off x="4062413" y="1528763"/>
              <a:ext cx="1203325" cy="44450"/>
            </a:xfrm>
            <a:custGeom>
              <a:avLst/>
              <a:gdLst>
                <a:gd name="T0" fmla="*/ 11 w 703"/>
                <a:gd name="T1" fmla="*/ 0 h 26"/>
                <a:gd name="T2" fmla="*/ 692 w 703"/>
                <a:gd name="T3" fmla="*/ 0 h 26"/>
                <a:gd name="T4" fmla="*/ 703 w 703"/>
                <a:gd name="T5" fmla="*/ 12 h 26"/>
                <a:gd name="T6" fmla="*/ 703 w 703"/>
                <a:gd name="T7" fmla="*/ 15 h 26"/>
                <a:gd name="T8" fmla="*/ 692 w 703"/>
                <a:gd name="T9" fmla="*/ 26 h 26"/>
                <a:gd name="T10" fmla="*/ 11 w 703"/>
                <a:gd name="T11" fmla="*/ 26 h 26"/>
                <a:gd name="T12" fmla="*/ 0 w 703"/>
                <a:gd name="T13" fmla="*/ 15 h 26"/>
                <a:gd name="T14" fmla="*/ 0 w 703"/>
                <a:gd name="T15" fmla="*/ 12 h 26"/>
                <a:gd name="T16" fmla="*/ 11 w 703"/>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3" h="26">
                  <a:moveTo>
                    <a:pt x="11" y="0"/>
                  </a:moveTo>
                  <a:cubicBezTo>
                    <a:pt x="692" y="0"/>
                    <a:pt x="692" y="0"/>
                    <a:pt x="692" y="0"/>
                  </a:cubicBezTo>
                  <a:cubicBezTo>
                    <a:pt x="698" y="0"/>
                    <a:pt x="703" y="5"/>
                    <a:pt x="703" y="12"/>
                  </a:cubicBezTo>
                  <a:cubicBezTo>
                    <a:pt x="703" y="15"/>
                    <a:pt x="703" y="15"/>
                    <a:pt x="703" y="15"/>
                  </a:cubicBezTo>
                  <a:cubicBezTo>
                    <a:pt x="703" y="21"/>
                    <a:pt x="698" y="26"/>
                    <a:pt x="692" y="26"/>
                  </a:cubicBezTo>
                  <a:cubicBezTo>
                    <a:pt x="11" y="26"/>
                    <a:pt x="11" y="26"/>
                    <a:pt x="11" y="26"/>
                  </a:cubicBezTo>
                  <a:cubicBezTo>
                    <a:pt x="5" y="26"/>
                    <a:pt x="0" y="21"/>
                    <a:pt x="0" y="15"/>
                  </a:cubicBezTo>
                  <a:cubicBezTo>
                    <a:pt x="0" y="12"/>
                    <a:pt x="0" y="12"/>
                    <a:pt x="0" y="12"/>
                  </a:cubicBezTo>
                  <a:cubicBezTo>
                    <a:pt x="0" y="5"/>
                    <a:pt x="5" y="0"/>
                    <a:pt x="11"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5" name="î$lîḓé"/>
            <p:cNvSpPr/>
            <p:nvPr/>
          </p:nvSpPr>
          <p:spPr bwMode="auto">
            <a:xfrm>
              <a:off x="4062413" y="1662113"/>
              <a:ext cx="1000125" cy="46038"/>
            </a:xfrm>
            <a:custGeom>
              <a:avLst/>
              <a:gdLst>
                <a:gd name="T0" fmla="*/ 11 w 584"/>
                <a:gd name="T1" fmla="*/ 0 h 27"/>
                <a:gd name="T2" fmla="*/ 573 w 584"/>
                <a:gd name="T3" fmla="*/ 0 h 27"/>
                <a:gd name="T4" fmla="*/ 584 w 584"/>
                <a:gd name="T5" fmla="*/ 12 h 27"/>
                <a:gd name="T6" fmla="*/ 584 w 584"/>
                <a:gd name="T7" fmla="*/ 15 h 27"/>
                <a:gd name="T8" fmla="*/ 573 w 584"/>
                <a:gd name="T9" fmla="*/ 27 h 27"/>
                <a:gd name="T10" fmla="*/ 11 w 584"/>
                <a:gd name="T11" fmla="*/ 27 h 27"/>
                <a:gd name="T12" fmla="*/ 0 w 584"/>
                <a:gd name="T13" fmla="*/ 15 h 27"/>
                <a:gd name="T14" fmla="*/ 0 w 584"/>
                <a:gd name="T15" fmla="*/ 12 h 27"/>
                <a:gd name="T16" fmla="*/ 11 w 584"/>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4" h="27">
                  <a:moveTo>
                    <a:pt x="11" y="0"/>
                  </a:moveTo>
                  <a:cubicBezTo>
                    <a:pt x="573" y="0"/>
                    <a:pt x="573" y="0"/>
                    <a:pt x="573" y="0"/>
                  </a:cubicBezTo>
                  <a:cubicBezTo>
                    <a:pt x="579" y="0"/>
                    <a:pt x="584" y="6"/>
                    <a:pt x="584" y="12"/>
                  </a:cubicBezTo>
                  <a:cubicBezTo>
                    <a:pt x="584" y="15"/>
                    <a:pt x="584" y="15"/>
                    <a:pt x="584" y="15"/>
                  </a:cubicBezTo>
                  <a:cubicBezTo>
                    <a:pt x="584" y="22"/>
                    <a:pt x="579" y="27"/>
                    <a:pt x="573" y="27"/>
                  </a:cubicBezTo>
                  <a:cubicBezTo>
                    <a:pt x="11" y="27"/>
                    <a:pt x="11" y="27"/>
                    <a:pt x="11" y="27"/>
                  </a:cubicBezTo>
                  <a:cubicBezTo>
                    <a:pt x="5" y="27"/>
                    <a:pt x="0" y="22"/>
                    <a:pt x="0" y="15"/>
                  </a:cubicBezTo>
                  <a:cubicBezTo>
                    <a:pt x="0" y="12"/>
                    <a:pt x="0" y="12"/>
                    <a:pt x="0" y="12"/>
                  </a:cubicBezTo>
                  <a:cubicBezTo>
                    <a:pt x="0" y="6"/>
                    <a:pt x="5" y="0"/>
                    <a:pt x="11"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36" name="ïṧľídé"/>
            <p:cNvSpPr/>
            <p:nvPr/>
          </p:nvSpPr>
          <p:spPr bwMode="auto">
            <a:xfrm>
              <a:off x="3482976" y="2152651"/>
              <a:ext cx="444500" cy="401638"/>
            </a:xfrm>
            <a:custGeom>
              <a:avLst/>
              <a:gdLst>
                <a:gd name="T0" fmla="*/ 242 w 260"/>
                <a:gd name="T1" fmla="*/ 0 h 235"/>
                <a:gd name="T2" fmla="*/ 18 w 260"/>
                <a:gd name="T3" fmla="*/ 0 h 235"/>
                <a:gd name="T4" fmla="*/ 0 w 260"/>
                <a:gd name="T5" fmla="*/ 18 h 235"/>
                <a:gd name="T6" fmla="*/ 0 w 260"/>
                <a:gd name="T7" fmla="*/ 217 h 235"/>
                <a:gd name="T8" fmla="*/ 18 w 260"/>
                <a:gd name="T9" fmla="*/ 235 h 235"/>
                <a:gd name="T10" fmla="*/ 242 w 260"/>
                <a:gd name="T11" fmla="*/ 235 h 235"/>
                <a:gd name="T12" fmla="*/ 260 w 260"/>
                <a:gd name="T13" fmla="*/ 217 h 235"/>
                <a:gd name="T14" fmla="*/ 260 w 260"/>
                <a:gd name="T15" fmla="*/ 18 h 235"/>
                <a:gd name="T16" fmla="*/ 242 w 260"/>
                <a:gd name="T17"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35">
                  <a:moveTo>
                    <a:pt x="242" y="0"/>
                  </a:moveTo>
                  <a:cubicBezTo>
                    <a:pt x="18" y="0"/>
                    <a:pt x="18" y="0"/>
                    <a:pt x="18" y="0"/>
                  </a:cubicBezTo>
                  <a:cubicBezTo>
                    <a:pt x="8" y="0"/>
                    <a:pt x="0" y="8"/>
                    <a:pt x="0" y="18"/>
                  </a:cubicBezTo>
                  <a:cubicBezTo>
                    <a:pt x="0" y="217"/>
                    <a:pt x="0" y="217"/>
                    <a:pt x="0" y="217"/>
                  </a:cubicBezTo>
                  <a:cubicBezTo>
                    <a:pt x="0" y="227"/>
                    <a:pt x="8" y="235"/>
                    <a:pt x="18" y="235"/>
                  </a:cubicBezTo>
                  <a:cubicBezTo>
                    <a:pt x="242" y="235"/>
                    <a:pt x="242" y="235"/>
                    <a:pt x="242" y="235"/>
                  </a:cubicBezTo>
                  <a:cubicBezTo>
                    <a:pt x="252" y="235"/>
                    <a:pt x="260" y="227"/>
                    <a:pt x="260" y="217"/>
                  </a:cubicBezTo>
                  <a:cubicBezTo>
                    <a:pt x="260" y="18"/>
                    <a:pt x="260" y="18"/>
                    <a:pt x="260" y="18"/>
                  </a:cubicBezTo>
                  <a:cubicBezTo>
                    <a:pt x="260" y="8"/>
                    <a:pt x="252" y="0"/>
                    <a:pt x="242" y="0"/>
                  </a:cubicBezTo>
                </a:path>
              </a:pathLst>
            </a:custGeom>
            <a:solidFill>
              <a:srgbClr val="9ABB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39" name="iś1ídé"/>
            <p:cNvSpPr/>
            <p:nvPr/>
          </p:nvSpPr>
          <p:spPr bwMode="auto">
            <a:xfrm>
              <a:off x="4062413" y="2152651"/>
              <a:ext cx="1203325" cy="44450"/>
            </a:xfrm>
            <a:custGeom>
              <a:avLst/>
              <a:gdLst>
                <a:gd name="T0" fmla="*/ 11 w 703"/>
                <a:gd name="T1" fmla="*/ 0 h 26"/>
                <a:gd name="T2" fmla="*/ 692 w 703"/>
                <a:gd name="T3" fmla="*/ 0 h 26"/>
                <a:gd name="T4" fmla="*/ 703 w 703"/>
                <a:gd name="T5" fmla="*/ 11 h 26"/>
                <a:gd name="T6" fmla="*/ 703 w 703"/>
                <a:gd name="T7" fmla="*/ 15 h 26"/>
                <a:gd name="T8" fmla="*/ 692 w 703"/>
                <a:gd name="T9" fmla="*/ 26 h 26"/>
                <a:gd name="T10" fmla="*/ 11 w 703"/>
                <a:gd name="T11" fmla="*/ 26 h 26"/>
                <a:gd name="T12" fmla="*/ 0 w 703"/>
                <a:gd name="T13" fmla="*/ 15 h 26"/>
                <a:gd name="T14" fmla="*/ 0 w 703"/>
                <a:gd name="T15" fmla="*/ 11 h 26"/>
                <a:gd name="T16" fmla="*/ 11 w 703"/>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3" h="26">
                  <a:moveTo>
                    <a:pt x="11" y="0"/>
                  </a:moveTo>
                  <a:cubicBezTo>
                    <a:pt x="692" y="0"/>
                    <a:pt x="692" y="0"/>
                    <a:pt x="692" y="0"/>
                  </a:cubicBezTo>
                  <a:cubicBezTo>
                    <a:pt x="698" y="0"/>
                    <a:pt x="703" y="5"/>
                    <a:pt x="703" y="11"/>
                  </a:cubicBezTo>
                  <a:cubicBezTo>
                    <a:pt x="703" y="15"/>
                    <a:pt x="703" y="15"/>
                    <a:pt x="703" y="15"/>
                  </a:cubicBezTo>
                  <a:cubicBezTo>
                    <a:pt x="703" y="21"/>
                    <a:pt x="698" y="26"/>
                    <a:pt x="692" y="26"/>
                  </a:cubicBezTo>
                  <a:cubicBezTo>
                    <a:pt x="11" y="26"/>
                    <a:pt x="11" y="26"/>
                    <a:pt x="11" y="26"/>
                  </a:cubicBezTo>
                  <a:cubicBezTo>
                    <a:pt x="5" y="26"/>
                    <a:pt x="0" y="21"/>
                    <a:pt x="0" y="15"/>
                  </a:cubicBezTo>
                  <a:cubicBezTo>
                    <a:pt x="0" y="11"/>
                    <a:pt x="0" y="11"/>
                    <a:pt x="0" y="11"/>
                  </a:cubicBezTo>
                  <a:cubicBezTo>
                    <a:pt x="0" y="5"/>
                    <a:pt x="5" y="0"/>
                    <a:pt x="11"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1" name="îṧ1ïďê"/>
            <p:cNvSpPr/>
            <p:nvPr/>
          </p:nvSpPr>
          <p:spPr bwMode="auto">
            <a:xfrm>
              <a:off x="4062413" y="2286001"/>
              <a:ext cx="1203325" cy="44450"/>
            </a:xfrm>
            <a:custGeom>
              <a:avLst/>
              <a:gdLst>
                <a:gd name="T0" fmla="*/ 11 w 703"/>
                <a:gd name="T1" fmla="*/ 0 h 26"/>
                <a:gd name="T2" fmla="*/ 692 w 703"/>
                <a:gd name="T3" fmla="*/ 0 h 26"/>
                <a:gd name="T4" fmla="*/ 703 w 703"/>
                <a:gd name="T5" fmla="*/ 12 h 26"/>
                <a:gd name="T6" fmla="*/ 703 w 703"/>
                <a:gd name="T7" fmla="*/ 15 h 26"/>
                <a:gd name="T8" fmla="*/ 692 w 703"/>
                <a:gd name="T9" fmla="*/ 26 h 26"/>
                <a:gd name="T10" fmla="*/ 11 w 703"/>
                <a:gd name="T11" fmla="*/ 26 h 26"/>
                <a:gd name="T12" fmla="*/ 0 w 703"/>
                <a:gd name="T13" fmla="*/ 15 h 26"/>
                <a:gd name="T14" fmla="*/ 0 w 703"/>
                <a:gd name="T15" fmla="*/ 12 h 26"/>
                <a:gd name="T16" fmla="*/ 11 w 703"/>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3" h="26">
                  <a:moveTo>
                    <a:pt x="11" y="0"/>
                  </a:moveTo>
                  <a:cubicBezTo>
                    <a:pt x="692" y="0"/>
                    <a:pt x="692" y="0"/>
                    <a:pt x="692" y="0"/>
                  </a:cubicBezTo>
                  <a:cubicBezTo>
                    <a:pt x="698" y="0"/>
                    <a:pt x="703" y="5"/>
                    <a:pt x="703" y="12"/>
                  </a:cubicBezTo>
                  <a:cubicBezTo>
                    <a:pt x="703" y="15"/>
                    <a:pt x="703" y="15"/>
                    <a:pt x="703" y="15"/>
                  </a:cubicBezTo>
                  <a:cubicBezTo>
                    <a:pt x="703" y="21"/>
                    <a:pt x="698" y="26"/>
                    <a:pt x="692" y="26"/>
                  </a:cubicBezTo>
                  <a:cubicBezTo>
                    <a:pt x="11" y="26"/>
                    <a:pt x="11" y="26"/>
                    <a:pt x="11" y="26"/>
                  </a:cubicBezTo>
                  <a:cubicBezTo>
                    <a:pt x="5" y="26"/>
                    <a:pt x="0" y="21"/>
                    <a:pt x="0" y="15"/>
                  </a:cubicBezTo>
                  <a:cubicBezTo>
                    <a:pt x="0" y="12"/>
                    <a:pt x="0" y="12"/>
                    <a:pt x="0" y="12"/>
                  </a:cubicBezTo>
                  <a:cubicBezTo>
                    <a:pt x="0" y="5"/>
                    <a:pt x="5" y="0"/>
                    <a:pt x="11"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2" name="ïṣ1íḋê"/>
            <p:cNvSpPr/>
            <p:nvPr/>
          </p:nvSpPr>
          <p:spPr bwMode="auto">
            <a:xfrm>
              <a:off x="3482976" y="2776538"/>
              <a:ext cx="444500" cy="401638"/>
            </a:xfrm>
            <a:custGeom>
              <a:avLst/>
              <a:gdLst>
                <a:gd name="T0" fmla="*/ 242 w 260"/>
                <a:gd name="T1" fmla="*/ 0 h 235"/>
                <a:gd name="T2" fmla="*/ 18 w 260"/>
                <a:gd name="T3" fmla="*/ 0 h 235"/>
                <a:gd name="T4" fmla="*/ 0 w 260"/>
                <a:gd name="T5" fmla="*/ 18 h 235"/>
                <a:gd name="T6" fmla="*/ 0 w 260"/>
                <a:gd name="T7" fmla="*/ 217 h 235"/>
                <a:gd name="T8" fmla="*/ 18 w 260"/>
                <a:gd name="T9" fmla="*/ 235 h 235"/>
                <a:gd name="T10" fmla="*/ 242 w 260"/>
                <a:gd name="T11" fmla="*/ 235 h 235"/>
                <a:gd name="T12" fmla="*/ 260 w 260"/>
                <a:gd name="T13" fmla="*/ 217 h 235"/>
                <a:gd name="T14" fmla="*/ 260 w 260"/>
                <a:gd name="T15" fmla="*/ 18 h 235"/>
                <a:gd name="T16" fmla="*/ 242 w 260"/>
                <a:gd name="T17"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35">
                  <a:moveTo>
                    <a:pt x="242" y="0"/>
                  </a:moveTo>
                  <a:cubicBezTo>
                    <a:pt x="18" y="0"/>
                    <a:pt x="18" y="0"/>
                    <a:pt x="18" y="0"/>
                  </a:cubicBezTo>
                  <a:cubicBezTo>
                    <a:pt x="8" y="0"/>
                    <a:pt x="0" y="8"/>
                    <a:pt x="0" y="18"/>
                  </a:cubicBezTo>
                  <a:cubicBezTo>
                    <a:pt x="0" y="217"/>
                    <a:pt x="0" y="217"/>
                    <a:pt x="0" y="217"/>
                  </a:cubicBezTo>
                  <a:cubicBezTo>
                    <a:pt x="0" y="226"/>
                    <a:pt x="8" y="235"/>
                    <a:pt x="18" y="235"/>
                  </a:cubicBezTo>
                  <a:cubicBezTo>
                    <a:pt x="242" y="235"/>
                    <a:pt x="242" y="235"/>
                    <a:pt x="242" y="235"/>
                  </a:cubicBezTo>
                  <a:cubicBezTo>
                    <a:pt x="252" y="235"/>
                    <a:pt x="260" y="226"/>
                    <a:pt x="260" y="217"/>
                  </a:cubicBezTo>
                  <a:cubicBezTo>
                    <a:pt x="260" y="18"/>
                    <a:pt x="260" y="18"/>
                    <a:pt x="260" y="18"/>
                  </a:cubicBezTo>
                  <a:cubicBezTo>
                    <a:pt x="260" y="8"/>
                    <a:pt x="252" y="0"/>
                    <a:pt x="242" y="0"/>
                  </a:cubicBezTo>
                </a:path>
              </a:pathLst>
            </a:custGeom>
            <a:solidFill>
              <a:srgbClr val="9ABBF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3" name="îṩḷíḑè"/>
            <p:cNvSpPr/>
            <p:nvPr/>
          </p:nvSpPr>
          <p:spPr bwMode="auto">
            <a:xfrm>
              <a:off x="4062413" y="2776538"/>
              <a:ext cx="1203325" cy="44450"/>
            </a:xfrm>
            <a:custGeom>
              <a:avLst/>
              <a:gdLst>
                <a:gd name="T0" fmla="*/ 11 w 703"/>
                <a:gd name="T1" fmla="*/ 0 h 26"/>
                <a:gd name="T2" fmla="*/ 692 w 703"/>
                <a:gd name="T3" fmla="*/ 0 h 26"/>
                <a:gd name="T4" fmla="*/ 703 w 703"/>
                <a:gd name="T5" fmla="*/ 11 h 26"/>
                <a:gd name="T6" fmla="*/ 703 w 703"/>
                <a:gd name="T7" fmla="*/ 15 h 26"/>
                <a:gd name="T8" fmla="*/ 692 w 703"/>
                <a:gd name="T9" fmla="*/ 26 h 26"/>
                <a:gd name="T10" fmla="*/ 11 w 703"/>
                <a:gd name="T11" fmla="*/ 26 h 26"/>
                <a:gd name="T12" fmla="*/ 0 w 703"/>
                <a:gd name="T13" fmla="*/ 15 h 26"/>
                <a:gd name="T14" fmla="*/ 0 w 703"/>
                <a:gd name="T15" fmla="*/ 11 h 26"/>
                <a:gd name="T16" fmla="*/ 11 w 703"/>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3" h="26">
                  <a:moveTo>
                    <a:pt x="11" y="0"/>
                  </a:moveTo>
                  <a:cubicBezTo>
                    <a:pt x="692" y="0"/>
                    <a:pt x="692" y="0"/>
                    <a:pt x="692" y="0"/>
                  </a:cubicBezTo>
                  <a:cubicBezTo>
                    <a:pt x="698" y="0"/>
                    <a:pt x="703" y="5"/>
                    <a:pt x="703" y="11"/>
                  </a:cubicBezTo>
                  <a:cubicBezTo>
                    <a:pt x="703" y="15"/>
                    <a:pt x="703" y="15"/>
                    <a:pt x="703" y="15"/>
                  </a:cubicBezTo>
                  <a:cubicBezTo>
                    <a:pt x="703" y="21"/>
                    <a:pt x="698" y="26"/>
                    <a:pt x="692" y="26"/>
                  </a:cubicBezTo>
                  <a:cubicBezTo>
                    <a:pt x="11" y="26"/>
                    <a:pt x="11" y="26"/>
                    <a:pt x="11" y="26"/>
                  </a:cubicBezTo>
                  <a:cubicBezTo>
                    <a:pt x="5" y="26"/>
                    <a:pt x="0" y="21"/>
                    <a:pt x="0" y="15"/>
                  </a:cubicBezTo>
                  <a:cubicBezTo>
                    <a:pt x="0" y="11"/>
                    <a:pt x="0" y="11"/>
                    <a:pt x="0" y="11"/>
                  </a:cubicBezTo>
                  <a:cubicBezTo>
                    <a:pt x="0" y="5"/>
                    <a:pt x="5" y="0"/>
                    <a:pt x="11" y="0"/>
                  </a:cubicBezTo>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4" name="islîďè"/>
            <p:cNvSpPr/>
            <p:nvPr/>
          </p:nvSpPr>
          <p:spPr bwMode="auto">
            <a:xfrm>
              <a:off x="4062413" y="2909888"/>
              <a:ext cx="133350" cy="44450"/>
            </a:xfrm>
            <a:custGeom>
              <a:avLst/>
              <a:gdLst>
                <a:gd name="T0" fmla="*/ 11 w 78"/>
                <a:gd name="T1" fmla="*/ 0 h 26"/>
                <a:gd name="T2" fmla="*/ 66 w 78"/>
                <a:gd name="T3" fmla="*/ 0 h 26"/>
                <a:gd name="T4" fmla="*/ 78 w 78"/>
                <a:gd name="T5" fmla="*/ 11 h 26"/>
                <a:gd name="T6" fmla="*/ 78 w 78"/>
                <a:gd name="T7" fmla="*/ 15 h 26"/>
                <a:gd name="T8" fmla="*/ 66 w 78"/>
                <a:gd name="T9" fmla="*/ 26 h 26"/>
                <a:gd name="T10" fmla="*/ 11 w 78"/>
                <a:gd name="T11" fmla="*/ 26 h 26"/>
                <a:gd name="T12" fmla="*/ 0 w 78"/>
                <a:gd name="T13" fmla="*/ 15 h 26"/>
                <a:gd name="T14" fmla="*/ 0 w 78"/>
                <a:gd name="T15" fmla="*/ 11 h 26"/>
                <a:gd name="T16" fmla="*/ 11 w 78"/>
                <a:gd name="T1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6">
                  <a:moveTo>
                    <a:pt x="11" y="0"/>
                  </a:moveTo>
                  <a:cubicBezTo>
                    <a:pt x="66" y="0"/>
                    <a:pt x="66" y="0"/>
                    <a:pt x="66" y="0"/>
                  </a:cubicBezTo>
                  <a:cubicBezTo>
                    <a:pt x="73" y="0"/>
                    <a:pt x="78" y="5"/>
                    <a:pt x="78" y="11"/>
                  </a:cubicBezTo>
                  <a:cubicBezTo>
                    <a:pt x="78" y="15"/>
                    <a:pt x="78" y="15"/>
                    <a:pt x="78" y="15"/>
                  </a:cubicBezTo>
                  <a:cubicBezTo>
                    <a:pt x="78" y="21"/>
                    <a:pt x="73" y="26"/>
                    <a:pt x="66" y="26"/>
                  </a:cubicBezTo>
                  <a:cubicBezTo>
                    <a:pt x="11" y="26"/>
                    <a:pt x="11" y="26"/>
                    <a:pt x="11" y="26"/>
                  </a:cubicBezTo>
                  <a:cubicBezTo>
                    <a:pt x="5" y="26"/>
                    <a:pt x="0" y="21"/>
                    <a:pt x="0" y="15"/>
                  </a:cubicBezTo>
                  <a:cubicBezTo>
                    <a:pt x="0" y="11"/>
                    <a:pt x="0" y="11"/>
                    <a:pt x="0" y="11"/>
                  </a:cubicBezTo>
                  <a:cubicBezTo>
                    <a:pt x="0" y="5"/>
                    <a:pt x="5" y="0"/>
                    <a:pt x="11"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5" name="ïṣ1îḍé"/>
            <p:cNvSpPr/>
            <p:nvPr/>
          </p:nvSpPr>
          <p:spPr bwMode="auto">
            <a:xfrm>
              <a:off x="4652963" y="1992313"/>
              <a:ext cx="2255838" cy="2032000"/>
            </a:xfrm>
            <a:custGeom>
              <a:avLst/>
              <a:gdLst>
                <a:gd name="T0" fmla="*/ 18 w 1318"/>
                <a:gd name="T1" fmla="*/ 0 h 1189"/>
                <a:gd name="T2" fmla="*/ 1300 w 1318"/>
                <a:gd name="T3" fmla="*/ 0 h 1189"/>
                <a:gd name="T4" fmla="*/ 1318 w 1318"/>
                <a:gd name="T5" fmla="*/ 18 h 1189"/>
                <a:gd name="T6" fmla="*/ 1318 w 1318"/>
                <a:gd name="T7" fmla="*/ 1171 h 1189"/>
                <a:gd name="T8" fmla="*/ 1300 w 1318"/>
                <a:gd name="T9" fmla="*/ 1189 h 1189"/>
                <a:gd name="T10" fmla="*/ 18 w 1318"/>
                <a:gd name="T11" fmla="*/ 1189 h 1189"/>
                <a:gd name="T12" fmla="*/ 0 w 1318"/>
                <a:gd name="T13" fmla="*/ 1171 h 1189"/>
                <a:gd name="T14" fmla="*/ 0 w 1318"/>
                <a:gd name="T15" fmla="*/ 18 h 1189"/>
                <a:gd name="T16" fmla="*/ 18 w 1318"/>
                <a:gd name="T17" fmla="*/ 0 h 1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8" h="1189">
                  <a:moveTo>
                    <a:pt x="18" y="0"/>
                  </a:moveTo>
                  <a:cubicBezTo>
                    <a:pt x="1300" y="0"/>
                    <a:pt x="1300" y="0"/>
                    <a:pt x="1300" y="0"/>
                  </a:cubicBezTo>
                  <a:cubicBezTo>
                    <a:pt x="1310" y="0"/>
                    <a:pt x="1318" y="9"/>
                    <a:pt x="1318" y="18"/>
                  </a:cubicBezTo>
                  <a:cubicBezTo>
                    <a:pt x="1318" y="1171"/>
                    <a:pt x="1318" y="1171"/>
                    <a:pt x="1318" y="1171"/>
                  </a:cubicBezTo>
                  <a:cubicBezTo>
                    <a:pt x="1318" y="1181"/>
                    <a:pt x="1310" y="1189"/>
                    <a:pt x="1300" y="1189"/>
                  </a:cubicBezTo>
                  <a:cubicBezTo>
                    <a:pt x="18" y="1189"/>
                    <a:pt x="18" y="1189"/>
                    <a:pt x="18" y="1189"/>
                  </a:cubicBezTo>
                  <a:cubicBezTo>
                    <a:pt x="8" y="1189"/>
                    <a:pt x="0" y="1181"/>
                    <a:pt x="0" y="1171"/>
                  </a:cubicBezTo>
                  <a:cubicBezTo>
                    <a:pt x="0" y="18"/>
                    <a:pt x="0" y="18"/>
                    <a:pt x="0" y="18"/>
                  </a:cubicBezTo>
                  <a:cubicBezTo>
                    <a:pt x="0" y="9"/>
                    <a:pt x="8" y="0"/>
                    <a:pt x="18" y="0"/>
                  </a:cubicBezTo>
                </a:path>
              </a:pathLst>
            </a:custGeom>
            <a:solidFill>
              <a:schemeClr val="bg1">
                <a:lumMod val="85000"/>
                <a:alpha val="40000"/>
              </a:schemeClr>
            </a:solidFill>
            <a:ln>
              <a:noFill/>
            </a:ln>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6" name="iṣļíḓe"/>
            <p:cNvSpPr/>
            <p:nvPr/>
          </p:nvSpPr>
          <p:spPr bwMode="auto">
            <a:xfrm>
              <a:off x="4689476" y="2012951"/>
              <a:ext cx="2189163" cy="1966913"/>
            </a:xfrm>
            <a:custGeom>
              <a:avLst/>
              <a:gdLst>
                <a:gd name="T0" fmla="*/ 18 w 1279"/>
                <a:gd name="T1" fmla="*/ 0 h 1151"/>
                <a:gd name="T2" fmla="*/ 1261 w 1279"/>
                <a:gd name="T3" fmla="*/ 0 h 1151"/>
                <a:gd name="T4" fmla="*/ 1279 w 1279"/>
                <a:gd name="T5" fmla="*/ 18 h 1151"/>
                <a:gd name="T6" fmla="*/ 1279 w 1279"/>
                <a:gd name="T7" fmla="*/ 1133 h 1151"/>
                <a:gd name="T8" fmla="*/ 1261 w 1279"/>
                <a:gd name="T9" fmla="*/ 1151 h 1151"/>
                <a:gd name="T10" fmla="*/ 18 w 1279"/>
                <a:gd name="T11" fmla="*/ 1151 h 1151"/>
                <a:gd name="T12" fmla="*/ 0 w 1279"/>
                <a:gd name="T13" fmla="*/ 1133 h 1151"/>
                <a:gd name="T14" fmla="*/ 0 w 1279"/>
                <a:gd name="T15" fmla="*/ 18 h 1151"/>
                <a:gd name="T16" fmla="*/ 18 w 1279"/>
                <a:gd name="T17" fmla="*/ 0 h 1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1151">
                  <a:moveTo>
                    <a:pt x="18" y="0"/>
                  </a:moveTo>
                  <a:cubicBezTo>
                    <a:pt x="1261" y="0"/>
                    <a:pt x="1261" y="0"/>
                    <a:pt x="1261" y="0"/>
                  </a:cubicBezTo>
                  <a:cubicBezTo>
                    <a:pt x="1271" y="0"/>
                    <a:pt x="1279" y="8"/>
                    <a:pt x="1279" y="18"/>
                  </a:cubicBezTo>
                  <a:cubicBezTo>
                    <a:pt x="1279" y="1133"/>
                    <a:pt x="1279" y="1133"/>
                    <a:pt x="1279" y="1133"/>
                  </a:cubicBezTo>
                  <a:cubicBezTo>
                    <a:pt x="1279" y="1143"/>
                    <a:pt x="1271" y="1151"/>
                    <a:pt x="1261" y="1151"/>
                  </a:cubicBezTo>
                  <a:cubicBezTo>
                    <a:pt x="18" y="1151"/>
                    <a:pt x="18" y="1151"/>
                    <a:pt x="18" y="1151"/>
                  </a:cubicBezTo>
                  <a:cubicBezTo>
                    <a:pt x="8" y="1151"/>
                    <a:pt x="0" y="1143"/>
                    <a:pt x="0" y="1133"/>
                  </a:cubicBezTo>
                  <a:cubicBezTo>
                    <a:pt x="0" y="18"/>
                    <a:pt x="0" y="18"/>
                    <a:pt x="0" y="18"/>
                  </a:cubicBezTo>
                  <a:cubicBezTo>
                    <a:pt x="0" y="8"/>
                    <a:pt x="8" y="0"/>
                    <a:pt x="18"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7" name="iṣlíḓe"/>
            <p:cNvSpPr/>
            <p:nvPr/>
          </p:nvSpPr>
          <p:spPr bwMode="auto">
            <a:xfrm>
              <a:off x="4903788" y="2436813"/>
              <a:ext cx="469900" cy="385763"/>
            </a:xfrm>
            <a:custGeom>
              <a:avLst/>
              <a:gdLst>
                <a:gd name="T0" fmla="*/ 257 w 275"/>
                <a:gd name="T1" fmla="*/ 0 h 226"/>
                <a:gd name="T2" fmla="*/ 18 w 275"/>
                <a:gd name="T3" fmla="*/ 0 h 226"/>
                <a:gd name="T4" fmla="*/ 0 w 275"/>
                <a:gd name="T5" fmla="*/ 18 h 226"/>
                <a:gd name="T6" fmla="*/ 0 w 275"/>
                <a:gd name="T7" fmla="*/ 226 h 226"/>
                <a:gd name="T8" fmla="*/ 275 w 275"/>
                <a:gd name="T9" fmla="*/ 151 h 226"/>
                <a:gd name="T10" fmla="*/ 275 w 275"/>
                <a:gd name="T11" fmla="*/ 18 h 226"/>
                <a:gd name="T12" fmla="*/ 257 w 275"/>
                <a:gd name="T13" fmla="*/ 0 h 226"/>
              </a:gdLst>
              <a:ahLst/>
              <a:cxnLst>
                <a:cxn ang="0">
                  <a:pos x="T0" y="T1"/>
                </a:cxn>
                <a:cxn ang="0">
                  <a:pos x="T2" y="T3"/>
                </a:cxn>
                <a:cxn ang="0">
                  <a:pos x="T4" y="T5"/>
                </a:cxn>
                <a:cxn ang="0">
                  <a:pos x="T6" y="T7"/>
                </a:cxn>
                <a:cxn ang="0">
                  <a:pos x="T8" y="T9"/>
                </a:cxn>
                <a:cxn ang="0">
                  <a:pos x="T10" y="T11"/>
                </a:cxn>
                <a:cxn ang="0">
                  <a:pos x="T12" y="T13"/>
                </a:cxn>
              </a:cxnLst>
              <a:rect l="0" t="0" r="r" b="b"/>
              <a:pathLst>
                <a:path w="275" h="226">
                  <a:moveTo>
                    <a:pt x="257" y="0"/>
                  </a:moveTo>
                  <a:cubicBezTo>
                    <a:pt x="18" y="0"/>
                    <a:pt x="18" y="0"/>
                    <a:pt x="18" y="0"/>
                  </a:cubicBezTo>
                  <a:cubicBezTo>
                    <a:pt x="8" y="0"/>
                    <a:pt x="0" y="8"/>
                    <a:pt x="0" y="18"/>
                  </a:cubicBezTo>
                  <a:cubicBezTo>
                    <a:pt x="0" y="226"/>
                    <a:pt x="0" y="226"/>
                    <a:pt x="0" y="226"/>
                  </a:cubicBezTo>
                  <a:cubicBezTo>
                    <a:pt x="87" y="195"/>
                    <a:pt x="179" y="170"/>
                    <a:pt x="275" y="151"/>
                  </a:cubicBezTo>
                  <a:cubicBezTo>
                    <a:pt x="275" y="18"/>
                    <a:pt x="275" y="18"/>
                    <a:pt x="275" y="18"/>
                  </a:cubicBezTo>
                  <a:cubicBezTo>
                    <a:pt x="275" y="8"/>
                    <a:pt x="267" y="0"/>
                    <a:pt x="257" y="0"/>
                  </a:cubicBezTo>
                </a:path>
              </a:pathLst>
            </a:custGeom>
            <a:solidFill>
              <a:srgbClr val="A0C2F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8" name="îṩľîḓé"/>
            <p:cNvSpPr/>
            <p:nvPr/>
          </p:nvSpPr>
          <p:spPr bwMode="auto">
            <a:xfrm>
              <a:off x="5516563" y="2436813"/>
              <a:ext cx="1266825" cy="46038"/>
            </a:xfrm>
            <a:custGeom>
              <a:avLst/>
              <a:gdLst>
                <a:gd name="T0" fmla="*/ 11 w 741"/>
                <a:gd name="T1" fmla="*/ 0 h 27"/>
                <a:gd name="T2" fmla="*/ 729 w 741"/>
                <a:gd name="T3" fmla="*/ 0 h 27"/>
                <a:gd name="T4" fmla="*/ 741 w 741"/>
                <a:gd name="T5" fmla="*/ 12 h 27"/>
                <a:gd name="T6" fmla="*/ 741 w 741"/>
                <a:gd name="T7" fmla="*/ 15 h 27"/>
                <a:gd name="T8" fmla="*/ 729 w 741"/>
                <a:gd name="T9" fmla="*/ 27 h 27"/>
                <a:gd name="T10" fmla="*/ 11 w 741"/>
                <a:gd name="T11" fmla="*/ 27 h 27"/>
                <a:gd name="T12" fmla="*/ 0 w 741"/>
                <a:gd name="T13" fmla="*/ 15 h 27"/>
                <a:gd name="T14" fmla="*/ 0 w 741"/>
                <a:gd name="T15" fmla="*/ 12 h 27"/>
                <a:gd name="T16" fmla="*/ 11 w 74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1" h="27">
                  <a:moveTo>
                    <a:pt x="11" y="0"/>
                  </a:moveTo>
                  <a:cubicBezTo>
                    <a:pt x="729" y="0"/>
                    <a:pt x="729" y="0"/>
                    <a:pt x="729" y="0"/>
                  </a:cubicBezTo>
                  <a:cubicBezTo>
                    <a:pt x="736" y="0"/>
                    <a:pt x="741" y="5"/>
                    <a:pt x="741" y="12"/>
                  </a:cubicBezTo>
                  <a:cubicBezTo>
                    <a:pt x="741" y="15"/>
                    <a:pt x="741" y="15"/>
                    <a:pt x="741" y="15"/>
                  </a:cubicBezTo>
                  <a:cubicBezTo>
                    <a:pt x="741" y="22"/>
                    <a:pt x="736" y="27"/>
                    <a:pt x="729" y="27"/>
                  </a:cubicBezTo>
                  <a:cubicBezTo>
                    <a:pt x="11" y="27"/>
                    <a:pt x="11" y="27"/>
                    <a:pt x="11" y="27"/>
                  </a:cubicBezTo>
                  <a:cubicBezTo>
                    <a:pt x="5" y="27"/>
                    <a:pt x="0" y="22"/>
                    <a:pt x="0" y="15"/>
                  </a:cubicBezTo>
                  <a:cubicBezTo>
                    <a:pt x="0" y="12"/>
                    <a:pt x="0" y="12"/>
                    <a:pt x="0" y="12"/>
                  </a:cubicBezTo>
                  <a:cubicBezTo>
                    <a:pt x="0" y="5"/>
                    <a:pt x="5" y="0"/>
                    <a:pt x="11" y="0"/>
                  </a:cubicBezTo>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49" name="ïṧḷïḋe"/>
            <p:cNvSpPr/>
            <p:nvPr/>
          </p:nvSpPr>
          <p:spPr bwMode="auto">
            <a:xfrm>
              <a:off x="5516563" y="2576513"/>
              <a:ext cx="1266825" cy="47625"/>
            </a:xfrm>
            <a:custGeom>
              <a:avLst/>
              <a:gdLst>
                <a:gd name="T0" fmla="*/ 11 w 741"/>
                <a:gd name="T1" fmla="*/ 0 h 28"/>
                <a:gd name="T2" fmla="*/ 729 w 741"/>
                <a:gd name="T3" fmla="*/ 0 h 28"/>
                <a:gd name="T4" fmla="*/ 741 w 741"/>
                <a:gd name="T5" fmla="*/ 12 h 28"/>
                <a:gd name="T6" fmla="*/ 741 w 741"/>
                <a:gd name="T7" fmla="*/ 16 h 28"/>
                <a:gd name="T8" fmla="*/ 729 w 741"/>
                <a:gd name="T9" fmla="*/ 28 h 28"/>
                <a:gd name="T10" fmla="*/ 11 w 741"/>
                <a:gd name="T11" fmla="*/ 28 h 28"/>
                <a:gd name="T12" fmla="*/ 0 w 741"/>
                <a:gd name="T13" fmla="*/ 16 h 28"/>
                <a:gd name="T14" fmla="*/ 0 w 741"/>
                <a:gd name="T15" fmla="*/ 12 h 28"/>
                <a:gd name="T16" fmla="*/ 11 w 741"/>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1" h="28">
                  <a:moveTo>
                    <a:pt x="11" y="0"/>
                  </a:moveTo>
                  <a:cubicBezTo>
                    <a:pt x="729" y="0"/>
                    <a:pt x="729" y="0"/>
                    <a:pt x="729" y="0"/>
                  </a:cubicBezTo>
                  <a:cubicBezTo>
                    <a:pt x="736" y="0"/>
                    <a:pt x="741" y="5"/>
                    <a:pt x="741" y="12"/>
                  </a:cubicBezTo>
                  <a:cubicBezTo>
                    <a:pt x="741" y="16"/>
                    <a:pt x="741" y="16"/>
                    <a:pt x="741" y="16"/>
                  </a:cubicBezTo>
                  <a:cubicBezTo>
                    <a:pt x="741" y="22"/>
                    <a:pt x="736" y="28"/>
                    <a:pt x="729" y="28"/>
                  </a:cubicBezTo>
                  <a:cubicBezTo>
                    <a:pt x="11" y="28"/>
                    <a:pt x="11" y="28"/>
                    <a:pt x="11" y="28"/>
                  </a:cubicBezTo>
                  <a:cubicBezTo>
                    <a:pt x="5" y="28"/>
                    <a:pt x="0" y="22"/>
                    <a:pt x="0" y="16"/>
                  </a:cubicBezTo>
                  <a:cubicBezTo>
                    <a:pt x="0" y="12"/>
                    <a:pt x="0" y="12"/>
                    <a:pt x="0" y="12"/>
                  </a:cubicBezTo>
                  <a:cubicBezTo>
                    <a:pt x="0" y="5"/>
                    <a:pt x="5" y="0"/>
                    <a:pt x="11" y="0"/>
                  </a:cubicBezTo>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0" name="íSḻîḋè"/>
            <p:cNvSpPr/>
            <p:nvPr/>
          </p:nvSpPr>
          <p:spPr bwMode="auto">
            <a:xfrm>
              <a:off x="4857751" y="3087688"/>
              <a:ext cx="1925638" cy="47625"/>
            </a:xfrm>
            <a:custGeom>
              <a:avLst/>
              <a:gdLst>
                <a:gd name="T0" fmla="*/ 12 w 1126"/>
                <a:gd name="T1" fmla="*/ 0 h 28"/>
                <a:gd name="T2" fmla="*/ 1114 w 1126"/>
                <a:gd name="T3" fmla="*/ 0 h 28"/>
                <a:gd name="T4" fmla="*/ 1126 w 1126"/>
                <a:gd name="T5" fmla="*/ 12 h 28"/>
                <a:gd name="T6" fmla="*/ 1126 w 1126"/>
                <a:gd name="T7" fmla="*/ 16 h 28"/>
                <a:gd name="T8" fmla="*/ 1114 w 1126"/>
                <a:gd name="T9" fmla="*/ 28 h 28"/>
                <a:gd name="T10" fmla="*/ 12 w 1126"/>
                <a:gd name="T11" fmla="*/ 28 h 28"/>
                <a:gd name="T12" fmla="*/ 0 w 1126"/>
                <a:gd name="T13" fmla="*/ 16 h 28"/>
                <a:gd name="T14" fmla="*/ 0 w 1126"/>
                <a:gd name="T15" fmla="*/ 12 h 28"/>
                <a:gd name="T16" fmla="*/ 12 w 1126"/>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6" h="28">
                  <a:moveTo>
                    <a:pt x="12" y="0"/>
                  </a:moveTo>
                  <a:cubicBezTo>
                    <a:pt x="1114" y="0"/>
                    <a:pt x="1114" y="0"/>
                    <a:pt x="1114" y="0"/>
                  </a:cubicBezTo>
                  <a:cubicBezTo>
                    <a:pt x="1121" y="0"/>
                    <a:pt x="1126" y="6"/>
                    <a:pt x="1126" y="12"/>
                  </a:cubicBezTo>
                  <a:cubicBezTo>
                    <a:pt x="1126" y="16"/>
                    <a:pt x="1126" y="16"/>
                    <a:pt x="1126" y="16"/>
                  </a:cubicBezTo>
                  <a:cubicBezTo>
                    <a:pt x="1126" y="22"/>
                    <a:pt x="1121" y="28"/>
                    <a:pt x="1114" y="28"/>
                  </a:cubicBezTo>
                  <a:cubicBezTo>
                    <a:pt x="12" y="28"/>
                    <a:pt x="12" y="28"/>
                    <a:pt x="12" y="28"/>
                  </a:cubicBezTo>
                  <a:cubicBezTo>
                    <a:pt x="5" y="28"/>
                    <a:pt x="0" y="22"/>
                    <a:pt x="0" y="16"/>
                  </a:cubicBezTo>
                  <a:cubicBezTo>
                    <a:pt x="0" y="12"/>
                    <a:pt x="0" y="12"/>
                    <a:pt x="0" y="12"/>
                  </a:cubicBezTo>
                  <a:cubicBezTo>
                    <a:pt x="0" y="6"/>
                    <a:pt x="5" y="0"/>
                    <a:pt x="12"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1" name="î$líḋé"/>
            <p:cNvSpPr/>
            <p:nvPr/>
          </p:nvSpPr>
          <p:spPr bwMode="auto">
            <a:xfrm>
              <a:off x="4857751" y="3228976"/>
              <a:ext cx="1925638" cy="46038"/>
            </a:xfrm>
            <a:custGeom>
              <a:avLst/>
              <a:gdLst>
                <a:gd name="T0" fmla="*/ 12 w 1126"/>
                <a:gd name="T1" fmla="*/ 0 h 27"/>
                <a:gd name="T2" fmla="*/ 1114 w 1126"/>
                <a:gd name="T3" fmla="*/ 0 h 27"/>
                <a:gd name="T4" fmla="*/ 1126 w 1126"/>
                <a:gd name="T5" fmla="*/ 12 h 27"/>
                <a:gd name="T6" fmla="*/ 1126 w 1126"/>
                <a:gd name="T7" fmla="*/ 15 h 27"/>
                <a:gd name="T8" fmla="*/ 1114 w 1126"/>
                <a:gd name="T9" fmla="*/ 27 h 27"/>
                <a:gd name="T10" fmla="*/ 12 w 1126"/>
                <a:gd name="T11" fmla="*/ 27 h 27"/>
                <a:gd name="T12" fmla="*/ 0 w 1126"/>
                <a:gd name="T13" fmla="*/ 15 h 27"/>
                <a:gd name="T14" fmla="*/ 0 w 1126"/>
                <a:gd name="T15" fmla="*/ 12 h 27"/>
                <a:gd name="T16" fmla="*/ 12 w 1126"/>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6" h="27">
                  <a:moveTo>
                    <a:pt x="12" y="0"/>
                  </a:moveTo>
                  <a:cubicBezTo>
                    <a:pt x="1114" y="0"/>
                    <a:pt x="1114" y="0"/>
                    <a:pt x="1114" y="0"/>
                  </a:cubicBezTo>
                  <a:cubicBezTo>
                    <a:pt x="1121" y="0"/>
                    <a:pt x="1126" y="5"/>
                    <a:pt x="1126" y="12"/>
                  </a:cubicBezTo>
                  <a:cubicBezTo>
                    <a:pt x="1126" y="15"/>
                    <a:pt x="1126" y="15"/>
                    <a:pt x="1126" y="15"/>
                  </a:cubicBezTo>
                  <a:cubicBezTo>
                    <a:pt x="1126" y="22"/>
                    <a:pt x="1121" y="27"/>
                    <a:pt x="1114" y="27"/>
                  </a:cubicBezTo>
                  <a:cubicBezTo>
                    <a:pt x="12" y="27"/>
                    <a:pt x="12" y="27"/>
                    <a:pt x="12" y="27"/>
                  </a:cubicBezTo>
                  <a:cubicBezTo>
                    <a:pt x="5" y="27"/>
                    <a:pt x="0" y="22"/>
                    <a:pt x="0" y="15"/>
                  </a:cubicBezTo>
                  <a:cubicBezTo>
                    <a:pt x="0" y="12"/>
                    <a:pt x="0" y="12"/>
                    <a:pt x="0" y="12"/>
                  </a:cubicBezTo>
                  <a:cubicBezTo>
                    <a:pt x="0" y="5"/>
                    <a:pt x="5" y="0"/>
                    <a:pt x="12"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2" name="íśḷîdê"/>
            <p:cNvSpPr/>
            <p:nvPr/>
          </p:nvSpPr>
          <p:spPr bwMode="auto">
            <a:xfrm>
              <a:off x="4857751" y="3417888"/>
              <a:ext cx="1925638" cy="46038"/>
            </a:xfrm>
            <a:custGeom>
              <a:avLst/>
              <a:gdLst>
                <a:gd name="T0" fmla="*/ 12 w 1126"/>
                <a:gd name="T1" fmla="*/ 0 h 27"/>
                <a:gd name="T2" fmla="*/ 1114 w 1126"/>
                <a:gd name="T3" fmla="*/ 0 h 27"/>
                <a:gd name="T4" fmla="*/ 1126 w 1126"/>
                <a:gd name="T5" fmla="*/ 12 h 27"/>
                <a:gd name="T6" fmla="*/ 1126 w 1126"/>
                <a:gd name="T7" fmla="*/ 15 h 27"/>
                <a:gd name="T8" fmla="*/ 1114 w 1126"/>
                <a:gd name="T9" fmla="*/ 27 h 27"/>
                <a:gd name="T10" fmla="*/ 12 w 1126"/>
                <a:gd name="T11" fmla="*/ 27 h 27"/>
                <a:gd name="T12" fmla="*/ 0 w 1126"/>
                <a:gd name="T13" fmla="*/ 15 h 27"/>
                <a:gd name="T14" fmla="*/ 0 w 1126"/>
                <a:gd name="T15" fmla="*/ 12 h 27"/>
                <a:gd name="T16" fmla="*/ 12 w 1126"/>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6" h="27">
                  <a:moveTo>
                    <a:pt x="12" y="0"/>
                  </a:moveTo>
                  <a:cubicBezTo>
                    <a:pt x="1114" y="0"/>
                    <a:pt x="1114" y="0"/>
                    <a:pt x="1114" y="0"/>
                  </a:cubicBezTo>
                  <a:cubicBezTo>
                    <a:pt x="1121" y="0"/>
                    <a:pt x="1126" y="5"/>
                    <a:pt x="1126" y="12"/>
                  </a:cubicBezTo>
                  <a:cubicBezTo>
                    <a:pt x="1126" y="15"/>
                    <a:pt x="1126" y="15"/>
                    <a:pt x="1126" y="15"/>
                  </a:cubicBezTo>
                  <a:cubicBezTo>
                    <a:pt x="1126" y="22"/>
                    <a:pt x="1121" y="27"/>
                    <a:pt x="1114" y="27"/>
                  </a:cubicBezTo>
                  <a:cubicBezTo>
                    <a:pt x="12" y="27"/>
                    <a:pt x="12" y="27"/>
                    <a:pt x="12" y="27"/>
                  </a:cubicBezTo>
                  <a:cubicBezTo>
                    <a:pt x="5" y="27"/>
                    <a:pt x="0" y="22"/>
                    <a:pt x="0" y="15"/>
                  </a:cubicBezTo>
                  <a:cubicBezTo>
                    <a:pt x="0" y="12"/>
                    <a:pt x="0" y="12"/>
                    <a:pt x="0" y="12"/>
                  </a:cubicBezTo>
                  <a:cubicBezTo>
                    <a:pt x="0" y="5"/>
                    <a:pt x="5" y="0"/>
                    <a:pt x="12"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3" name="iṧlidè"/>
            <p:cNvSpPr/>
            <p:nvPr/>
          </p:nvSpPr>
          <p:spPr bwMode="auto">
            <a:xfrm>
              <a:off x="4857751" y="3557588"/>
              <a:ext cx="1457325" cy="47625"/>
            </a:xfrm>
            <a:custGeom>
              <a:avLst/>
              <a:gdLst>
                <a:gd name="T0" fmla="*/ 12 w 852"/>
                <a:gd name="T1" fmla="*/ 0 h 28"/>
                <a:gd name="T2" fmla="*/ 840 w 852"/>
                <a:gd name="T3" fmla="*/ 0 h 28"/>
                <a:gd name="T4" fmla="*/ 852 w 852"/>
                <a:gd name="T5" fmla="*/ 12 h 28"/>
                <a:gd name="T6" fmla="*/ 852 w 852"/>
                <a:gd name="T7" fmla="*/ 16 h 28"/>
                <a:gd name="T8" fmla="*/ 840 w 852"/>
                <a:gd name="T9" fmla="*/ 28 h 28"/>
                <a:gd name="T10" fmla="*/ 12 w 852"/>
                <a:gd name="T11" fmla="*/ 28 h 28"/>
                <a:gd name="T12" fmla="*/ 0 w 852"/>
                <a:gd name="T13" fmla="*/ 16 h 28"/>
                <a:gd name="T14" fmla="*/ 0 w 852"/>
                <a:gd name="T15" fmla="*/ 12 h 28"/>
                <a:gd name="T16" fmla="*/ 12 w 852"/>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2" h="28">
                  <a:moveTo>
                    <a:pt x="12" y="0"/>
                  </a:moveTo>
                  <a:cubicBezTo>
                    <a:pt x="840" y="0"/>
                    <a:pt x="840" y="0"/>
                    <a:pt x="840" y="0"/>
                  </a:cubicBezTo>
                  <a:cubicBezTo>
                    <a:pt x="846" y="0"/>
                    <a:pt x="852" y="5"/>
                    <a:pt x="852" y="12"/>
                  </a:cubicBezTo>
                  <a:cubicBezTo>
                    <a:pt x="852" y="16"/>
                    <a:pt x="852" y="16"/>
                    <a:pt x="852" y="16"/>
                  </a:cubicBezTo>
                  <a:cubicBezTo>
                    <a:pt x="852" y="22"/>
                    <a:pt x="846" y="28"/>
                    <a:pt x="840" y="28"/>
                  </a:cubicBezTo>
                  <a:cubicBezTo>
                    <a:pt x="12" y="28"/>
                    <a:pt x="12" y="28"/>
                    <a:pt x="12" y="28"/>
                  </a:cubicBezTo>
                  <a:cubicBezTo>
                    <a:pt x="5" y="28"/>
                    <a:pt x="0" y="22"/>
                    <a:pt x="0" y="16"/>
                  </a:cubicBezTo>
                  <a:cubicBezTo>
                    <a:pt x="0" y="12"/>
                    <a:pt x="0" y="12"/>
                    <a:pt x="0" y="12"/>
                  </a:cubicBezTo>
                  <a:cubicBezTo>
                    <a:pt x="0" y="5"/>
                    <a:pt x="5" y="0"/>
                    <a:pt x="12"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4" name="ï$ḷíḓé"/>
            <p:cNvSpPr/>
            <p:nvPr/>
          </p:nvSpPr>
          <p:spPr bwMode="auto">
            <a:xfrm>
              <a:off x="2871788" y="2619376"/>
              <a:ext cx="6448425" cy="3378200"/>
            </a:xfrm>
            <a:custGeom>
              <a:avLst/>
              <a:gdLst>
                <a:gd name="T0" fmla="*/ 2391 w 3768"/>
                <a:gd name="T1" fmla="*/ 78 h 1977"/>
                <a:gd name="T2" fmla="*/ 2395 w 3768"/>
                <a:gd name="T3" fmla="*/ 57 h 1977"/>
                <a:gd name="T4" fmla="*/ 2389 w 3768"/>
                <a:gd name="T5" fmla="*/ 78 h 1977"/>
                <a:gd name="T6" fmla="*/ 1865 w 3768"/>
                <a:gd name="T7" fmla="*/ 7 h 1977"/>
                <a:gd name="T8" fmla="*/ 0 w 3768"/>
                <a:gd name="T9" fmla="*/ 1125 h 1977"/>
                <a:gd name="T10" fmla="*/ 1207 w 3768"/>
                <a:gd name="T11" fmla="*/ 1762 h 1977"/>
                <a:gd name="T12" fmla="*/ 1880 w 3768"/>
                <a:gd name="T13" fmla="*/ 1318 h 1977"/>
                <a:gd name="T14" fmla="*/ 1988 w 3768"/>
                <a:gd name="T15" fmla="*/ 1327 h 1977"/>
                <a:gd name="T16" fmla="*/ 1828 w 3768"/>
                <a:gd name="T17" fmla="*/ 1825 h 1977"/>
                <a:gd name="T18" fmla="*/ 1850 w 3768"/>
                <a:gd name="T19" fmla="*/ 1949 h 1977"/>
                <a:gd name="T20" fmla="*/ 1974 w 3768"/>
                <a:gd name="T21" fmla="*/ 1927 h 1977"/>
                <a:gd name="T22" fmla="*/ 1977 w 3768"/>
                <a:gd name="T23" fmla="*/ 1923 h 1977"/>
                <a:gd name="T24" fmla="*/ 1977 w 3768"/>
                <a:gd name="T25" fmla="*/ 1922 h 1977"/>
                <a:gd name="T26" fmla="*/ 1990 w 3768"/>
                <a:gd name="T27" fmla="*/ 1878 h 1977"/>
                <a:gd name="T28" fmla="*/ 1989 w 3768"/>
                <a:gd name="T29" fmla="*/ 1870 h 1977"/>
                <a:gd name="T30" fmla="*/ 2105 w 3768"/>
                <a:gd name="T31" fmla="*/ 1353 h 1977"/>
                <a:gd name="T32" fmla="*/ 2554 w 3768"/>
                <a:gd name="T33" fmla="*/ 1761 h 1977"/>
                <a:gd name="T34" fmla="*/ 3768 w 3768"/>
                <a:gd name="T35" fmla="*/ 1154 h 1977"/>
                <a:gd name="T36" fmla="*/ 2391 w 3768"/>
                <a:gd name="T37" fmla="*/ 78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68" h="1977">
                  <a:moveTo>
                    <a:pt x="2391" y="78"/>
                  </a:moveTo>
                  <a:cubicBezTo>
                    <a:pt x="2395" y="57"/>
                    <a:pt x="2395" y="57"/>
                    <a:pt x="2395" y="57"/>
                  </a:cubicBezTo>
                  <a:cubicBezTo>
                    <a:pt x="2389" y="78"/>
                    <a:pt x="2389" y="78"/>
                    <a:pt x="2389" y="78"/>
                  </a:cubicBezTo>
                  <a:cubicBezTo>
                    <a:pt x="2218" y="32"/>
                    <a:pt x="2042" y="8"/>
                    <a:pt x="1865" y="7"/>
                  </a:cubicBezTo>
                  <a:cubicBezTo>
                    <a:pt x="592" y="0"/>
                    <a:pt x="0" y="1125"/>
                    <a:pt x="0" y="1125"/>
                  </a:cubicBezTo>
                  <a:cubicBezTo>
                    <a:pt x="1207" y="1762"/>
                    <a:pt x="1207" y="1762"/>
                    <a:pt x="1207" y="1762"/>
                  </a:cubicBezTo>
                  <a:cubicBezTo>
                    <a:pt x="1207" y="1762"/>
                    <a:pt x="1355" y="1303"/>
                    <a:pt x="1880" y="1318"/>
                  </a:cubicBezTo>
                  <a:cubicBezTo>
                    <a:pt x="1916" y="1319"/>
                    <a:pt x="1952" y="1322"/>
                    <a:pt x="1988" y="1327"/>
                  </a:cubicBezTo>
                  <a:cubicBezTo>
                    <a:pt x="1828" y="1825"/>
                    <a:pt x="1828" y="1825"/>
                    <a:pt x="1828" y="1825"/>
                  </a:cubicBezTo>
                  <a:cubicBezTo>
                    <a:pt x="1800" y="1865"/>
                    <a:pt x="1810" y="1921"/>
                    <a:pt x="1850" y="1949"/>
                  </a:cubicBezTo>
                  <a:cubicBezTo>
                    <a:pt x="1890" y="1977"/>
                    <a:pt x="1945" y="1967"/>
                    <a:pt x="1974" y="1927"/>
                  </a:cubicBezTo>
                  <a:cubicBezTo>
                    <a:pt x="1975" y="1926"/>
                    <a:pt x="1976" y="1924"/>
                    <a:pt x="1977" y="1923"/>
                  </a:cubicBezTo>
                  <a:cubicBezTo>
                    <a:pt x="1977" y="1922"/>
                    <a:pt x="1977" y="1922"/>
                    <a:pt x="1977" y="1922"/>
                  </a:cubicBezTo>
                  <a:cubicBezTo>
                    <a:pt x="1985" y="1909"/>
                    <a:pt x="1989" y="1893"/>
                    <a:pt x="1990" y="1878"/>
                  </a:cubicBezTo>
                  <a:cubicBezTo>
                    <a:pt x="1990" y="1875"/>
                    <a:pt x="1990" y="1872"/>
                    <a:pt x="1989" y="1870"/>
                  </a:cubicBezTo>
                  <a:cubicBezTo>
                    <a:pt x="2105" y="1353"/>
                    <a:pt x="2105" y="1353"/>
                    <a:pt x="2105" y="1353"/>
                  </a:cubicBezTo>
                  <a:cubicBezTo>
                    <a:pt x="2449" y="1459"/>
                    <a:pt x="2554" y="1761"/>
                    <a:pt x="2554" y="1761"/>
                  </a:cubicBezTo>
                  <a:cubicBezTo>
                    <a:pt x="3768" y="1154"/>
                    <a:pt x="3768" y="1154"/>
                    <a:pt x="3768" y="1154"/>
                  </a:cubicBezTo>
                  <a:cubicBezTo>
                    <a:pt x="3768" y="1154"/>
                    <a:pt x="3312" y="328"/>
                    <a:pt x="2391" y="78"/>
                  </a:cubicBezTo>
                </a:path>
              </a:pathLst>
            </a:custGeom>
            <a:solidFill>
              <a:schemeClr val="bg1">
                <a:lumMod val="85000"/>
                <a:alpha val="40000"/>
              </a:schemeClr>
            </a:solidFill>
            <a:ln>
              <a:noFill/>
            </a:ln>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5" name="ïṡlíḓé"/>
            <p:cNvSpPr/>
            <p:nvPr/>
          </p:nvSpPr>
          <p:spPr bwMode="auto">
            <a:xfrm>
              <a:off x="2913063" y="2640013"/>
              <a:ext cx="4038600" cy="2973388"/>
            </a:xfrm>
            <a:custGeom>
              <a:avLst/>
              <a:gdLst>
                <a:gd name="T0" fmla="*/ 1842 w 2360"/>
                <a:gd name="T1" fmla="*/ 8 h 1740"/>
                <a:gd name="T2" fmla="*/ 0 w 2360"/>
                <a:gd name="T3" fmla="*/ 1111 h 1740"/>
                <a:gd name="T4" fmla="*/ 1191 w 2360"/>
                <a:gd name="T5" fmla="*/ 1740 h 1740"/>
                <a:gd name="T6" fmla="*/ 1856 w 2360"/>
                <a:gd name="T7" fmla="*/ 1301 h 1740"/>
                <a:gd name="T8" fmla="*/ 1966 w 2360"/>
                <a:gd name="T9" fmla="*/ 1311 h 1740"/>
                <a:gd name="T10" fmla="*/ 2360 w 2360"/>
                <a:gd name="T11" fmla="*/ 78 h 1740"/>
                <a:gd name="T12" fmla="*/ 1842 w 2360"/>
                <a:gd name="T13" fmla="*/ 8 h 1740"/>
              </a:gdLst>
              <a:ahLst/>
              <a:cxnLst>
                <a:cxn ang="0">
                  <a:pos x="T0" y="T1"/>
                </a:cxn>
                <a:cxn ang="0">
                  <a:pos x="T2" y="T3"/>
                </a:cxn>
                <a:cxn ang="0">
                  <a:pos x="T4" y="T5"/>
                </a:cxn>
                <a:cxn ang="0">
                  <a:pos x="T6" y="T7"/>
                </a:cxn>
                <a:cxn ang="0">
                  <a:pos x="T8" y="T9"/>
                </a:cxn>
                <a:cxn ang="0">
                  <a:pos x="T10" y="T11"/>
                </a:cxn>
                <a:cxn ang="0">
                  <a:pos x="T12" y="T13"/>
                </a:cxn>
              </a:cxnLst>
              <a:rect l="0" t="0" r="r" b="b"/>
              <a:pathLst>
                <a:path w="2360" h="1740">
                  <a:moveTo>
                    <a:pt x="1842" y="8"/>
                  </a:moveTo>
                  <a:cubicBezTo>
                    <a:pt x="585" y="0"/>
                    <a:pt x="0" y="1111"/>
                    <a:pt x="0" y="1111"/>
                  </a:cubicBezTo>
                  <a:cubicBezTo>
                    <a:pt x="1191" y="1740"/>
                    <a:pt x="1191" y="1740"/>
                    <a:pt x="1191" y="1740"/>
                  </a:cubicBezTo>
                  <a:cubicBezTo>
                    <a:pt x="1191" y="1740"/>
                    <a:pt x="1337" y="1286"/>
                    <a:pt x="1856" y="1301"/>
                  </a:cubicBezTo>
                  <a:cubicBezTo>
                    <a:pt x="1893" y="1302"/>
                    <a:pt x="1929" y="1305"/>
                    <a:pt x="1966" y="1311"/>
                  </a:cubicBezTo>
                  <a:cubicBezTo>
                    <a:pt x="2360" y="78"/>
                    <a:pt x="2360" y="78"/>
                    <a:pt x="2360" y="78"/>
                  </a:cubicBezTo>
                  <a:cubicBezTo>
                    <a:pt x="2191" y="32"/>
                    <a:pt x="2017" y="8"/>
                    <a:pt x="1842" y="8"/>
                  </a:cubicBezTo>
                </a:path>
              </a:pathLst>
            </a:custGeom>
            <a:solidFill>
              <a:srgbClr val="4285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6" name="íṥľïḓé"/>
            <p:cNvSpPr/>
            <p:nvPr/>
          </p:nvSpPr>
          <p:spPr bwMode="auto">
            <a:xfrm>
              <a:off x="6276976" y="2773363"/>
              <a:ext cx="3001963" cy="2840038"/>
            </a:xfrm>
            <a:custGeom>
              <a:avLst/>
              <a:gdLst>
                <a:gd name="T0" fmla="*/ 394 w 1754"/>
                <a:gd name="T1" fmla="*/ 0 h 1662"/>
                <a:gd name="T2" fmla="*/ 0 w 1754"/>
                <a:gd name="T3" fmla="*/ 1233 h 1662"/>
                <a:gd name="T4" fmla="*/ 555 w 1754"/>
                <a:gd name="T5" fmla="*/ 1662 h 1662"/>
                <a:gd name="T6" fmla="*/ 1754 w 1754"/>
                <a:gd name="T7" fmla="*/ 1062 h 1662"/>
                <a:gd name="T8" fmla="*/ 394 w 1754"/>
                <a:gd name="T9" fmla="*/ 0 h 1662"/>
              </a:gdLst>
              <a:ahLst/>
              <a:cxnLst>
                <a:cxn ang="0">
                  <a:pos x="T0" y="T1"/>
                </a:cxn>
                <a:cxn ang="0">
                  <a:pos x="T2" y="T3"/>
                </a:cxn>
                <a:cxn ang="0">
                  <a:pos x="T4" y="T5"/>
                </a:cxn>
                <a:cxn ang="0">
                  <a:pos x="T6" y="T7"/>
                </a:cxn>
                <a:cxn ang="0">
                  <a:pos x="T8" y="T9"/>
                </a:cxn>
              </a:cxnLst>
              <a:rect l="0" t="0" r="r" b="b"/>
              <a:pathLst>
                <a:path w="1754" h="1662">
                  <a:moveTo>
                    <a:pt x="394" y="0"/>
                  </a:moveTo>
                  <a:cubicBezTo>
                    <a:pt x="0" y="1233"/>
                    <a:pt x="0" y="1233"/>
                    <a:pt x="0" y="1233"/>
                  </a:cubicBezTo>
                  <a:cubicBezTo>
                    <a:pt x="430" y="1298"/>
                    <a:pt x="555" y="1662"/>
                    <a:pt x="555" y="1662"/>
                  </a:cubicBezTo>
                  <a:cubicBezTo>
                    <a:pt x="1754" y="1062"/>
                    <a:pt x="1754" y="1062"/>
                    <a:pt x="1754" y="1062"/>
                  </a:cubicBezTo>
                  <a:cubicBezTo>
                    <a:pt x="1754" y="1062"/>
                    <a:pt x="1304" y="247"/>
                    <a:pt x="394" y="0"/>
                  </a:cubicBez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7" name="i$lîḋé"/>
            <p:cNvSpPr/>
            <p:nvPr/>
          </p:nvSpPr>
          <p:spPr bwMode="auto">
            <a:xfrm>
              <a:off x="5954713" y="2736851"/>
              <a:ext cx="1004888" cy="3240088"/>
            </a:xfrm>
            <a:custGeom>
              <a:avLst/>
              <a:gdLst>
                <a:gd name="T0" fmla="*/ 187 w 588"/>
                <a:gd name="T1" fmla="*/ 1789 h 1896"/>
                <a:gd name="T2" fmla="*/ 588 w 588"/>
                <a:gd name="T3" fmla="*/ 0 h 1896"/>
                <a:gd name="T4" fmla="*/ 28 w 588"/>
                <a:gd name="T5" fmla="*/ 1745 h 1896"/>
                <a:gd name="T6" fmla="*/ 48 w 588"/>
                <a:gd name="T7" fmla="*/ 1868 h 1896"/>
                <a:gd name="T8" fmla="*/ 171 w 588"/>
                <a:gd name="T9" fmla="*/ 1847 h 1896"/>
                <a:gd name="T10" fmla="*/ 174 w 588"/>
                <a:gd name="T11" fmla="*/ 1842 h 1896"/>
                <a:gd name="T12" fmla="*/ 174 w 588"/>
                <a:gd name="T13" fmla="*/ 1842 h 1896"/>
                <a:gd name="T14" fmla="*/ 187 w 588"/>
                <a:gd name="T15" fmla="*/ 1797 h 1896"/>
                <a:gd name="T16" fmla="*/ 187 w 588"/>
                <a:gd name="T17" fmla="*/ 1789 h 1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8" h="1896">
                  <a:moveTo>
                    <a:pt x="187" y="1789"/>
                  </a:moveTo>
                  <a:cubicBezTo>
                    <a:pt x="588" y="0"/>
                    <a:pt x="588" y="0"/>
                    <a:pt x="588" y="0"/>
                  </a:cubicBezTo>
                  <a:cubicBezTo>
                    <a:pt x="28" y="1745"/>
                    <a:pt x="28" y="1745"/>
                    <a:pt x="28" y="1745"/>
                  </a:cubicBezTo>
                  <a:cubicBezTo>
                    <a:pt x="0" y="1785"/>
                    <a:pt x="9" y="1840"/>
                    <a:pt x="48" y="1868"/>
                  </a:cubicBezTo>
                  <a:cubicBezTo>
                    <a:pt x="88" y="1896"/>
                    <a:pt x="143" y="1887"/>
                    <a:pt x="171" y="1847"/>
                  </a:cubicBezTo>
                  <a:cubicBezTo>
                    <a:pt x="172" y="1846"/>
                    <a:pt x="173" y="1844"/>
                    <a:pt x="174" y="1842"/>
                  </a:cubicBezTo>
                  <a:cubicBezTo>
                    <a:pt x="174" y="1842"/>
                    <a:pt x="174" y="1842"/>
                    <a:pt x="174" y="1842"/>
                  </a:cubicBezTo>
                  <a:cubicBezTo>
                    <a:pt x="183" y="1828"/>
                    <a:pt x="187" y="1813"/>
                    <a:pt x="187" y="1797"/>
                  </a:cubicBezTo>
                  <a:cubicBezTo>
                    <a:pt x="188" y="1795"/>
                    <a:pt x="187" y="1792"/>
                    <a:pt x="187" y="1789"/>
                  </a:cubicBezTo>
                  <a:close/>
                </a:path>
              </a:pathLst>
            </a:custGeom>
            <a:solidFill>
              <a:srgbClr val="5354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8" name="ïṡļïḓé"/>
            <p:cNvSpPr/>
            <p:nvPr/>
          </p:nvSpPr>
          <p:spPr bwMode="auto">
            <a:xfrm>
              <a:off x="6046788" y="3430588"/>
              <a:ext cx="76200" cy="103188"/>
            </a:xfrm>
            <a:prstGeom prst="rect">
              <a:avLst/>
            </a:prstGeom>
            <a:solidFill>
              <a:srgbClr val="FDB79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9" name="îṩḻîďê"/>
            <p:cNvSpPr/>
            <p:nvPr/>
          </p:nvSpPr>
          <p:spPr bwMode="auto">
            <a:xfrm>
              <a:off x="6308726" y="3430588"/>
              <a:ext cx="76200" cy="103188"/>
            </a:xfrm>
            <a:prstGeom prst="rect">
              <a:avLst/>
            </a:prstGeom>
            <a:solidFill>
              <a:srgbClr val="FDB797"/>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0" name="îśľîḍê"/>
            <p:cNvSpPr/>
            <p:nvPr/>
          </p:nvSpPr>
          <p:spPr bwMode="auto">
            <a:xfrm>
              <a:off x="5964238" y="2578101"/>
              <a:ext cx="503238" cy="180975"/>
            </a:xfrm>
            <a:prstGeom prst="rect">
              <a:avLst/>
            </a:prstGeom>
            <a:solidFill>
              <a:srgbClr val="4D8AF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1" name="íšľiḋé"/>
            <p:cNvSpPr/>
            <p:nvPr/>
          </p:nvSpPr>
          <p:spPr bwMode="auto">
            <a:xfrm>
              <a:off x="5964238" y="2578101"/>
              <a:ext cx="503238"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2" name="ís1îdê"/>
            <p:cNvSpPr/>
            <p:nvPr/>
          </p:nvSpPr>
          <p:spPr bwMode="auto">
            <a:xfrm>
              <a:off x="5964238" y="2627313"/>
              <a:ext cx="503238" cy="131763"/>
            </a:xfrm>
            <a:custGeom>
              <a:avLst/>
              <a:gdLst>
                <a:gd name="T0" fmla="*/ 46 w 294"/>
                <a:gd name="T1" fmla="*/ 0 h 77"/>
                <a:gd name="T2" fmla="*/ 51 w 294"/>
                <a:gd name="T3" fmla="*/ 13 h 77"/>
                <a:gd name="T4" fmla="*/ 0 w 294"/>
                <a:gd name="T5" fmla="*/ 15 h 77"/>
                <a:gd name="T6" fmla="*/ 0 w 294"/>
                <a:gd name="T7" fmla="*/ 77 h 77"/>
                <a:gd name="T8" fmla="*/ 294 w 294"/>
                <a:gd name="T9" fmla="*/ 77 h 77"/>
                <a:gd name="T10" fmla="*/ 294 w 294"/>
                <a:gd name="T11" fmla="*/ 15 h 77"/>
                <a:gd name="T12" fmla="*/ 243 w 294"/>
                <a:gd name="T13" fmla="*/ 13 h 77"/>
                <a:gd name="T14" fmla="*/ 247 w 294"/>
                <a:gd name="T15" fmla="*/ 0 h 77"/>
                <a:gd name="T16" fmla="*/ 147 w 294"/>
                <a:gd name="T17" fmla="*/ 16 h 77"/>
                <a:gd name="T18" fmla="*/ 46 w 294"/>
                <a:gd name="T19"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4" h="77">
                  <a:moveTo>
                    <a:pt x="46" y="0"/>
                  </a:moveTo>
                  <a:cubicBezTo>
                    <a:pt x="49" y="8"/>
                    <a:pt x="51" y="13"/>
                    <a:pt x="51" y="13"/>
                  </a:cubicBezTo>
                  <a:cubicBezTo>
                    <a:pt x="0" y="15"/>
                    <a:pt x="0" y="15"/>
                    <a:pt x="0" y="15"/>
                  </a:cubicBezTo>
                  <a:cubicBezTo>
                    <a:pt x="0" y="77"/>
                    <a:pt x="0" y="77"/>
                    <a:pt x="0" y="77"/>
                  </a:cubicBezTo>
                  <a:cubicBezTo>
                    <a:pt x="294" y="77"/>
                    <a:pt x="294" y="77"/>
                    <a:pt x="294" y="77"/>
                  </a:cubicBezTo>
                  <a:cubicBezTo>
                    <a:pt x="294" y="15"/>
                    <a:pt x="294" y="15"/>
                    <a:pt x="294" y="15"/>
                  </a:cubicBezTo>
                  <a:cubicBezTo>
                    <a:pt x="243" y="13"/>
                    <a:pt x="243" y="13"/>
                    <a:pt x="243" y="13"/>
                  </a:cubicBezTo>
                  <a:cubicBezTo>
                    <a:pt x="243" y="13"/>
                    <a:pt x="245" y="8"/>
                    <a:pt x="247" y="0"/>
                  </a:cubicBezTo>
                  <a:cubicBezTo>
                    <a:pt x="213" y="8"/>
                    <a:pt x="168" y="16"/>
                    <a:pt x="147" y="16"/>
                  </a:cubicBezTo>
                  <a:cubicBezTo>
                    <a:pt x="126" y="16"/>
                    <a:pt x="81" y="8"/>
                    <a:pt x="46" y="0"/>
                  </a:cubicBezTo>
                </a:path>
              </a:pathLst>
            </a:custGeom>
            <a:solidFill>
              <a:srgbClr val="4983E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3" name="isḻiḑè"/>
            <p:cNvSpPr/>
            <p:nvPr/>
          </p:nvSpPr>
          <p:spPr bwMode="auto">
            <a:xfrm>
              <a:off x="6042026" y="2622551"/>
              <a:ext cx="347663" cy="31750"/>
            </a:xfrm>
            <a:custGeom>
              <a:avLst/>
              <a:gdLst>
                <a:gd name="T0" fmla="*/ 0 w 204"/>
                <a:gd name="T1" fmla="*/ 0 h 19"/>
                <a:gd name="T2" fmla="*/ 1 w 204"/>
                <a:gd name="T3" fmla="*/ 3 h 19"/>
                <a:gd name="T4" fmla="*/ 102 w 204"/>
                <a:gd name="T5" fmla="*/ 19 h 19"/>
                <a:gd name="T6" fmla="*/ 202 w 204"/>
                <a:gd name="T7" fmla="*/ 3 h 19"/>
                <a:gd name="T8" fmla="*/ 204 w 204"/>
                <a:gd name="T9" fmla="*/ 0 h 19"/>
                <a:gd name="T10" fmla="*/ 102 w 204"/>
                <a:gd name="T11" fmla="*/ 16 h 19"/>
                <a:gd name="T12" fmla="*/ 0 w 20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204" h="19">
                  <a:moveTo>
                    <a:pt x="0" y="0"/>
                  </a:moveTo>
                  <a:cubicBezTo>
                    <a:pt x="1" y="1"/>
                    <a:pt x="1" y="2"/>
                    <a:pt x="1" y="3"/>
                  </a:cubicBezTo>
                  <a:cubicBezTo>
                    <a:pt x="36" y="11"/>
                    <a:pt x="81" y="19"/>
                    <a:pt x="102" y="19"/>
                  </a:cubicBezTo>
                  <a:cubicBezTo>
                    <a:pt x="123" y="19"/>
                    <a:pt x="168" y="11"/>
                    <a:pt x="202" y="3"/>
                  </a:cubicBezTo>
                  <a:cubicBezTo>
                    <a:pt x="203" y="2"/>
                    <a:pt x="203" y="1"/>
                    <a:pt x="204" y="0"/>
                  </a:cubicBezTo>
                  <a:cubicBezTo>
                    <a:pt x="169" y="7"/>
                    <a:pt x="123" y="16"/>
                    <a:pt x="102" y="16"/>
                  </a:cubicBezTo>
                  <a:cubicBezTo>
                    <a:pt x="80" y="16"/>
                    <a:pt x="35" y="7"/>
                    <a:pt x="0" y="0"/>
                  </a:cubicBezTo>
                </a:path>
              </a:pathLst>
            </a:custGeom>
            <a:solidFill>
              <a:srgbClr val="4276C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4" name="ïsḷïḓè"/>
            <p:cNvSpPr/>
            <p:nvPr/>
          </p:nvSpPr>
          <p:spPr bwMode="auto">
            <a:xfrm>
              <a:off x="5964238" y="2054226"/>
              <a:ext cx="503238" cy="595313"/>
            </a:xfrm>
            <a:custGeom>
              <a:avLst/>
              <a:gdLst>
                <a:gd name="T0" fmla="*/ 294 w 294"/>
                <a:gd name="T1" fmla="*/ 323 h 349"/>
                <a:gd name="T2" fmla="*/ 147 w 294"/>
                <a:gd name="T3" fmla="*/ 349 h 349"/>
                <a:gd name="T4" fmla="*/ 0 w 294"/>
                <a:gd name="T5" fmla="*/ 323 h 349"/>
                <a:gd name="T6" fmla="*/ 0 w 294"/>
                <a:gd name="T7" fmla="*/ 147 h 349"/>
                <a:gd name="T8" fmla="*/ 147 w 294"/>
                <a:gd name="T9" fmla="*/ 0 h 349"/>
                <a:gd name="T10" fmla="*/ 294 w 294"/>
                <a:gd name="T11" fmla="*/ 147 h 349"/>
                <a:gd name="T12" fmla="*/ 294 w 294"/>
                <a:gd name="T13" fmla="*/ 323 h 349"/>
              </a:gdLst>
              <a:ahLst/>
              <a:cxnLst>
                <a:cxn ang="0">
                  <a:pos x="T0" y="T1"/>
                </a:cxn>
                <a:cxn ang="0">
                  <a:pos x="T2" y="T3"/>
                </a:cxn>
                <a:cxn ang="0">
                  <a:pos x="T4" y="T5"/>
                </a:cxn>
                <a:cxn ang="0">
                  <a:pos x="T6" y="T7"/>
                </a:cxn>
                <a:cxn ang="0">
                  <a:pos x="T8" y="T9"/>
                </a:cxn>
                <a:cxn ang="0">
                  <a:pos x="T10" y="T11"/>
                </a:cxn>
                <a:cxn ang="0">
                  <a:pos x="T12" y="T13"/>
                </a:cxn>
              </a:cxnLst>
              <a:rect l="0" t="0" r="r" b="b"/>
              <a:pathLst>
                <a:path w="294" h="349">
                  <a:moveTo>
                    <a:pt x="294" y="323"/>
                  </a:moveTo>
                  <a:cubicBezTo>
                    <a:pt x="294" y="323"/>
                    <a:pt x="184" y="349"/>
                    <a:pt x="147" y="349"/>
                  </a:cubicBezTo>
                  <a:cubicBezTo>
                    <a:pt x="110" y="349"/>
                    <a:pt x="0" y="323"/>
                    <a:pt x="0" y="323"/>
                  </a:cubicBezTo>
                  <a:cubicBezTo>
                    <a:pt x="0" y="147"/>
                    <a:pt x="0" y="147"/>
                    <a:pt x="0" y="147"/>
                  </a:cubicBezTo>
                  <a:cubicBezTo>
                    <a:pt x="0" y="66"/>
                    <a:pt x="66" y="0"/>
                    <a:pt x="147" y="0"/>
                  </a:cubicBezTo>
                  <a:cubicBezTo>
                    <a:pt x="228" y="0"/>
                    <a:pt x="294" y="66"/>
                    <a:pt x="294" y="147"/>
                  </a:cubicBezTo>
                  <a:cubicBezTo>
                    <a:pt x="294" y="323"/>
                    <a:pt x="294" y="323"/>
                    <a:pt x="294" y="323"/>
                  </a:cubicBezTo>
                </a:path>
              </a:pathLst>
            </a:custGeom>
            <a:solidFill>
              <a:srgbClr val="F55F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5" name="îṧļîḍè"/>
            <p:cNvSpPr/>
            <p:nvPr/>
          </p:nvSpPr>
          <p:spPr bwMode="auto">
            <a:xfrm>
              <a:off x="6156326" y="1928813"/>
              <a:ext cx="119063" cy="196850"/>
            </a:xfrm>
            <a:custGeom>
              <a:avLst/>
              <a:gdLst>
                <a:gd name="T0" fmla="*/ 0 w 70"/>
                <a:gd name="T1" fmla="*/ 0 h 115"/>
                <a:gd name="T2" fmla="*/ 70 w 70"/>
                <a:gd name="T3" fmla="*/ 0 h 115"/>
                <a:gd name="T4" fmla="*/ 70 w 70"/>
                <a:gd name="T5" fmla="*/ 85 h 115"/>
                <a:gd name="T6" fmla="*/ 40 w 70"/>
                <a:gd name="T7" fmla="*/ 115 h 115"/>
                <a:gd name="T8" fmla="*/ 30 w 70"/>
                <a:gd name="T9" fmla="*/ 115 h 115"/>
                <a:gd name="T10" fmla="*/ 0 w 70"/>
                <a:gd name="T11" fmla="*/ 85 h 115"/>
                <a:gd name="T12" fmla="*/ 0 w 70"/>
                <a:gd name="T13" fmla="*/ 0 h 115"/>
                <a:gd name="T14" fmla="*/ 0 w 70"/>
                <a:gd name="T15" fmla="*/ 0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115">
                  <a:moveTo>
                    <a:pt x="0" y="0"/>
                  </a:moveTo>
                  <a:cubicBezTo>
                    <a:pt x="70" y="0"/>
                    <a:pt x="70" y="0"/>
                    <a:pt x="70" y="0"/>
                  </a:cubicBezTo>
                  <a:cubicBezTo>
                    <a:pt x="70" y="85"/>
                    <a:pt x="70" y="85"/>
                    <a:pt x="70" y="85"/>
                  </a:cubicBezTo>
                  <a:cubicBezTo>
                    <a:pt x="70" y="101"/>
                    <a:pt x="56" y="115"/>
                    <a:pt x="40" y="115"/>
                  </a:cubicBezTo>
                  <a:cubicBezTo>
                    <a:pt x="30" y="115"/>
                    <a:pt x="30" y="115"/>
                    <a:pt x="30" y="115"/>
                  </a:cubicBezTo>
                  <a:cubicBezTo>
                    <a:pt x="13" y="115"/>
                    <a:pt x="0" y="101"/>
                    <a:pt x="0" y="85"/>
                  </a:cubicBezTo>
                  <a:cubicBezTo>
                    <a:pt x="0" y="0"/>
                    <a:pt x="0" y="0"/>
                    <a:pt x="0" y="0"/>
                  </a:cubicBezTo>
                  <a:cubicBezTo>
                    <a:pt x="0" y="0"/>
                    <a:pt x="0" y="0"/>
                    <a:pt x="0" y="0"/>
                  </a:cubicBezTo>
                </a:path>
              </a:pathLst>
            </a:cu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6" name="iṩḷíḍè"/>
            <p:cNvSpPr/>
            <p:nvPr/>
          </p:nvSpPr>
          <p:spPr bwMode="auto">
            <a:xfrm>
              <a:off x="5848351" y="2625726"/>
              <a:ext cx="320675" cy="865188"/>
            </a:xfrm>
            <a:custGeom>
              <a:avLst/>
              <a:gdLst>
                <a:gd name="T0" fmla="*/ 169 w 188"/>
                <a:gd name="T1" fmla="*/ 492 h 506"/>
                <a:gd name="T2" fmla="*/ 106 w 188"/>
                <a:gd name="T3" fmla="*/ 504 h 506"/>
                <a:gd name="T4" fmla="*/ 82 w 188"/>
                <a:gd name="T5" fmla="*/ 488 h 506"/>
                <a:gd name="T6" fmla="*/ 7 w 188"/>
                <a:gd name="T7" fmla="*/ 85 h 506"/>
                <a:gd name="T8" fmla="*/ 61 w 188"/>
                <a:gd name="T9" fmla="*/ 5 h 506"/>
                <a:gd name="T10" fmla="*/ 61 w 188"/>
                <a:gd name="T11" fmla="*/ 5 h 506"/>
                <a:gd name="T12" fmla="*/ 78 w 188"/>
                <a:gd name="T13" fmla="*/ 2 h 506"/>
                <a:gd name="T14" fmla="*/ 102 w 188"/>
                <a:gd name="T15" fmla="*/ 19 h 506"/>
                <a:gd name="T16" fmla="*/ 186 w 188"/>
                <a:gd name="T17" fmla="*/ 468 h 506"/>
                <a:gd name="T18" fmla="*/ 169 w 188"/>
                <a:gd name="T19" fmla="*/ 492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506">
                  <a:moveTo>
                    <a:pt x="169" y="492"/>
                  </a:moveTo>
                  <a:cubicBezTo>
                    <a:pt x="106" y="504"/>
                    <a:pt x="106" y="504"/>
                    <a:pt x="106" y="504"/>
                  </a:cubicBezTo>
                  <a:cubicBezTo>
                    <a:pt x="95" y="506"/>
                    <a:pt x="84" y="499"/>
                    <a:pt x="82" y="488"/>
                  </a:cubicBezTo>
                  <a:cubicBezTo>
                    <a:pt x="7" y="85"/>
                    <a:pt x="7" y="85"/>
                    <a:pt x="7" y="85"/>
                  </a:cubicBezTo>
                  <a:cubicBezTo>
                    <a:pt x="0" y="48"/>
                    <a:pt x="24" y="12"/>
                    <a:pt x="61" y="5"/>
                  </a:cubicBezTo>
                  <a:cubicBezTo>
                    <a:pt x="61" y="5"/>
                    <a:pt x="61" y="5"/>
                    <a:pt x="61" y="5"/>
                  </a:cubicBezTo>
                  <a:cubicBezTo>
                    <a:pt x="78" y="2"/>
                    <a:pt x="78" y="2"/>
                    <a:pt x="78" y="2"/>
                  </a:cubicBezTo>
                  <a:cubicBezTo>
                    <a:pt x="89" y="0"/>
                    <a:pt x="100" y="8"/>
                    <a:pt x="102" y="19"/>
                  </a:cubicBezTo>
                  <a:cubicBezTo>
                    <a:pt x="186" y="468"/>
                    <a:pt x="186" y="468"/>
                    <a:pt x="186" y="468"/>
                  </a:cubicBezTo>
                  <a:cubicBezTo>
                    <a:pt x="188" y="480"/>
                    <a:pt x="180" y="490"/>
                    <a:pt x="169" y="492"/>
                  </a:cubicBezTo>
                  <a:close/>
                </a:path>
              </a:pathLst>
            </a:custGeom>
            <a:solidFill>
              <a:srgbClr val="4D8A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7" name="iṧlïḍé"/>
            <p:cNvSpPr/>
            <p:nvPr/>
          </p:nvSpPr>
          <p:spPr bwMode="auto">
            <a:xfrm>
              <a:off x="6262688" y="2625726"/>
              <a:ext cx="320675" cy="865188"/>
            </a:xfrm>
            <a:custGeom>
              <a:avLst/>
              <a:gdLst>
                <a:gd name="T0" fmla="*/ 19 w 188"/>
                <a:gd name="T1" fmla="*/ 492 h 506"/>
                <a:gd name="T2" fmla="*/ 82 w 188"/>
                <a:gd name="T3" fmla="*/ 504 h 506"/>
                <a:gd name="T4" fmla="*/ 106 w 188"/>
                <a:gd name="T5" fmla="*/ 488 h 506"/>
                <a:gd name="T6" fmla="*/ 182 w 188"/>
                <a:gd name="T7" fmla="*/ 78 h 506"/>
                <a:gd name="T8" fmla="*/ 133 w 188"/>
                <a:gd name="T9" fmla="*/ 7 h 506"/>
                <a:gd name="T10" fmla="*/ 110 w 188"/>
                <a:gd name="T11" fmla="*/ 2 h 506"/>
                <a:gd name="T12" fmla="*/ 86 w 188"/>
                <a:gd name="T13" fmla="*/ 19 h 506"/>
                <a:gd name="T14" fmla="*/ 2 w 188"/>
                <a:gd name="T15" fmla="*/ 468 h 506"/>
                <a:gd name="T16" fmla="*/ 19 w 188"/>
                <a:gd name="T17" fmla="*/ 492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506">
                  <a:moveTo>
                    <a:pt x="19" y="492"/>
                  </a:moveTo>
                  <a:cubicBezTo>
                    <a:pt x="82" y="504"/>
                    <a:pt x="82" y="504"/>
                    <a:pt x="82" y="504"/>
                  </a:cubicBezTo>
                  <a:cubicBezTo>
                    <a:pt x="93" y="506"/>
                    <a:pt x="104" y="499"/>
                    <a:pt x="106" y="488"/>
                  </a:cubicBezTo>
                  <a:cubicBezTo>
                    <a:pt x="182" y="78"/>
                    <a:pt x="182" y="78"/>
                    <a:pt x="182" y="78"/>
                  </a:cubicBezTo>
                  <a:cubicBezTo>
                    <a:pt x="188" y="45"/>
                    <a:pt x="166" y="13"/>
                    <a:pt x="133" y="7"/>
                  </a:cubicBezTo>
                  <a:cubicBezTo>
                    <a:pt x="110" y="2"/>
                    <a:pt x="110" y="2"/>
                    <a:pt x="110" y="2"/>
                  </a:cubicBezTo>
                  <a:cubicBezTo>
                    <a:pt x="99" y="0"/>
                    <a:pt x="88" y="8"/>
                    <a:pt x="86" y="19"/>
                  </a:cubicBezTo>
                  <a:cubicBezTo>
                    <a:pt x="2" y="468"/>
                    <a:pt x="2" y="468"/>
                    <a:pt x="2" y="468"/>
                  </a:cubicBezTo>
                  <a:cubicBezTo>
                    <a:pt x="0" y="480"/>
                    <a:pt x="7" y="490"/>
                    <a:pt x="19" y="492"/>
                  </a:cubicBezTo>
                  <a:close/>
                </a:path>
              </a:pathLst>
            </a:custGeom>
            <a:solidFill>
              <a:srgbClr val="4D8A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8" name="íSľiḍê"/>
            <p:cNvSpPr/>
            <p:nvPr/>
          </p:nvSpPr>
          <p:spPr bwMode="auto">
            <a:xfrm>
              <a:off x="6156326" y="2014538"/>
              <a:ext cx="0" cy="4763"/>
            </a:xfrm>
            <a:custGeom>
              <a:avLst/>
              <a:gdLst>
                <a:gd name="T0" fmla="*/ 0 h 3"/>
                <a:gd name="T1" fmla="*/ 3 h 3"/>
                <a:gd name="T2" fmla="*/ 3 h 3"/>
                <a:gd name="T3" fmla="*/ 0 h 3"/>
                <a:gd name="T4" fmla="*/ 0 h 3"/>
              </a:gdLst>
              <a:ahLst/>
              <a:cxnLst>
                <a:cxn ang="0">
                  <a:pos x="0" y="T0"/>
                </a:cxn>
                <a:cxn ang="0">
                  <a:pos x="0" y="T1"/>
                </a:cxn>
                <a:cxn ang="0">
                  <a:pos x="0" y="T2"/>
                </a:cxn>
                <a:cxn ang="0">
                  <a:pos x="0" y="T3"/>
                </a:cxn>
                <a:cxn ang="0">
                  <a:pos x="0" y="T4"/>
                </a:cxn>
              </a:cxnLst>
              <a:rect l="0" t="0" r="r" b="b"/>
              <a:pathLst>
                <a:path h="3">
                  <a:moveTo>
                    <a:pt x="0" y="0"/>
                  </a:moveTo>
                  <a:cubicBezTo>
                    <a:pt x="0" y="3"/>
                    <a:pt x="0" y="3"/>
                    <a:pt x="0" y="3"/>
                  </a:cubicBezTo>
                  <a:cubicBezTo>
                    <a:pt x="0" y="3"/>
                    <a:pt x="0" y="3"/>
                    <a:pt x="0" y="3"/>
                  </a:cubicBezTo>
                  <a:cubicBezTo>
                    <a:pt x="0" y="0"/>
                    <a:pt x="0" y="0"/>
                    <a:pt x="0" y="0"/>
                  </a:cubicBezTo>
                  <a:cubicBezTo>
                    <a:pt x="0" y="0"/>
                    <a:pt x="0" y="0"/>
                    <a:pt x="0" y="0"/>
                  </a:cubicBezTo>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9" name="ïśļïḑè"/>
            <p:cNvSpPr/>
            <p:nvPr/>
          </p:nvSpPr>
          <p:spPr bwMode="auto">
            <a:xfrm>
              <a:off x="6156326" y="2014538"/>
              <a:ext cx="119063" cy="11113"/>
            </a:xfrm>
            <a:custGeom>
              <a:avLst/>
              <a:gdLst>
                <a:gd name="T0" fmla="*/ 70 w 70"/>
                <a:gd name="T1" fmla="*/ 0 h 7"/>
                <a:gd name="T2" fmla="*/ 35 w 70"/>
                <a:gd name="T3" fmla="*/ 4 h 7"/>
                <a:gd name="T4" fmla="*/ 0 w 70"/>
                <a:gd name="T5" fmla="*/ 0 h 7"/>
                <a:gd name="T6" fmla="*/ 0 w 70"/>
                <a:gd name="T7" fmla="*/ 3 h 7"/>
                <a:gd name="T8" fmla="*/ 35 w 70"/>
                <a:gd name="T9" fmla="*/ 7 h 7"/>
                <a:gd name="T10" fmla="*/ 70 w 70"/>
                <a:gd name="T11" fmla="*/ 3 h 7"/>
                <a:gd name="T12" fmla="*/ 70 w 70"/>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70" h="7">
                  <a:moveTo>
                    <a:pt x="70" y="0"/>
                  </a:moveTo>
                  <a:cubicBezTo>
                    <a:pt x="59" y="3"/>
                    <a:pt x="47" y="4"/>
                    <a:pt x="35" y="4"/>
                  </a:cubicBezTo>
                  <a:cubicBezTo>
                    <a:pt x="23" y="4"/>
                    <a:pt x="11" y="3"/>
                    <a:pt x="0" y="0"/>
                  </a:cubicBezTo>
                  <a:cubicBezTo>
                    <a:pt x="0" y="3"/>
                    <a:pt x="0" y="3"/>
                    <a:pt x="0" y="3"/>
                  </a:cubicBezTo>
                  <a:cubicBezTo>
                    <a:pt x="11" y="6"/>
                    <a:pt x="23" y="7"/>
                    <a:pt x="35" y="7"/>
                  </a:cubicBezTo>
                  <a:cubicBezTo>
                    <a:pt x="47" y="7"/>
                    <a:pt x="59" y="6"/>
                    <a:pt x="70" y="3"/>
                  </a:cubicBezTo>
                  <a:cubicBezTo>
                    <a:pt x="70" y="0"/>
                    <a:pt x="70" y="0"/>
                    <a:pt x="70" y="0"/>
                  </a:cubicBezTo>
                </a:path>
              </a:pathLst>
            </a:custGeom>
            <a:solidFill>
              <a:srgbClr val="E3A4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0" name="iṣ1iḍè"/>
            <p:cNvSpPr/>
            <p:nvPr/>
          </p:nvSpPr>
          <p:spPr bwMode="auto">
            <a:xfrm>
              <a:off x="5954713" y="1447801"/>
              <a:ext cx="522288" cy="525463"/>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1" name="išļîḍé"/>
            <p:cNvSpPr/>
            <p:nvPr/>
          </p:nvSpPr>
          <p:spPr bwMode="auto">
            <a:xfrm>
              <a:off x="5964238" y="1519238"/>
              <a:ext cx="503238" cy="501650"/>
            </a:xfrm>
            <a:prstGeom prst="ellipse">
              <a:avLst/>
            </a:pr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2" name="ïŝḷîḋê"/>
            <p:cNvSpPr/>
            <p:nvPr/>
          </p:nvSpPr>
          <p:spPr bwMode="auto">
            <a:xfrm>
              <a:off x="5986463" y="1323976"/>
              <a:ext cx="414338" cy="265113"/>
            </a:xfrm>
            <a:custGeom>
              <a:avLst/>
              <a:gdLst>
                <a:gd name="T0" fmla="*/ 37 w 242"/>
                <a:gd name="T1" fmla="*/ 89 h 155"/>
                <a:gd name="T2" fmla="*/ 129 w 242"/>
                <a:gd name="T3" fmla="*/ 32 h 155"/>
                <a:gd name="T4" fmla="*/ 159 w 242"/>
                <a:gd name="T5" fmla="*/ 0 h 155"/>
                <a:gd name="T6" fmla="*/ 160 w 242"/>
                <a:gd name="T7" fmla="*/ 31 h 155"/>
                <a:gd name="T8" fmla="*/ 208 w 242"/>
                <a:gd name="T9" fmla="*/ 26 h 155"/>
                <a:gd name="T10" fmla="*/ 229 w 242"/>
                <a:gd name="T11" fmla="*/ 86 h 155"/>
                <a:gd name="T12" fmla="*/ 242 w 242"/>
                <a:gd name="T13" fmla="*/ 133 h 155"/>
                <a:gd name="T14" fmla="*/ 186 w 242"/>
                <a:gd name="T15" fmla="*/ 126 h 155"/>
                <a:gd name="T16" fmla="*/ 130 w 242"/>
                <a:gd name="T17" fmla="*/ 119 h 155"/>
                <a:gd name="T18" fmla="*/ 102 w 242"/>
                <a:gd name="T19" fmla="*/ 121 h 155"/>
                <a:gd name="T20" fmla="*/ 78 w 242"/>
                <a:gd name="T21" fmla="*/ 130 h 155"/>
                <a:gd name="T22" fmla="*/ 13 w 242"/>
                <a:gd name="T23" fmla="*/ 142 h 155"/>
                <a:gd name="T24" fmla="*/ 37 w 242"/>
                <a:gd name="T25" fmla="*/ 89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 h="155">
                  <a:moveTo>
                    <a:pt x="37" y="89"/>
                  </a:moveTo>
                  <a:cubicBezTo>
                    <a:pt x="65" y="66"/>
                    <a:pt x="108" y="62"/>
                    <a:pt x="129" y="32"/>
                  </a:cubicBezTo>
                  <a:cubicBezTo>
                    <a:pt x="138" y="20"/>
                    <a:pt x="144" y="2"/>
                    <a:pt x="159" y="0"/>
                  </a:cubicBezTo>
                  <a:cubicBezTo>
                    <a:pt x="160" y="31"/>
                    <a:pt x="160" y="31"/>
                    <a:pt x="160" y="31"/>
                  </a:cubicBezTo>
                  <a:cubicBezTo>
                    <a:pt x="208" y="26"/>
                    <a:pt x="208" y="26"/>
                    <a:pt x="208" y="26"/>
                  </a:cubicBezTo>
                  <a:cubicBezTo>
                    <a:pt x="200" y="47"/>
                    <a:pt x="218" y="67"/>
                    <a:pt x="229" y="86"/>
                  </a:cubicBezTo>
                  <a:cubicBezTo>
                    <a:pt x="237" y="100"/>
                    <a:pt x="242" y="116"/>
                    <a:pt x="242" y="133"/>
                  </a:cubicBezTo>
                  <a:cubicBezTo>
                    <a:pt x="225" y="143"/>
                    <a:pt x="205" y="132"/>
                    <a:pt x="186" y="126"/>
                  </a:cubicBezTo>
                  <a:cubicBezTo>
                    <a:pt x="168" y="120"/>
                    <a:pt x="149" y="120"/>
                    <a:pt x="130" y="119"/>
                  </a:cubicBezTo>
                  <a:cubicBezTo>
                    <a:pt x="121" y="119"/>
                    <a:pt x="111" y="119"/>
                    <a:pt x="102" y="121"/>
                  </a:cubicBezTo>
                  <a:cubicBezTo>
                    <a:pt x="93" y="123"/>
                    <a:pt x="85" y="126"/>
                    <a:pt x="78" y="130"/>
                  </a:cubicBezTo>
                  <a:cubicBezTo>
                    <a:pt x="65" y="135"/>
                    <a:pt x="25" y="155"/>
                    <a:pt x="13" y="142"/>
                  </a:cubicBezTo>
                  <a:cubicBezTo>
                    <a:pt x="0" y="127"/>
                    <a:pt x="26" y="98"/>
                    <a:pt x="37" y="89"/>
                  </a:cubicBezTo>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3" name="işḷiḍé"/>
            <p:cNvSpPr/>
            <p:nvPr/>
          </p:nvSpPr>
          <p:spPr bwMode="auto">
            <a:xfrm>
              <a:off x="6022976" y="1549401"/>
              <a:ext cx="446088" cy="144463"/>
            </a:xfrm>
            <a:custGeom>
              <a:avLst/>
              <a:gdLst>
                <a:gd name="T0" fmla="*/ 28 w 261"/>
                <a:gd name="T1" fmla="*/ 9 h 85"/>
                <a:gd name="T2" fmla="*/ 4 w 261"/>
                <a:gd name="T3" fmla="*/ 14 h 85"/>
                <a:gd name="T4" fmla="*/ 4 w 261"/>
                <a:gd name="T5" fmla="*/ 14 h 85"/>
                <a:gd name="T6" fmla="*/ 2 w 261"/>
                <a:gd name="T7" fmla="*/ 33 h 85"/>
                <a:gd name="T8" fmla="*/ 28 w 261"/>
                <a:gd name="T9" fmla="*/ 9 h 85"/>
                <a:gd name="T10" fmla="*/ 183 w 261"/>
                <a:gd name="T11" fmla="*/ 0 h 85"/>
                <a:gd name="T12" fmla="*/ 253 w 261"/>
                <a:gd name="T13" fmla="*/ 85 h 85"/>
                <a:gd name="T14" fmla="*/ 254 w 261"/>
                <a:gd name="T15" fmla="*/ 84 h 85"/>
                <a:gd name="T16" fmla="*/ 253 w 261"/>
                <a:gd name="T17" fmla="*/ 61 h 85"/>
                <a:gd name="T18" fmla="*/ 233 w 261"/>
                <a:gd name="T19" fmla="*/ 24 h 85"/>
                <a:gd name="T20" fmla="*/ 219 w 261"/>
                <a:gd name="T21" fmla="*/ 2 h 85"/>
                <a:gd name="T22" fmla="*/ 206 w 261"/>
                <a:gd name="T23" fmla="*/ 5 h 85"/>
                <a:gd name="T24" fmla="*/ 183 w 261"/>
                <a:gd name="T2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 h="85">
                  <a:moveTo>
                    <a:pt x="28" y="9"/>
                  </a:moveTo>
                  <a:cubicBezTo>
                    <a:pt x="20" y="12"/>
                    <a:pt x="11" y="14"/>
                    <a:pt x="4" y="14"/>
                  </a:cubicBezTo>
                  <a:cubicBezTo>
                    <a:pt x="4" y="14"/>
                    <a:pt x="4" y="14"/>
                    <a:pt x="4" y="14"/>
                  </a:cubicBezTo>
                  <a:cubicBezTo>
                    <a:pt x="1" y="20"/>
                    <a:pt x="0" y="26"/>
                    <a:pt x="2" y="33"/>
                  </a:cubicBezTo>
                  <a:cubicBezTo>
                    <a:pt x="10" y="24"/>
                    <a:pt x="19" y="16"/>
                    <a:pt x="28" y="9"/>
                  </a:cubicBezTo>
                  <a:moveTo>
                    <a:pt x="183" y="0"/>
                  </a:moveTo>
                  <a:cubicBezTo>
                    <a:pt x="216" y="18"/>
                    <a:pt x="241" y="48"/>
                    <a:pt x="253" y="85"/>
                  </a:cubicBezTo>
                  <a:cubicBezTo>
                    <a:pt x="253" y="84"/>
                    <a:pt x="254" y="84"/>
                    <a:pt x="254" y="84"/>
                  </a:cubicBezTo>
                  <a:cubicBezTo>
                    <a:pt x="261" y="79"/>
                    <a:pt x="257" y="68"/>
                    <a:pt x="253" y="61"/>
                  </a:cubicBezTo>
                  <a:cubicBezTo>
                    <a:pt x="233" y="24"/>
                    <a:pt x="233" y="24"/>
                    <a:pt x="233" y="24"/>
                  </a:cubicBezTo>
                  <a:cubicBezTo>
                    <a:pt x="229" y="16"/>
                    <a:pt x="224" y="9"/>
                    <a:pt x="219" y="2"/>
                  </a:cubicBezTo>
                  <a:cubicBezTo>
                    <a:pt x="215" y="4"/>
                    <a:pt x="210" y="5"/>
                    <a:pt x="206" y="5"/>
                  </a:cubicBezTo>
                  <a:cubicBezTo>
                    <a:pt x="198" y="5"/>
                    <a:pt x="191" y="3"/>
                    <a:pt x="183" y="0"/>
                  </a:cubicBezTo>
                </a:path>
              </a:pathLst>
            </a:custGeom>
            <a:solidFill>
              <a:srgbClr val="2E2E2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4" name="ïṩľïḑe"/>
            <p:cNvSpPr/>
            <p:nvPr/>
          </p:nvSpPr>
          <p:spPr bwMode="auto">
            <a:xfrm>
              <a:off x="6026151" y="1527176"/>
              <a:ext cx="428625" cy="169863"/>
            </a:xfrm>
            <a:custGeom>
              <a:avLst/>
              <a:gdLst>
                <a:gd name="T0" fmla="*/ 99 w 251"/>
                <a:gd name="T1" fmla="*/ 0 h 99"/>
                <a:gd name="T2" fmla="*/ 79 w 251"/>
                <a:gd name="T3" fmla="*/ 2 h 99"/>
                <a:gd name="T4" fmla="*/ 55 w 251"/>
                <a:gd name="T5" fmla="*/ 11 h 99"/>
                <a:gd name="T6" fmla="*/ 26 w 251"/>
                <a:gd name="T7" fmla="*/ 22 h 99"/>
                <a:gd name="T8" fmla="*/ 0 w 251"/>
                <a:gd name="T9" fmla="*/ 46 h 99"/>
                <a:gd name="T10" fmla="*/ 22 w 251"/>
                <a:gd name="T11" fmla="*/ 69 h 99"/>
                <a:gd name="T12" fmla="*/ 48 w 251"/>
                <a:gd name="T13" fmla="*/ 77 h 99"/>
                <a:gd name="T14" fmla="*/ 79 w 251"/>
                <a:gd name="T15" fmla="*/ 79 h 99"/>
                <a:gd name="T16" fmla="*/ 159 w 251"/>
                <a:gd name="T17" fmla="*/ 64 h 99"/>
                <a:gd name="T18" fmla="*/ 195 w 251"/>
                <a:gd name="T19" fmla="*/ 94 h 99"/>
                <a:gd name="T20" fmla="*/ 242 w 251"/>
                <a:gd name="T21" fmla="*/ 99 h 99"/>
                <a:gd name="T22" fmla="*/ 244 w 251"/>
                <a:gd name="T23" fmla="*/ 99 h 99"/>
                <a:gd name="T24" fmla="*/ 251 w 251"/>
                <a:gd name="T25" fmla="*/ 98 h 99"/>
                <a:gd name="T26" fmla="*/ 181 w 251"/>
                <a:gd name="T27" fmla="*/ 13 h 99"/>
                <a:gd name="T28" fmla="*/ 163 w 251"/>
                <a:gd name="T29" fmla="*/ 7 h 99"/>
                <a:gd name="T30" fmla="*/ 107 w 251"/>
                <a:gd name="T31" fmla="*/ 0 h 99"/>
                <a:gd name="T32" fmla="*/ 99 w 251"/>
                <a:gd name="T33"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1" h="99">
                  <a:moveTo>
                    <a:pt x="99" y="0"/>
                  </a:moveTo>
                  <a:cubicBezTo>
                    <a:pt x="92" y="0"/>
                    <a:pt x="85" y="1"/>
                    <a:pt x="79" y="2"/>
                  </a:cubicBezTo>
                  <a:cubicBezTo>
                    <a:pt x="70" y="4"/>
                    <a:pt x="62" y="7"/>
                    <a:pt x="55" y="11"/>
                  </a:cubicBezTo>
                  <a:cubicBezTo>
                    <a:pt x="49" y="13"/>
                    <a:pt x="38" y="18"/>
                    <a:pt x="26" y="22"/>
                  </a:cubicBezTo>
                  <a:cubicBezTo>
                    <a:pt x="17" y="29"/>
                    <a:pt x="8" y="37"/>
                    <a:pt x="0" y="46"/>
                  </a:cubicBezTo>
                  <a:cubicBezTo>
                    <a:pt x="3" y="53"/>
                    <a:pt x="9" y="61"/>
                    <a:pt x="22" y="69"/>
                  </a:cubicBezTo>
                  <a:cubicBezTo>
                    <a:pt x="30" y="73"/>
                    <a:pt x="39" y="76"/>
                    <a:pt x="48" y="77"/>
                  </a:cubicBezTo>
                  <a:cubicBezTo>
                    <a:pt x="58" y="78"/>
                    <a:pt x="69" y="79"/>
                    <a:pt x="79" y="79"/>
                  </a:cubicBezTo>
                  <a:cubicBezTo>
                    <a:pt x="106" y="79"/>
                    <a:pt x="134" y="74"/>
                    <a:pt x="159" y="64"/>
                  </a:cubicBezTo>
                  <a:cubicBezTo>
                    <a:pt x="165" y="79"/>
                    <a:pt x="179" y="89"/>
                    <a:pt x="195" y="94"/>
                  </a:cubicBezTo>
                  <a:cubicBezTo>
                    <a:pt x="210" y="99"/>
                    <a:pt x="226" y="99"/>
                    <a:pt x="242" y="99"/>
                  </a:cubicBezTo>
                  <a:cubicBezTo>
                    <a:pt x="242" y="99"/>
                    <a:pt x="243" y="99"/>
                    <a:pt x="244" y="99"/>
                  </a:cubicBezTo>
                  <a:cubicBezTo>
                    <a:pt x="246" y="99"/>
                    <a:pt x="249" y="99"/>
                    <a:pt x="251" y="98"/>
                  </a:cubicBezTo>
                  <a:cubicBezTo>
                    <a:pt x="239" y="61"/>
                    <a:pt x="214" y="31"/>
                    <a:pt x="181" y="13"/>
                  </a:cubicBezTo>
                  <a:cubicBezTo>
                    <a:pt x="175" y="11"/>
                    <a:pt x="169" y="9"/>
                    <a:pt x="163" y="7"/>
                  </a:cubicBezTo>
                  <a:cubicBezTo>
                    <a:pt x="145" y="1"/>
                    <a:pt x="126" y="1"/>
                    <a:pt x="107" y="0"/>
                  </a:cubicBezTo>
                  <a:cubicBezTo>
                    <a:pt x="105" y="0"/>
                    <a:pt x="102" y="0"/>
                    <a:pt x="99" y="0"/>
                  </a:cubicBezTo>
                </a:path>
              </a:pathLst>
            </a:custGeom>
            <a:solidFill>
              <a:srgbClr val="E3A4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5" name="ï$ḷíḋê"/>
            <p:cNvSpPr/>
            <p:nvPr/>
          </p:nvSpPr>
          <p:spPr bwMode="auto">
            <a:xfrm>
              <a:off x="6029326" y="1498601"/>
              <a:ext cx="368300" cy="74613"/>
            </a:xfrm>
            <a:custGeom>
              <a:avLst/>
              <a:gdLst>
                <a:gd name="T0" fmla="*/ 117 w 215"/>
                <a:gd name="T1" fmla="*/ 0 h 44"/>
                <a:gd name="T2" fmla="*/ 55 w 215"/>
                <a:gd name="T3" fmla="*/ 9 h 44"/>
                <a:gd name="T4" fmla="*/ 0 w 215"/>
                <a:gd name="T5" fmla="*/ 44 h 44"/>
                <a:gd name="T6" fmla="*/ 0 w 215"/>
                <a:gd name="T7" fmla="*/ 44 h 44"/>
                <a:gd name="T8" fmla="*/ 24 w 215"/>
                <a:gd name="T9" fmla="*/ 39 h 44"/>
                <a:gd name="T10" fmla="*/ 53 w 215"/>
                <a:gd name="T11" fmla="*/ 28 h 44"/>
                <a:gd name="T12" fmla="*/ 77 w 215"/>
                <a:gd name="T13" fmla="*/ 19 h 44"/>
                <a:gd name="T14" fmla="*/ 97 w 215"/>
                <a:gd name="T15" fmla="*/ 17 h 44"/>
                <a:gd name="T16" fmla="*/ 105 w 215"/>
                <a:gd name="T17" fmla="*/ 17 h 44"/>
                <a:gd name="T18" fmla="*/ 161 w 215"/>
                <a:gd name="T19" fmla="*/ 24 h 44"/>
                <a:gd name="T20" fmla="*/ 179 w 215"/>
                <a:gd name="T21" fmla="*/ 30 h 44"/>
                <a:gd name="T22" fmla="*/ 202 w 215"/>
                <a:gd name="T23" fmla="*/ 35 h 44"/>
                <a:gd name="T24" fmla="*/ 215 w 215"/>
                <a:gd name="T25" fmla="*/ 32 h 44"/>
                <a:gd name="T26" fmla="*/ 207 w 215"/>
                <a:gd name="T27" fmla="*/ 23 h 44"/>
                <a:gd name="T28" fmla="*/ 165 w 215"/>
                <a:gd name="T29" fmla="*/ 5 h 44"/>
                <a:gd name="T30" fmla="*/ 117 w 215"/>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5" h="44">
                  <a:moveTo>
                    <a:pt x="117" y="0"/>
                  </a:moveTo>
                  <a:cubicBezTo>
                    <a:pt x="96" y="0"/>
                    <a:pt x="75" y="3"/>
                    <a:pt x="55" y="9"/>
                  </a:cubicBezTo>
                  <a:cubicBezTo>
                    <a:pt x="33" y="14"/>
                    <a:pt x="8" y="28"/>
                    <a:pt x="0" y="44"/>
                  </a:cubicBezTo>
                  <a:cubicBezTo>
                    <a:pt x="0" y="44"/>
                    <a:pt x="0" y="44"/>
                    <a:pt x="0" y="44"/>
                  </a:cubicBezTo>
                  <a:cubicBezTo>
                    <a:pt x="7" y="44"/>
                    <a:pt x="16" y="42"/>
                    <a:pt x="24" y="39"/>
                  </a:cubicBezTo>
                  <a:cubicBezTo>
                    <a:pt x="36" y="35"/>
                    <a:pt x="47" y="30"/>
                    <a:pt x="53" y="28"/>
                  </a:cubicBezTo>
                  <a:cubicBezTo>
                    <a:pt x="60" y="24"/>
                    <a:pt x="68" y="21"/>
                    <a:pt x="77" y="19"/>
                  </a:cubicBezTo>
                  <a:cubicBezTo>
                    <a:pt x="83" y="18"/>
                    <a:pt x="90" y="17"/>
                    <a:pt x="97" y="17"/>
                  </a:cubicBezTo>
                  <a:cubicBezTo>
                    <a:pt x="100" y="17"/>
                    <a:pt x="103" y="17"/>
                    <a:pt x="105" y="17"/>
                  </a:cubicBezTo>
                  <a:cubicBezTo>
                    <a:pt x="124" y="18"/>
                    <a:pt x="143" y="18"/>
                    <a:pt x="161" y="24"/>
                  </a:cubicBezTo>
                  <a:cubicBezTo>
                    <a:pt x="167" y="26"/>
                    <a:pt x="173" y="28"/>
                    <a:pt x="179" y="30"/>
                  </a:cubicBezTo>
                  <a:cubicBezTo>
                    <a:pt x="187" y="33"/>
                    <a:pt x="194" y="35"/>
                    <a:pt x="202" y="35"/>
                  </a:cubicBezTo>
                  <a:cubicBezTo>
                    <a:pt x="206" y="35"/>
                    <a:pt x="211" y="34"/>
                    <a:pt x="215" y="32"/>
                  </a:cubicBezTo>
                  <a:cubicBezTo>
                    <a:pt x="213" y="29"/>
                    <a:pt x="210" y="26"/>
                    <a:pt x="207" y="23"/>
                  </a:cubicBezTo>
                  <a:cubicBezTo>
                    <a:pt x="195" y="13"/>
                    <a:pt x="180" y="8"/>
                    <a:pt x="165" y="5"/>
                  </a:cubicBezTo>
                  <a:cubicBezTo>
                    <a:pt x="149" y="2"/>
                    <a:pt x="133" y="0"/>
                    <a:pt x="117" y="0"/>
                  </a:cubicBezTo>
                </a:path>
              </a:pathLst>
            </a:custGeom>
            <a:solidFill>
              <a:srgbClr val="2E2E2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6" name="íšlïďè"/>
            <p:cNvSpPr/>
            <p:nvPr/>
          </p:nvSpPr>
          <p:spPr bwMode="auto">
            <a:xfrm>
              <a:off x="5972176" y="1489076"/>
              <a:ext cx="496888" cy="201613"/>
            </a:xfrm>
            <a:custGeom>
              <a:avLst/>
              <a:gdLst>
                <a:gd name="T0" fmla="*/ 53 w 290"/>
                <a:gd name="T1" fmla="*/ 87 h 118"/>
                <a:gd name="T2" fmla="*/ 79 w 290"/>
                <a:gd name="T3" fmla="*/ 95 h 118"/>
                <a:gd name="T4" fmla="*/ 190 w 290"/>
                <a:gd name="T5" fmla="*/ 83 h 118"/>
                <a:gd name="T6" fmla="*/ 226 w 290"/>
                <a:gd name="T7" fmla="*/ 113 h 118"/>
                <a:gd name="T8" fmla="*/ 273 w 290"/>
                <a:gd name="T9" fmla="*/ 118 h 118"/>
                <a:gd name="T10" fmla="*/ 283 w 290"/>
                <a:gd name="T11" fmla="*/ 116 h 118"/>
                <a:gd name="T12" fmla="*/ 282 w 290"/>
                <a:gd name="T13" fmla="*/ 93 h 118"/>
                <a:gd name="T14" fmla="*/ 262 w 290"/>
                <a:gd name="T15" fmla="*/ 56 h 118"/>
                <a:gd name="T16" fmla="*/ 240 w 290"/>
                <a:gd name="T17" fmla="*/ 25 h 118"/>
                <a:gd name="T18" fmla="*/ 198 w 290"/>
                <a:gd name="T19" fmla="*/ 7 h 118"/>
                <a:gd name="T20" fmla="*/ 88 w 290"/>
                <a:gd name="T21" fmla="*/ 11 h 118"/>
                <a:gd name="T22" fmla="*/ 53 w 290"/>
                <a:gd name="T23" fmla="*/ 8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118">
                  <a:moveTo>
                    <a:pt x="53" y="87"/>
                  </a:moveTo>
                  <a:cubicBezTo>
                    <a:pt x="61" y="92"/>
                    <a:pt x="70" y="95"/>
                    <a:pt x="79" y="95"/>
                  </a:cubicBezTo>
                  <a:cubicBezTo>
                    <a:pt x="117" y="101"/>
                    <a:pt x="155" y="96"/>
                    <a:pt x="190" y="83"/>
                  </a:cubicBezTo>
                  <a:cubicBezTo>
                    <a:pt x="196" y="98"/>
                    <a:pt x="210" y="108"/>
                    <a:pt x="226" y="113"/>
                  </a:cubicBezTo>
                  <a:cubicBezTo>
                    <a:pt x="241" y="117"/>
                    <a:pt x="257" y="118"/>
                    <a:pt x="273" y="118"/>
                  </a:cubicBezTo>
                  <a:cubicBezTo>
                    <a:pt x="276" y="118"/>
                    <a:pt x="280" y="118"/>
                    <a:pt x="283" y="116"/>
                  </a:cubicBezTo>
                  <a:cubicBezTo>
                    <a:pt x="290" y="111"/>
                    <a:pt x="286" y="100"/>
                    <a:pt x="282" y="93"/>
                  </a:cubicBezTo>
                  <a:cubicBezTo>
                    <a:pt x="262" y="56"/>
                    <a:pt x="262" y="56"/>
                    <a:pt x="262" y="56"/>
                  </a:cubicBezTo>
                  <a:cubicBezTo>
                    <a:pt x="256" y="45"/>
                    <a:pt x="250" y="34"/>
                    <a:pt x="240" y="25"/>
                  </a:cubicBezTo>
                  <a:cubicBezTo>
                    <a:pt x="228" y="15"/>
                    <a:pt x="213" y="10"/>
                    <a:pt x="198" y="7"/>
                  </a:cubicBezTo>
                  <a:cubicBezTo>
                    <a:pt x="161" y="0"/>
                    <a:pt x="124" y="1"/>
                    <a:pt x="88" y="11"/>
                  </a:cubicBezTo>
                  <a:cubicBezTo>
                    <a:pt x="50" y="21"/>
                    <a:pt x="0" y="56"/>
                    <a:pt x="53" y="87"/>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7" name="išļïḋé"/>
            <p:cNvSpPr/>
            <p:nvPr/>
          </p:nvSpPr>
          <p:spPr bwMode="auto">
            <a:xfrm>
              <a:off x="6443663" y="1728788"/>
              <a:ext cx="42863" cy="82550"/>
            </a:xfrm>
            <a:prstGeom prst="ellipse">
              <a:avLst/>
            </a:pr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8" name="iṡ1ïḓé"/>
            <p:cNvSpPr/>
            <p:nvPr/>
          </p:nvSpPr>
          <p:spPr bwMode="auto">
            <a:xfrm>
              <a:off x="5945188" y="1728788"/>
              <a:ext cx="42863" cy="82550"/>
            </a:xfrm>
            <a:prstGeom prst="ellipse">
              <a:avLst/>
            </a:pr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9" name="îSlíḋe"/>
            <p:cNvSpPr/>
            <p:nvPr/>
          </p:nvSpPr>
          <p:spPr bwMode="auto">
            <a:xfrm>
              <a:off x="5837238" y="2020888"/>
              <a:ext cx="319088" cy="631825"/>
            </a:xfrm>
            <a:custGeom>
              <a:avLst/>
              <a:gdLst>
                <a:gd name="T0" fmla="*/ 186 w 186"/>
                <a:gd name="T1" fmla="*/ 29 h 370"/>
                <a:gd name="T2" fmla="*/ 39 w 186"/>
                <a:gd name="T3" fmla="*/ 288 h 370"/>
                <a:gd name="T4" fmla="*/ 61 w 186"/>
                <a:gd name="T5" fmla="*/ 370 h 370"/>
                <a:gd name="T6" fmla="*/ 125 w 186"/>
                <a:gd name="T7" fmla="*/ 368 h 370"/>
                <a:gd name="T8" fmla="*/ 109 w 186"/>
                <a:gd name="T9" fmla="*/ 208 h 370"/>
                <a:gd name="T10" fmla="*/ 186 w 186"/>
                <a:gd name="T11" fmla="*/ 29 h 370"/>
              </a:gdLst>
              <a:ahLst/>
              <a:cxnLst>
                <a:cxn ang="0">
                  <a:pos x="T0" y="T1"/>
                </a:cxn>
                <a:cxn ang="0">
                  <a:pos x="T2" y="T3"/>
                </a:cxn>
                <a:cxn ang="0">
                  <a:pos x="T4" y="T5"/>
                </a:cxn>
                <a:cxn ang="0">
                  <a:pos x="T6" y="T7"/>
                </a:cxn>
                <a:cxn ang="0">
                  <a:pos x="T8" y="T9"/>
                </a:cxn>
                <a:cxn ang="0">
                  <a:pos x="T10" y="T11"/>
                </a:cxn>
              </a:cxnLst>
              <a:rect l="0" t="0" r="r" b="b"/>
              <a:pathLst>
                <a:path w="186" h="370">
                  <a:moveTo>
                    <a:pt x="186" y="29"/>
                  </a:moveTo>
                  <a:cubicBezTo>
                    <a:pt x="186" y="29"/>
                    <a:pt x="0" y="0"/>
                    <a:pt x="39" y="288"/>
                  </a:cubicBezTo>
                  <a:cubicBezTo>
                    <a:pt x="61" y="370"/>
                    <a:pt x="61" y="370"/>
                    <a:pt x="61" y="370"/>
                  </a:cubicBezTo>
                  <a:cubicBezTo>
                    <a:pt x="125" y="368"/>
                    <a:pt x="125" y="368"/>
                    <a:pt x="125" y="368"/>
                  </a:cubicBezTo>
                  <a:cubicBezTo>
                    <a:pt x="125" y="368"/>
                    <a:pt x="84" y="272"/>
                    <a:pt x="109" y="208"/>
                  </a:cubicBezTo>
                  <a:cubicBezTo>
                    <a:pt x="135" y="144"/>
                    <a:pt x="186" y="29"/>
                    <a:pt x="186" y="29"/>
                  </a:cubicBezTo>
                </a:path>
              </a:pathLst>
            </a:custGeom>
            <a:solidFill>
              <a:srgbClr val="F55F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0" name="ï$líḓè"/>
            <p:cNvSpPr/>
            <p:nvPr/>
          </p:nvSpPr>
          <p:spPr bwMode="auto">
            <a:xfrm>
              <a:off x="6273801" y="2020888"/>
              <a:ext cx="319088" cy="631825"/>
            </a:xfrm>
            <a:custGeom>
              <a:avLst/>
              <a:gdLst>
                <a:gd name="T0" fmla="*/ 0 w 186"/>
                <a:gd name="T1" fmla="*/ 29 h 370"/>
                <a:gd name="T2" fmla="*/ 148 w 186"/>
                <a:gd name="T3" fmla="*/ 288 h 370"/>
                <a:gd name="T4" fmla="*/ 126 w 186"/>
                <a:gd name="T5" fmla="*/ 370 h 370"/>
                <a:gd name="T6" fmla="*/ 62 w 186"/>
                <a:gd name="T7" fmla="*/ 368 h 370"/>
                <a:gd name="T8" fmla="*/ 78 w 186"/>
                <a:gd name="T9" fmla="*/ 208 h 370"/>
                <a:gd name="T10" fmla="*/ 0 w 186"/>
                <a:gd name="T11" fmla="*/ 29 h 370"/>
              </a:gdLst>
              <a:ahLst/>
              <a:cxnLst>
                <a:cxn ang="0">
                  <a:pos x="T0" y="T1"/>
                </a:cxn>
                <a:cxn ang="0">
                  <a:pos x="T2" y="T3"/>
                </a:cxn>
                <a:cxn ang="0">
                  <a:pos x="T4" y="T5"/>
                </a:cxn>
                <a:cxn ang="0">
                  <a:pos x="T6" y="T7"/>
                </a:cxn>
                <a:cxn ang="0">
                  <a:pos x="T8" y="T9"/>
                </a:cxn>
                <a:cxn ang="0">
                  <a:pos x="T10" y="T11"/>
                </a:cxn>
              </a:cxnLst>
              <a:rect l="0" t="0" r="r" b="b"/>
              <a:pathLst>
                <a:path w="186" h="370">
                  <a:moveTo>
                    <a:pt x="0" y="29"/>
                  </a:moveTo>
                  <a:cubicBezTo>
                    <a:pt x="0" y="29"/>
                    <a:pt x="186" y="0"/>
                    <a:pt x="148" y="288"/>
                  </a:cubicBezTo>
                  <a:cubicBezTo>
                    <a:pt x="126" y="370"/>
                    <a:pt x="126" y="370"/>
                    <a:pt x="126" y="370"/>
                  </a:cubicBezTo>
                  <a:cubicBezTo>
                    <a:pt x="62" y="368"/>
                    <a:pt x="62" y="368"/>
                    <a:pt x="62" y="368"/>
                  </a:cubicBezTo>
                  <a:cubicBezTo>
                    <a:pt x="62" y="368"/>
                    <a:pt x="103" y="272"/>
                    <a:pt x="78" y="208"/>
                  </a:cubicBezTo>
                  <a:cubicBezTo>
                    <a:pt x="52" y="144"/>
                    <a:pt x="0" y="29"/>
                    <a:pt x="0" y="29"/>
                  </a:cubicBezTo>
                </a:path>
              </a:pathLst>
            </a:custGeom>
            <a:solidFill>
              <a:srgbClr val="F55F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1" name="ïṩľiḋè"/>
            <p:cNvSpPr/>
            <p:nvPr/>
          </p:nvSpPr>
          <p:spPr bwMode="auto">
            <a:xfrm>
              <a:off x="5942013" y="2609851"/>
              <a:ext cx="119063" cy="122238"/>
            </a:xfrm>
            <a:prstGeom prst="ellipse">
              <a:avLst/>
            </a:pr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2" name="îṡ1ídè"/>
            <p:cNvSpPr/>
            <p:nvPr/>
          </p:nvSpPr>
          <p:spPr bwMode="auto">
            <a:xfrm>
              <a:off x="6380163" y="2609851"/>
              <a:ext cx="119063" cy="122238"/>
            </a:xfrm>
            <a:prstGeom prst="ellipse">
              <a:avLst/>
            </a:prstGeom>
            <a:solidFill>
              <a:srgbClr val="FDB79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3" name="iSlïďe"/>
            <p:cNvSpPr/>
            <p:nvPr/>
          </p:nvSpPr>
          <p:spPr bwMode="auto">
            <a:xfrm>
              <a:off x="6002338" y="3490913"/>
              <a:ext cx="158750" cy="87313"/>
            </a:xfrm>
            <a:custGeom>
              <a:avLst/>
              <a:gdLst>
                <a:gd name="T0" fmla="*/ 40 w 93"/>
                <a:gd name="T1" fmla="*/ 0 h 51"/>
                <a:gd name="T2" fmla="*/ 53 w 93"/>
                <a:gd name="T3" fmla="*/ 0 h 51"/>
                <a:gd name="T4" fmla="*/ 93 w 93"/>
                <a:gd name="T5" fmla="*/ 40 h 51"/>
                <a:gd name="T6" fmla="*/ 93 w 93"/>
                <a:gd name="T7" fmla="*/ 51 h 51"/>
                <a:gd name="T8" fmla="*/ 0 w 93"/>
                <a:gd name="T9" fmla="*/ 51 h 51"/>
                <a:gd name="T10" fmla="*/ 0 w 93"/>
                <a:gd name="T11" fmla="*/ 40 h 51"/>
                <a:gd name="T12" fmla="*/ 40 w 93"/>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93" h="51">
                  <a:moveTo>
                    <a:pt x="40" y="0"/>
                  </a:moveTo>
                  <a:cubicBezTo>
                    <a:pt x="53" y="0"/>
                    <a:pt x="53" y="0"/>
                    <a:pt x="53" y="0"/>
                  </a:cubicBezTo>
                  <a:cubicBezTo>
                    <a:pt x="75" y="0"/>
                    <a:pt x="93" y="18"/>
                    <a:pt x="93" y="40"/>
                  </a:cubicBezTo>
                  <a:cubicBezTo>
                    <a:pt x="93" y="51"/>
                    <a:pt x="93" y="51"/>
                    <a:pt x="93" y="51"/>
                  </a:cubicBezTo>
                  <a:cubicBezTo>
                    <a:pt x="0" y="51"/>
                    <a:pt x="0" y="51"/>
                    <a:pt x="0" y="51"/>
                  </a:cubicBezTo>
                  <a:cubicBezTo>
                    <a:pt x="0" y="40"/>
                    <a:pt x="0" y="40"/>
                    <a:pt x="0" y="40"/>
                  </a:cubicBezTo>
                  <a:cubicBezTo>
                    <a:pt x="0" y="18"/>
                    <a:pt x="18" y="0"/>
                    <a:pt x="40"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4" name="işľiďe"/>
            <p:cNvSpPr/>
            <p:nvPr/>
          </p:nvSpPr>
          <p:spPr bwMode="auto">
            <a:xfrm>
              <a:off x="6270626" y="3490913"/>
              <a:ext cx="157163" cy="87313"/>
            </a:xfrm>
            <a:custGeom>
              <a:avLst/>
              <a:gdLst>
                <a:gd name="T0" fmla="*/ 40 w 92"/>
                <a:gd name="T1" fmla="*/ 0 h 51"/>
                <a:gd name="T2" fmla="*/ 52 w 92"/>
                <a:gd name="T3" fmla="*/ 0 h 51"/>
                <a:gd name="T4" fmla="*/ 92 w 92"/>
                <a:gd name="T5" fmla="*/ 40 h 51"/>
                <a:gd name="T6" fmla="*/ 92 w 92"/>
                <a:gd name="T7" fmla="*/ 51 h 51"/>
                <a:gd name="T8" fmla="*/ 0 w 92"/>
                <a:gd name="T9" fmla="*/ 51 h 51"/>
                <a:gd name="T10" fmla="*/ 0 w 92"/>
                <a:gd name="T11" fmla="*/ 40 h 51"/>
                <a:gd name="T12" fmla="*/ 40 w 92"/>
                <a:gd name="T13" fmla="*/ 0 h 51"/>
              </a:gdLst>
              <a:ahLst/>
              <a:cxnLst>
                <a:cxn ang="0">
                  <a:pos x="T0" y="T1"/>
                </a:cxn>
                <a:cxn ang="0">
                  <a:pos x="T2" y="T3"/>
                </a:cxn>
                <a:cxn ang="0">
                  <a:pos x="T4" y="T5"/>
                </a:cxn>
                <a:cxn ang="0">
                  <a:pos x="T6" y="T7"/>
                </a:cxn>
                <a:cxn ang="0">
                  <a:pos x="T8" y="T9"/>
                </a:cxn>
                <a:cxn ang="0">
                  <a:pos x="T10" y="T11"/>
                </a:cxn>
                <a:cxn ang="0">
                  <a:pos x="T12" y="T13"/>
                </a:cxn>
              </a:cxnLst>
              <a:rect l="0" t="0" r="r" b="b"/>
              <a:pathLst>
                <a:path w="92" h="51">
                  <a:moveTo>
                    <a:pt x="40" y="0"/>
                  </a:moveTo>
                  <a:cubicBezTo>
                    <a:pt x="52" y="0"/>
                    <a:pt x="52" y="0"/>
                    <a:pt x="52" y="0"/>
                  </a:cubicBezTo>
                  <a:cubicBezTo>
                    <a:pt x="74" y="0"/>
                    <a:pt x="92" y="18"/>
                    <a:pt x="92" y="40"/>
                  </a:cubicBezTo>
                  <a:cubicBezTo>
                    <a:pt x="92" y="51"/>
                    <a:pt x="92" y="51"/>
                    <a:pt x="92" y="51"/>
                  </a:cubicBezTo>
                  <a:cubicBezTo>
                    <a:pt x="0" y="51"/>
                    <a:pt x="0" y="51"/>
                    <a:pt x="0" y="51"/>
                  </a:cubicBezTo>
                  <a:cubicBezTo>
                    <a:pt x="0" y="40"/>
                    <a:pt x="0" y="40"/>
                    <a:pt x="0" y="40"/>
                  </a:cubicBezTo>
                  <a:cubicBezTo>
                    <a:pt x="0" y="18"/>
                    <a:pt x="18" y="0"/>
                    <a:pt x="40" y="0"/>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îšḷiďê"/>
            <p:cNvSpPr/>
            <p:nvPr/>
          </p:nvSpPr>
          <p:spPr bwMode="auto">
            <a:xfrm>
              <a:off x="6013451" y="2378076"/>
              <a:ext cx="22225" cy="117475"/>
            </a:xfrm>
            <a:custGeom>
              <a:avLst/>
              <a:gdLst>
                <a:gd name="T0" fmla="*/ 6 w 13"/>
                <a:gd name="T1" fmla="*/ 0 h 69"/>
                <a:gd name="T2" fmla="*/ 0 w 13"/>
                <a:gd name="T3" fmla="*/ 24 h 69"/>
                <a:gd name="T4" fmla="*/ 13 w 13"/>
                <a:gd name="T5" fmla="*/ 69 h 69"/>
                <a:gd name="T6" fmla="*/ 6 w 13"/>
                <a:gd name="T7" fmla="*/ 0 h 69"/>
              </a:gdLst>
              <a:ahLst/>
              <a:cxnLst>
                <a:cxn ang="0">
                  <a:pos x="T0" y="T1"/>
                </a:cxn>
                <a:cxn ang="0">
                  <a:pos x="T2" y="T3"/>
                </a:cxn>
                <a:cxn ang="0">
                  <a:pos x="T4" y="T5"/>
                </a:cxn>
                <a:cxn ang="0">
                  <a:pos x="T6" y="T7"/>
                </a:cxn>
              </a:cxnLst>
              <a:rect l="0" t="0" r="r" b="b"/>
              <a:pathLst>
                <a:path w="13" h="69">
                  <a:moveTo>
                    <a:pt x="6" y="0"/>
                  </a:moveTo>
                  <a:cubicBezTo>
                    <a:pt x="3" y="8"/>
                    <a:pt x="1" y="16"/>
                    <a:pt x="0" y="24"/>
                  </a:cubicBezTo>
                  <a:cubicBezTo>
                    <a:pt x="0" y="41"/>
                    <a:pt x="4" y="58"/>
                    <a:pt x="13" y="69"/>
                  </a:cubicBezTo>
                  <a:cubicBezTo>
                    <a:pt x="6" y="0"/>
                    <a:pt x="6" y="0"/>
                    <a:pt x="6" y="0"/>
                  </a:cubicBezTo>
                </a:path>
              </a:pathLst>
            </a:custGeom>
            <a:solidFill>
              <a:srgbClr val="DC55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iṣ1ídé"/>
            <p:cNvSpPr/>
            <p:nvPr/>
          </p:nvSpPr>
          <p:spPr bwMode="auto">
            <a:xfrm>
              <a:off x="6010276" y="2332038"/>
              <a:ext cx="14288" cy="87313"/>
            </a:xfrm>
            <a:custGeom>
              <a:avLst/>
              <a:gdLst>
                <a:gd name="T0" fmla="*/ 5 w 8"/>
                <a:gd name="T1" fmla="*/ 0 h 51"/>
                <a:gd name="T2" fmla="*/ 2 w 8"/>
                <a:gd name="T3" fmla="*/ 51 h 51"/>
                <a:gd name="T4" fmla="*/ 8 w 8"/>
                <a:gd name="T5" fmla="*/ 27 h 51"/>
                <a:gd name="T6" fmla="*/ 5 w 8"/>
                <a:gd name="T7" fmla="*/ 0 h 51"/>
              </a:gdLst>
              <a:ahLst/>
              <a:cxnLst>
                <a:cxn ang="0">
                  <a:pos x="T0" y="T1"/>
                </a:cxn>
                <a:cxn ang="0">
                  <a:pos x="T2" y="T3"/>
                </a:cxn>
                <a:cxn ang="0">
                  <a:pos x="T4" y="T5"/>
                </a:cxn>
                <a:cxn ang="0">
                  <a:pos x="T6" y="T7"/>
                </a:cxn>
              </a:cxnLst>
              <a:rect l="0" t="0" r="r" b="b"/>
              <a:pathLst>
                <a:path w="8" h="51">
                  <a:moveTo>
                    <a:pt x="5" y="0"/>
                  </a:moveTo>
                  <a:cubicBezTo>
                    <a:pt x="5" y="0"/>
                    <a:pt x="0" y="25"/>
                    <a:pt x="2" y="51"/>
                  </a:cubicBezTo>
                  <a:cubicBezTo>
                    <a:pt x="3" y="43"/>
                    <a:pt x="5" y="35"/>
                    <a:pt x="8" y="27"/>
                  </a:cubicBezTo>
                  <a:cubicBezTo>
                    <a:pt x="5" y="0"/>
                    <a:pt x="5" y="0"/>
                    <a:pt x="5" y="0"/>
                  </a:cubicBezTo>
                </a:path>
              </a:pathLst>
            </a:custGeom>
            <a:solidFill>
              <a:srgbClr val="DC55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7" name="iS1ïḋè"/>
            <p:cNvSpPr/>
            <p:nvPr/>
          </p:nvSpPr>
          <p:spPr bwMode="auto">
            <a:xfrm>
              <a:off x="6396038" y="2378076"/>
              <a:ext cx="22225" cy="117475"/>
            </a:xfrm>
            <a:custGeom>
              <a:avLst/>
              <a:gdLst>
                <a:gd name="T0" fmla="*/ 7 w 13"/>
                <a:gd name="T1" fmla="*/ 0 h 69"/>
                <a:gd name="T2" fmla="*/ 0 w 13"/>
                <a:gd name="T3" fmla="*/ 69 h 69"/>
                <a:gd name="T4" fmla="*/ 13 w 13"/>
                <a:gd name="T5" fmla="*/ 24 h 69"/>
                <a:gd name="T6" fmla="*/ 7 w 13"/>
                <a:gd name="T7" fmla="*/ 0 h 69"/>
              </a:gdLst>
              <a:ahLst/>
              <a:cxnLst>
                <a:cxn ang="0">
                  <a:pos x="T0" y="T1"/>
                </a:cxn>
                <a:cxn ang="0">
                  <a:pos x="T2" y="T3"/>
                </a:cxn>
                <a:cxn ang="0">
                  <a:pos x="T4" y="T5"/>
                </a:cxn>
                <a:cxn ang="0">
                  <a:pos x="T6" y="T7"/>
                </a:cxn>
              </a:cxnLst>
              <a:rect l="0" t="0" r="r" b="b"/>
              <a:pathLst>
                <a:path w="13" h="69">
                  <a:moveTo>
                    <a:pt x="7" y="0"/>
                  </a:moveTo>
                  <a:cubicBezTo>
                    <a:pt x="0" y="69"/>
                    <a:pt x="0" y="69"/>
                    <a:pt x="0" y="69"/>
                  </a:cubicBezTo>
                  <a:cubicBezTo>
                    <a:pt x="9" y="58"/>
                    <a:pt x="12" y="41"/>
                    <a:pt x="13" y="24"/>
                  </a:cubicBezTo>
                  <a:cubicBezTo>
                    <a:pt x="12" y="16"/>
                    <a:pt x="10" y="8"/>
                    <a:pt x="7" y="0"/>
                  </a:cubicBezTo>
                </a:path>
              </a:pathLst>
            </a:custGeom>
            <a:solidFill>
              <a:srgbClr val="DC55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8" name="îśḻïḋe"/>
            <p:cNvSpPr/>
            <p:nvPr/>
          </p:nvSpPr>
          <p:spPr bwMode="auto">
            <a:xfrm>
              <a:off x="6407151" y="2332038"/>
              <a:ext cx="14288" cy="87313"/>
            </a:xfrm>
            <a:custGeom>
              <a:avLst/>
              <a:gdLst>
                <a:gd name="T0" fmla="*/ 3 w 8"/>
                <a:gd name="T1" fmla="*/ 0 h 51"/>
                <a:gd name="T2" fmla="*/ 0 w 8"/>
                <a:gd name="T3" fmla="*/ 27 h 51"/>
                <a:gd name="T4" fmla="*/ 6 w 8"/>
                <a:gd name="T5" fmla="*/ 51 h 51"/>
                <a:gd name="T6" fmla="*/ 3 w 8"/>
                <a:gd name="T7" fmla="*/ 0 h 51"/>
              </a:gdLst>
              <a:ahLst/>
              <a:cxnLst>
                <a:cxn ang="0">
                  <a:pos x="T0" y="T1"/>
                </a:cxn>
                <a:cxn ang="0">
                  <a:pos x="T2" y="T3"/>
                </a:cxn>
                <a:cxn ang="0">
                  <a:pos x="T4" y="T5"/>
                </a:cxn>
                <a:cxn ang="0">
                  <a:pos x="T6" y="T7"/>
                </a:cxn>
              </a:cxnLst>
              <a:rect l="0" t="0" r="r" b="b"/>
              <a:pathLst>
                <a:path w="8" h="51">
                  <a:moveTo>
                    <a:pt x="3" y="0"/>
                  </a:moveTo>
                  <a:cubicBezTo>
                    <a:pt x="0" y="27"/>
                    <a:pt x="0" y="27"/>
                    <a:pt x="0" y="27"/>
                  </a:cubicBezTo>
                  <a:cubicBezTo>
                    <a:pt x="3" y="35"/>
                    <a:pt x="5" y="43"/>
                    <a:pt x="6" y="51"/>
                  </a:cubicBezTo>
                  <a:cubicBezTo>
                    <a:pt x="8" y="25"/>
                    <a:pt x="3" y="0"/>
                    <a:pt x="3" y="0"/>
                  </a:cubicBezTo>
                </a:path>
              </a:pathLst>
            </a:custGeom>
            <a:solidFill>
              <a:srgbClr val="DC553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200">
                <a:latin typeface="微软雅黑" panose="020B0503020204020204" pitchFamily="34" charset="-122"/>
                <a:ea typeface="微软雅黑" panose="020B0503020204020204" pitchFamily="34" charset="-122"/>
                <a:cs typeface="苹方-简" panose="020B0400000000000000" pitchFamily="2" charset="-120"/>
              </a:endParaRPr>
            </a:p>
          </p:txBody>
        </p:sp>
      </p:grpSp>
      <p:sp>
        <p:nvSpPr>
          <p:cNvPr id="89" name="矩形 88"/>
          <p:cNvSpPr/>
          <p:nvPr/>
        </p:nvSpPr>
        <p:spPr>
          <a:xfrm>
            <a:off x="4828958" y="4129800"/>
            <a:ext cx="2229708" cy="577787"/>
          </a:xfrm>
          <a:prstGeom prst="rect">
            <a:avLst/>
          </a:prstGeom>
        </p:spPr>
        <p:txBody>
          <a:bodyPr wrap="square">
            <a:spAutoFit/>
          </a:bodyPr>
          <a:lstStyle/>
          <a:p>
            <a:pPr algn="ctr">
              <a:lnSpc>
                <a:spcPct val="150000"/>
              </a:lnSpc>
            </a:pPr>
            <a:r>
              <a:rPr lang="zh-CN" altLang="en-US" sz="11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管理者</a:t>
            </a:r>
            <a:endParaRPr lang="en-US" altLang="zh-CN" sz="11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a:p>
            <a:pPr algn="ct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随时随地掌握业务运转状况</a:t>
            </a: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0" name="TextBox 6"/>
          <p:cNvSpPr txBox="1"/>
          <p:nvPr/>
        </p:nvSpPr>
        <p:spPr>
          <a:xfrm>
            <a:off x="4582946" y="2502911"/>
            <a:ext cx="2847254" cy="523220"/>
          </a:xfrm>
          <a:prstGeom prst="rect">
            <a:avLst/>
          </a:prstGeom>
          <a:noFill/>
        </p:spPr>
        <p:txBody>
          <a:bodyPr wrap="none" rtlCol="0">
            <a:spAutoFit/>
          </a:bodyPr>
          <a:lstStyle/>
          <a:p>
            <a:r>
              <a:rPr lang="en-US" altLang="zh-CN" sz="28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Leads-To-Cash</a:t>
            </a:r>
            <a:endParaRPr lang="en-US" altLang="zh-CN" sz="28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1" name="矩形 10"/>
          <p:cNvSpPr/>
          <p:nvPr/>
        </p:nvSpPr>
        <p:spPr>
          <a:xfrm>
            <a:off x="1491976" y="3884933"/>
            <a:ext cx="1031051" cy="400110"/>
          </a:xfrm>
          <a:prstGeom prst="rect">
            <a:avLst/>
          </a:prstGeom>
        </p:spPr>
        <p:txBody>
          <a:bodyPr wrap="none">
            <a:spAutoFit/>
          </a:bodyPr>
          <a:lstStyle/>
          <a:p>
            <a:pPr algn="r"/>
            <a:r>
              <a:rPr lang="zh-CN" altLang="en-US" sz="1100" b="1" dirty="0">
                <a:solidFill>
                  <a:srgbClr val="1F74AD"/>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en-US" altLang="zh-CN" sz="1100" b="1" dirty="0">
              <a:solidFill>
                <a:srgbClr val="1F74AD"/>
              </a:solidFill>
              <a:latin typeface="微软雅黑" panose="020B0503020204020204" pitchFamily="34" charset="-122"/>
              <a:ea typeface="微软雅黑" panose="020B0503020204020204" pitchFamily="34" charset="-122"/>
              <a:cs typeface="苹方-简" panose="020B0400000000000000" pitchFamily="2" charset="-120"/>
            </a:endParaRPr>
          </a:p>
          <a:p>
            <a:pPr algn="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看清</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ROI</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4" name="矩形 12"/>
          <p:cNvSpPr/>
          <p:nvPr/>
        </p:nvSpPr>
        <p:spPr>
          <a:xfrm>
            <a:off x="2062551" y="2406668"/>
            <a:ext cx="1223412" cy="484748"/>
          </a:xfrm>
          <a:prstGeom prst="rect">
            <a:avLst/>
          </a:prstGeom>
        </p:spPr>
        <p:txBody>
          <a:bodyPr wrap="none">
            <a:spAutoFit/>
          </a:bodyPr>
          <a:lstStyle/>
          <a:p>
            <a:pPr algn="r">
              <a:lnSpc>
                <a:spcPct val="150000"/>
              </a:lnSpc>
            </a:pPr>
            <a:r>
              <a:rPr lang="zh-CN" altLang="en-US" sz="1100" b="1" dirty="0">
                <a:solidFill>
                  <a:srgbClr val="3498DB"/>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en-US" altLang="zh-CN" sz="1100" b="1" dirty="0">
              <a:solidFill>
                <a:srgbClr val="3498DB"/>
              </a:solidFill>
              <a:latin typeface="微软雅黑" panose="020B0503020204020204" pitchFamily="34" charset="-122"/>
              <a:ea typeface="微软雅黑" panose="020B0503020204020204" pitchFamily="34" charset="-122"/>
              <a:cs typeface="苹方-简" panose="020B0400000000000000" pitchFamily="2" charset="-120"/>
            </a:endParaRPr>
          </a:p>
          <a:p>
            <a:pPr algn="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充分利用每一条线索</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1"/>
          <p:cNvSpPr/>
          <p:nvPr/>
        </p:nvSpPr>
        <p:spPr>
          <a:xfrm>
            <a:off x="3640932" y="1464303"/>
            <a:ext cx="963726" cy="484748"/>
          </a:xfrm>
          <a:prstGeom prst="rect">
            <a:avLst/>
          </a:prstGeom>
        </p:spPr>
        <p:txBody>
          <a:bodyPr wrap="none">
            <a:spAutoFit/>
          </a:bodyPr>
          <a:lstStyle/>
          <a:p>
            <a:pPr algn="r">
              <a:lnSpc>
                <a:spcPct val="150000"/>
              </a:lnSpc>
            </a:pPr>
            <a:r>
              <a:rPr lang="zh-CN" altLang="en-US" sz="1100" b="1" dirty="0">
                <a:solidFill>
                  <a:srgbClr val="69A35B"/>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en-US" altLang="zh-CN" sz="1100" b="1" dirty="0">
              <a:solidFill>
                <a:srgbClr val="69A35B"/>
              </a:solidFill>
              <a:latin typeface="微软雅黑" panose="020B0503020204020204" pitchFamily="34" charset="-122"/>
              <a:ea typeface="微软雅黑" panose="020B0503020204020204" pitchFamily="34" charset="-122"/>
              <a:cs typeface="苹方-简" panose="020B0400000000000000" pitchFamily="2" charset="-120"/>
            </a:endParaRPr>
          </a:p>
          <a:p>
            <a:pPr algn="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360</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度了解客户</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4" name="矩形 13"/>
          <p:cNvSpPr/>
          <p:nvPr/>
        </p:nvSpPr>
        <p:spPr>
          <a:xfrm>
            <a:off x="7190835" y="1476272"/>
            <a:ext cx="1454244" cy="484748"/>
          </a:xfrm>
          <a:prstGeom prst="rect">
            <a:avLst/>
          </a:prstGeom>
        </p:spPr>
        <p:txBody>
          <a:bodyPr wrap="none">
            <a:spAutoFit/>
          </a:bodyPr>
          <a:lstStyle/>
          <a:p>
            <a:pPr>
              <a:lnSpc>
                <a:spcPct val="150000"/>
              </a:lnSpc>
            </a:pPr>
            <a:r>
              <a:rPr lang="zh-CN" altLang="en-US" sz="1100" b="1" dirty="0">
                <a:solidFill>
                  <a:srgbClr val="C55A11"/>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en-US" altLang="zh-CN" sz="1100" b="1" dirty="0">
              <a:solidFill>
                <a:srgbClr val="C55A11"/>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沉淀最佳实践，提升赢率</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5" name="矩形 14"/>
          <p:cNvSpPr/>
          <p:nvPr/>
        </p:nvSpPr>
        <p:spPr>
          <a:xfrm>
            <a:off x="8532504" y="2418240"/>
            <a:ext cx="1107996" cy="484748"/>
          </a:xfrm>
          <a:prstGeom prst="rect">
            <a:avLst/>
          </a:prstGeom>
        </p:spPr>
        <p:txBody>
          <a:bodyPr wrap="none">
            <a:spAutoFit/>
          </a:bodyPr>
          <a:lstStyle/>
          <a:p>
            <a:pPr>
              <a:lnSpc>
                <a:spcPct val="150000"/>
              </a:lnSpc>
            </a:pPr>
            <a:r>
              <a:rPr lang="zh-CN" altLang="en-US" sz="1100" b="1" dirty="0">
                <a:solidFill>
                  <a:srgbClr val="DEA900"/>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en-US" altLang="zh-CN" sz="1100" b="1" dirty="0">
              <a:solidFill>
                <a:srgbClr val="DEA900"/>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订单状态一目了然</a:t>
            </a:r>
            <a:endPar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6" name="矩形 15"/>
          <p:cNvSpPr/>
          <p:nvPr/>
        </p:nvSpPr>
        <p:spPr>
          <a:xfrm>
            <a:off x="9314630" y="3725261"/>
            <a:ext cx="1994822" cy="623248"/>
          </a:xfrm>
          <a:prstGeom prst="rect">
            <a:avLst/>
          </a:prstGeom>
        </p:spPr>
        <p:txBody>
          <a:bodyPr wrap="square">
            <a:spAutoFit/>
          </a:bodyPr>
          <a:lstStyle/>
          <a:p>
            <a:pPr>
              <a:lnSpc>
                <a:spcPct val="150000"/>
              </a:lnSpc>
            </a:pPr>
            <a:r>
              <a:rPr lang="zh-CN" altLang="en-US" sz="1100" b="1" dirty="0">
                <a:solidFill>
                  <a:srgbClr val="1AA3AA"/>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en-US" altLang="zh-CN" sz="1100" b="1" dirty="0">
              <a:solidFill>
                <a:srgbClr val="1AA3AA"/>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覆盖合同管理全生命周期，</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健全风险防控体系</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3" name="形状"/>
          <p:cNvSpPr/>
          <p:nvPr>
            <p:custDataLst>
              <p:tags r:id="rId9"/>
            </p:custDataLst>
          </p:nvPr>
        </p:nvSpPr>
        <p:spPr>
          <a:xfrm>
            <a:off x="4786874" y="1568984"/>
            <a:ext cx="291760" cy="291834"/>
          </a:xfrm>
          <a:custGeom>
            <a:avLst/>
            <a:gdLst/>
            <a:ahLst/>
            <a:cxnLst>
              <a:cxn ang="0">
                <a:pos x="wd2" y="hd2"/>
              </a:cxn>
              <a:cxn ang="5400000">
                <a:pos x="wd2" y="hd2"/>
              </a:cxn>
              <a:cxn ang="10800000">
                <a:pos x="wd2" y="hd2"/>
              </a:cxn>
              <a:cxn ang="16200000">
                <a:pos x="wd2" y="hd2"/>
              </a:cxn>
            </a:cxnLst>
            <a:rect l="0" t="0" r="r" b="b"/>
            <a:pathLst>
              <a:path w="21600" h="21600" extrusionOk="0">
                <a:moveTo>
                  <a:pt x="3767" y="5419"/>
                </a:moveTo>
                <a:cubicBezTo>
                  <a:pt x="4051" y="5419"/>
                  <a:pt x="4271" y="5505"/>
                  <a:pt x="4428" y="5687"/>
                </a:cubicBezTo>
                <a:cubicBezTo>
                  <a:pt x="4586" y="5865"/>
                  <a:pt x="4701" y="6078"/>
                  <a:pt x="4766" y="6326"/>
                </a:cubicBezTo>
                <a:cubicBezTo>
                  <a:pt x="4835" y="6574"/>
                  <a:pt x="4879" y="6836"/>
                  <a:pt x="4893" y="7106"/>
                </a:cubicBezTo>
                <a:cubicBezTo>
                  <a:pt x="4910" y="7377"/>
                  <a:pt x="4917" y="7596"/>
                  <a:pt x="4917" y="7760"/>
                </a:cubicBezTo>
                <a:lnTo>
                  <a:pt x="4917" y="9856"/>
                </a:lnTo>
                <a:cubicBezTo>
                  <a:pt x="4809" y="9928"/>
                  <a:pt x="4720" y="10015"/>
                  <a:pt x="4646" y="10110"/>
                </a:cubicBezTo>
                <a:cubicBezTo>
                  <a:pt x="4574" y="10208"/>
                  <a:pt x="4468" y="10257"/>
                  <a:pt x="4329" y="10257"/>
                </a:cubicBezTo>
                <a:lnTo>
                  <a:pt x="561" y="10257"/>
                </a:lnTo>
                <a:cubicBezTo>
                  <a:pt x="439" y="10257"/>
                  <a:pt x="338" y="10208"/>
                  <a:pt x="256" y="10110"/>
                </a:cubicBezTo>
                <a:cubicBezTo>
                  <a:pt x="177" y="10015"/>
                  <a:pt x="93" y="9928"/>
                  <a:pt x="0" y="9856"/>
                </a:cubicBezTo>
                <a:lnTo>
                  <a:pt x="0" y="7760"/>
                </a:lnTo>
                <a:cubicBezTo>
                  <a:pt x="0" y="7596"/>
                  <a:pt x="4" y="7377"/>
                  <a:pt x="12" y="7106"/>
                </a:cubicBezTo>
                <a:cubicBezTo>
                  <a:pt x="19" y="6836"/>
                  <a:pt x="57" y="6574"/>
                  <a:pt x="124" y="6326"/>
                </a:cubicBezTo>
                <a:cubicBezTo>
                  <a:pt x="196" y="6078"/>
                  <a:pt x="309" y="5865"/>
                  <a:pt x="465" y="5687"/>
                </a:cubicBezTo>
                <a:cubicBezTo>
                  <a:pt x="624" y="5508"/>
                  <a:pt x="842" y="5419"/>
                  <a:pt x="1123" y="5419"/>
                </a:cubicBezTo>
                <a:cubicBezTo>
                  <a:pt x="782" y="5151"/>
                  <a:pt x="508" y="4803"/>
                  <a:pt x="304" y="4377"/>
                </a:cubicBezTo>
                <a:cubicBezTo>
                  <a:pt x="103" y="3950"/>
                  <a:pt x="0" y="3469"/>
                  <a:pt x="0" y="2937"/>
                </a:cubicBezTo>
                <a:cubicBezTo>
                  <a:pt x="0" y="2539"/>
                  <a:pt x="64" y="2162"/>
                  <a:pt x="189" y="1805"/>
                </a:cubicBezTo>
                <a:cubicBezTo>
                  <a:pt x="316" y="1448"/>
                  <a:pt x="491" y="1134"/>
                  <a:pt x="717" y="861"/>
                </a:cubicBezTo>
                <a:cubicBezTo>
                  <a:pt x="943" y="590"/>
                  <a:pt x="1207" y="380"/>
                  <a:pt x="1504" y="227"/>
                </a:cubicBezTo>
                <a:cubicBezTo>
                  <a:pt x="1804" y="77"/>
                  <a:pt x="2119" y="0"/>
                  <a:pt x="2445" y="0"/>
                </a:cubicBezTo>
                <a:cubicBezTo>
                  <a:pt x="2793" y="0"/>
                  <a:pt x="3115" y="77"/>
                  <a:pt x="3412" y="227"/>
                </a:cubicBezTo>
                <a:cubicBezTo>
                  <a:pt x="3712" y="380"/>
                  <a:pt x="3969" y="590"/>
                  <a:pt x="4188" y="861"/>
                </a:cubicBezTo>
                <a:cubicBezTo>
                  <a:pt x="4406" y="1134"/>
                  <a:pt x="4584" y="1448"/>
                  <a:pt x="4716" y="1805"/>
                </a:cubicBezTo>
                <a:cubicBezTo>
                  <a:pt x="4850" y="2162"/>
                  <a:pt x="4917" y="2539"/>
                  <a:pt x="4917" y="2937"/>
                </a:cubicBezTo>
                <a:cubicBezTo>
                  <a:pt x="4917" y="3458"/>
                  <a:pt x="4814" y="3939"/>
                  <a:pt x="4603" y="4371"/>
                </a:cubicBezTo>
                <a:cubicBezTo>
                  <a:pt x="4392" y="4800"/>
                  <a:pt x="4115" y="5151"/>
                  <a:pt x="3767" y="5419"/>
                </a:cubicBezTo>
                <a:moveTo>
                  <a:pt x="18166" y="12063"/>
                </a:moveTo>
                <a:cubicBezTo>
                  <a:pt x="18673" y="12605"/>
                  <a:pt x="19071" y="13143"/>
                  <a:pt x="19357" y="13670"/>
                </a:cubicBezTo>
                <a:cubicBezTo>
                  <a:pt x="19642" y="14197"/>
                  <a:pt x="19789" y="14802"/>
                  <a:pt x="19789" y="15481"/>
                </a:cubicBezTo>
                <a:lnTo>
                  <a:pt x="19789" y="20817"/>
                </a:lnTo>
                <a:cubicBezTo>
                  <a:pt x="19695" y="20869"/>
                  <a:pt x="19621" y="20932"/>
                  <a:pt x="19558" y="20996"/>
                </a:cubicBezTo>
                <a:cubicBezTo>
                  <a:pt x="19498" y="21062"/>
                  <a:pt x="19426" y="21123"/>
                  <a:pt x="19345" y="21192"/>
                </a:cubicBezTo>
                <a:cubicBezTo>
                  <a:pt x="19263" y="21252"/>
                  <a:pt x="19174" y="21318"/>
                  <a:pt x="19076" y="21387"/>
                </a:cubicBezTo>
                <a:cubicBezTo>
                  <a:pt x="18977" y="21456"/>
                  <a:pt x="18836" y="21529"/>
                  <a:pt x="18663" y="21600"/>
                </a:cubicBezTo>
                <a:lnTo>
                  <a:pt x="2942" y="21600"/>
                </a:lnTo>
                <a:cubicBezTo>
                  <a:pt x="2675" y="21600"/>
                  <a:pt x="2467" y="21500"/>
                  <a:pt x="2318" y="21292"/>
                </a:cubicBezTo>
                <a:cubicBezTo>
                  <a:pt x="2167" y="21082"/>
                  <a:pt x="2003" y="20927"/>
                  <a:pt x="1819" y="20817"/>
                </a:cubicBezTo>
                <a:lnTo>
                  <a:pt x="1819" y="15481"/>
                </a:lnTo>
                <a:cubicBezTo>
                  <a:pt x="1819" y="14764"/>
                  <a:pt x="1989" y="14128"/>
                  <a:pt x="2335" y="13572"/>
                </a:cubicBezTo>
                <a:cubicBezTo>
                  <a:pt x="2678" y="13019"/>
                  <a:pt x="3052" y="12512"/>
                  <a:pt x="3460" y="12063"/>
                </a:cubicBezTo>
                <a:cubicBezTo>
                  <a:pt x="3535" y="11971"/>
                  <a:pt x="3633" y="11870"/>
                  <a:pt x="3753" y="11767"/>
                </a:cubicBezTo>
                <a:cubicBezTo>
                  <a:pt x="3873" y="11660"/>
                  <a:pt x="4000" y="11591"/>
                  <a:pt x="4137" y="11554"/>
                </a:cubicBezTo>
                <a:cubicBezTo>
                  <a:pt x="4276" y="11496"/>
                  <a:pt x="4432" y="11467"/>
                  <a:pt x="4610" y="11456"/>
                </a:cubicBezTo>
                <a:cubicBezTo>
                  <a:pt x="4785" y="11447"/>
                  <a:pt x="4956" y="11424"/>
                  <a:pt x="5126" y="11389"/>
                </a:cubicBezTo>
                <a:cubicBezTo>
                  <a:pt x="5594" y="11300"/>
                  <a:pt x="6091" y="11211"/>
                  <a:pt x="6621" y="11122"/>
                </a:cubicBezTo>
                <a:cubicBezTo>
                  <a:pt x="7149" y="11035"/>
                  <a:pt x="7665" y="10946"/>
                  <a:pt x="8172" y="10854"/>
                </a:cubicBezTo>
                <a:cubicBezTo>
                  <a:pt x="7483" y="10326"/>
                  <a:pt x="6928" y="9632"/>
                  <a:pt x="6513" y="8762"/>
                </a:cubicBezTo>
                <a:cubicBezTo>
                  <a:pt x="6093" y="7896"/>
                  <a:pt x="5884" y="6940"/>
                  <a:pt x="5884" y="5903"/>
                </a:cubicBezTo>
                <a:cubicBezTo>
                  <a:pt x="5884" y="5097"/>
                  <a:pt x="6016" y="4331"/>
                  <a:pt x="6275" y="3608"/>
                </a:cubicBezTo>
                <a:cubicBezTo>
                  <a:pt x="6535" y="2885"/>
                  <a:pt x="6887" y="2260"/>
                  <a:pt x="7331" y="1733"/>
                </a:cubicBezTo>
                <a:cubicBezTo>
                  <a:pt x="7778" y="1203"/>
                  <a:pt x="8299" y="786"/>
                  <a:pt x="8894" y="472"/>
                </a:cubicBezTo>
                <a:cubicBezTo>
                  <a:pt x="9494" y="158"/>
                  <a:pt x="10125" y="3"/>
                  <a:pt x="10803" y="3"/>
                </a:cubicBezTo>
                <a:cubicBezTo>
                  <a:pt x="11477" y="3"/>
                  <a:pt x="12113" y="158"/>
                  <a:pt x="12711" y="472"/>
                </a:cubicBezTo>
                <a:cubicBezTo>
                  <a:pt x="13308" y="786"/>
                  <a:pt x="13827" y="1203"/>
                  <a:pt x="14273" y="1733"/>
                </a:cubicBezTo>
                <a:cubicBezTo>
                  <a:pt x="14717" y="2260"/>
                  <a:pt x="15068" y="2885"/>
                  <a:pt x="15329" y="3608"/>
                </a:cubicBezTo>
                <a:cubicBezTo>
                  <a:pt x="15591" y="4331"/>
                  <a:pt x="15720" y="5097"/>
                  <a:pt x="15720" y="5903"/>
                </a:cubicBezTo>
                <a:cubicBezTo>
                  <a:pt x="15720" y="6939"/>
                  <a:pt x="15514" y="7890"/>
                  <a:pt x="15101" y="8757"/>
                </a:cubicBezTo>
                <a:cubicBezTo>
                  <a:pt x="14686" y="9620"/>
                  <a:pt x="14129" y="10320"/>
                  <a:pt x="13433" y="10854"/>
                </a:cubicBezTo>
                <a:cubicBezTo>
                  <a:pt x="13937" y="10946"/>
                  <a:pt x="14453" y="11032"/>
                  <a:pt x="14979" y="11116"/>
                </a:cubicBezTo>
                <a:cubicBezTo>
                  <a:pt x="15505" y="11199"/>
                  <a:pt x="16006" y="11289"/>
                  <a:pt x="16479" y="11389"/>
                </a:cubicBezTo>
                <a:cubicBezTo>
                  <a:pt x="16654" y="11427"/>
                  <a:pt x="16827" y="11450"/>
                  <a:pt x="16995" y="11456"/>
                </a:cubicBezTo>
                <a:cubicBezTo>
                  <a:pt x="17163" y="11467"/>
                  <a:pt x="17324" y="11496"/>
                  <a:pt x="17468" y="11554"/>
                </a:cubicBezTo>
                <a:cubicBezTo>
                  <a:pt x="17604" y="11591"/>
                  <a:pt x="17732" y="11660"/>
                  <a:pt x="17852" y="11767"/>
                </a:cubicBezTo>
                <a:cubicBezTo>
                  <a:pt x="17967" y="11870"/>
                  <a:pt x="18075" y="11971"/>
                  <a:pt x="18166" y="12063"/>
                </a:cubicBezTo>
                <a:moveTo>
                  <a:pt x="20475" y="5419"/>
                </a:moveTo>
                <a:cubicBezTo>
                  <a:pt x="20758" y="5419"/>
                  <a:pt x="20974" y="5505"/>
                  <a:pt x="21125" y="5687"/>
                </a:cubicBezTo>
                <a:cubicBezTo>
                  <a:pt x="21272" y="5865"/>
                  <a:pt x="21382" y="6078"/>
                  <a:pt x="21449" y="6326"/>
                </a:cubicBezTo>
                <a:cubicBezTo>
                  <a:pt x="21521" y="6574"/>
                  <a:pt x="21562" y="6836"/>
                  <a:pt x="21577" y="7106"/>
                </a:cubicBezTo>
                <a:cubicBezTo>
                  <a:pt x="21593" y="7377"/>
                  <a:pt x="21600" y="7596"/>
                  <a:pt x="21600" y="7760"/>
                </a:cubicBezTo>
                <a:lnTo>
                  <a:pt x="21600" y="9856"/>
                </a:lnTo>
                <a:cubicBezTo>
                  <a:pt x="21509" y="9928"/>
                  <a:pt x="21423" y="10015"/>
                  <a:pt x="21341" y="10110"/>
                </a:cubicBezTo>
                <a:cubicBezTo>
                  <a:pt x="21262" y="10208"/>
                  <a:pt x="21159" y="10257"/>
                  <a:pt x="21037" y="10257"/>
                </a:cubicBezTo>
                <a:lnTo>
                  <a:pt x="17269" y="10257"/>
                </a:lnTo>
                <a:cubicBezTo>
                  <a:pt x="17132" y="10257"/>
                  <a:pt x="17024" y="10208"/>
                  <a:pt x="16954" y="10110"/>
                </a:cubicBezTo>
                <a:cubicBezTo>
                  <a:pt x="16880" y="10015"/>
                  <a:pt x="16791" y="9928"/>
                  <a:pt x="16683" y="9856"/>
                </a:cubicBezTo>
                <a:lnTo>
                  <a:pt x="16683" y="7760"/>
                </a:lnTo>
                <a:cubicBezTo>
                  <a:pt x="16683" y="7596"/>
                  <a:pt x="16693" y="7377"/>
                  <a:pt x="16707" y="7106"/>
                </a:cubicBezTo>
                <a:cubicBezTo>
                  <a:pt x="16721" y="6836"/>
                  <a:pt x="16767" y="6574"/>
                  <a:pt x="16837" y="6326"/>
                </a:cubicBezTo>
                <a:cubicBezTo>
                  <a:pt x="16913" y="6078"/>
                  <a:pt x="17024" y="5865"/>
                  <a:pt x="17184" y="5687"/>
                </a:cubicBezTo>
                <a:cubicBezTo>
                  <a:pt x="17338" y="5508"/>
                  <a:pt x="17557" y="5419"/>
                  <a:pt x="17830" y="5419"/>
                </a:cubicBezTo>
                <a:cubicBezTo>
                  <a:pt x="17489" y="5151"/>
                  <a:pt x="17211" y="4803"/>
                  <a:pt x="17000" y="4377"/>
                </a:cubicBezTo>
                <a:cubicBezTo>
                  <a:pt x="16789" y="3950"/>
                  <a:pt x="16683" y="3469"/>
                  <a:pt x="16683" y="2937"/>
                </a:cubicBezTo>
                <a:cubicBezTo>
                  <a:pt x="16683" y="2539"/>
                  <a:pt x="16745" y="2162"/>
                  <a:pt x="16873" y="1805"/>
                </a:cubicBezTo>
                <a:cubicBezTo>
                  <a:pt x="17000" y="1448"/>
                  <a:pt x="17175" y="1134"/>
                  <a:pt x="17401" y="861"/>
                </a:cubicBezTo>
                <a:cubicBezTo>
                  <a:pt x="17626" y="590"/>
                  <a:pt x="17890" y="380"/>
                  <a:pt x="18188" y="227"/>
                </a:cubicBezTo>
                <a:cubicBezTo>
                  <a:pt x="18488" y="77"/>
                  <a:pt x="18809" y="0"/>
                  <a:pt x="19153" y="0"/>
                </a:cubicBezTo>
                <a:cubicBezTo>
                  <a:pt x="19481" y="0"/>
                  <a:pt x="19796" y="77"/>
                  <a:pt x="20096" y="227"/>
                </a:cubicBezTo>
                <a:cubicBezTo>
                  <a:pt x="20396" y="380"/>
                  <a:pt x="20657" y="590"/>
                  <a:pt x="20883" y="861"/>
                </a:cubicBezTo>
                <a:cubicBezTo>
                  <a:pt x="21109" y="1134"/>
                  <a:pt x="21286" y="1448"/>
                  <a:pt x="21413" y="1805"/>
                </a:cubicBezTo>
                <a:cubicBezTo>
                  <a:pt x="21538" y="2162"/>
                  <a:pt x="21600" y="2539"/>
                  <a:pt x="21600" y="2937"/>
                </a:cubicBezTo>
                <a:cubicBezTo>
                  <a:pt x="21600" y="3458"/>
                  <a:pt x="21500" y="3939"/>
                  <a:pt x="21296" y="4371"/>
                </a:cubicBezTo>
                <a:cubicBezTo>
                  <a:pt x="21094" y="4800"/>
                  <a:pt x="20821" y="5151"/>
                  <a:pt x="20475" y="5419"/>
                </a:cubicBezTo>
              </a:path>
            </a:pathLst>
          </a:custGeom>
          <a:solidFill>
            <a:srgbClr val="FFFFFF"/>
          </a:solidFill>
          <a:ln w="12700">
            <a:miter lim="400000"/>
            <a:tailEnd type="triangle"/>
          </a:ln>
        </p:spPr>
        <p:txBody>
          <a:bodyPr lIns="45719" rIns="45719" anchor="ctr"/>
          <a:lstStyle/>
          <a:p>
            <a:pPr defTabSz="608965" hangingPunct="1">
              <a:lnSpc>
                <a:spcPct val="120000"/>
              </a:lnSpc>
              <a:defRPr sz="3600">
                <a:solidFill>
                  <a:srgbClr val="44CEB9"/>
                </a:solidFill>
                <a:effectLst>
                  <a:outerShdw blurRad="38100" dist="38100" dir="2700000" rotWithShape="0">
                    <a:srgbClr val="000000"/>
                  </a:outerShdw>
                </a:effectLst>
                <a:latin typeface="Gill Sans" panose="020B0502020104020203"/>
                <a:ea typeface="Gill Sans" panose="020B0502020104020203"/>
                <a:cs typeface="Gill Sans" panose="020B0502020104020203"/>
                <a:sym typeface="Gill Sans" panose="020B0502020104020203"/>
              </a:defRPr>
            </a:pPr>
            <a:endParaRPr sz="2400" kern="1200">
              <a:solidFill>
                <a:srgbClr val="44CEB9"/>
              </a:solidFill>
              <a:effectLst>
                <a:outerShdw blurRad="38100" dist="38100" dir="2700000" rotWithShape="0">
                  <a:srgbClr val="000000"/>
                </a:outerShdw>
              </a:effectLst>
              <a:latin typeface="微软雅黑" panose="020B0503020204020204" pitchFamily="34" charset="-122"/>
              <a:ea typeface="微软雅黑" panose="020B0503020204020204" pitchFamily="34" charset="-122"/>
              <a:cs typeface="苹方-简" panose="020B0400000000000000" pitchFamily="2" charset="-120"/>
              <a:sym typeface="Gill Sans" panose="020B0502020104020203"/>
            </a:endParaRPr>
          </a:p>
        </p:txBody>
      </p:sp>
      <p:sp>
        <p:nvSpPr>
          <p:cNvPr id="1771" name="形状"/>
          <p:cNvSpPr/>
          <p:nvPr>
            <p:custDataLst>
              <p:tags r:id="rId10"/>
            </p:custDataLst>
          </p:nvPr>
        </p:nvSpPr>
        <p:spPr>
          <a:xfrm>
            <a:off x="2734426" y="3854422"/>
            <a:ext cx="224570" cy="364927"/>
          </a:xfrm>
          <a:custGeom>
            <a:avLst/>
            <a:gdLst/>
            <a:ahLst/>
            <a:cxnLst>
              <a:cxn ang="0">
                <a:pos x="wd2" y="hd2"/>
              </a:cxn>
              <a:cxn ang="5400000">
                <a:pos x="wd2" y="hd2"/>
              </a:cxn>
              <a:cxn ang="10800000">
                <a:pos x="wd2" y="hd2"/>
              </a:cxn>
              <a:cxn ang="16200000">
                <a:pos x="wd2" y="hd2"/>
              </a:cxn>
            </a:cxnLst>
            <a:rect l="0" t="0" r="r" b="b"/>
            <a:pathLst>
              <a:path w="21600" h="21600" extrusionOk="0">
                <a:moveTo>
                  <a:pt x="8232" y="19840"/>
                </a:moveTo>
                <a:cubicBezTo>
                  <a:pt x="13368" y="19840"/>
                  <a:pt x="13368" y="19840"/>
                  <a:pt x="13368" y="19840"/>
                </a:cubicBezTo>
                <a:cubicBezTo>
                  <a:pt x="13368" y="20280"/>
                  <a:pt x="13039" y="20720"/>
                  <a:pt x="12677" y="21160"/>
                </a:cubicBezTo>
                <a:cubicBezTo>
                  <a:pt x="11985" y="21370"/>
                  <a:pt x="11656" y="21600"/>
                  <a:pt x="10965" y="21600"/>
                </a:cubicBezTo>
                <a:cubicBezTo>
                  <a:pt x="10273" y="21600"/>
                  <a:pt x="9582" y="21370"/>
                  <a:pt x="9252" y="21160"/>
                </a:cubicBezTo>
                <a:cubicBezTo>
                  <a:pt x="8561" y="20720"/>
                  <a:pt x="8232" y="20280"/>
                  <a:pt x="8232" y="19840"/>
                </a:cubicBezTo>
                <a:close/>
                <a:moveTo>
                  <a:pt x="6849" y="19191"/>
                </a:moveTo>
                <a:cubicBezTo>
                  <a:pt x="14751" y="19191"/>
                  <a:pt x="14751" y="19191"/>
                  <a:pt x="14751" y="19191"/>
                </a:cubicBezTo>
                <a:cubicBezTo>
                  <a:pt x="15080" y="17452"/>
                  <a:pt x="15080" y="17452"/>
                  <a:pt x="15080" y="17452"/>
                </a:cubicBezTo>
                <a:cubicBezTo>
                  <a:pt x="6520" y="17452"/>
                  <a:pt x="6520" y="17452"/>
                  <a:pt x="6520" y="17452"/>
                </a:cubicBezTo>
                <a:lnTo>
                  <a:pt x="6849" y="19191"/>
                </a:lnTo>
                <a:close/>
                <a:moveTo>
                  <a:pt x="21600" y="6977"/>
                </a:moveTo>
                <a:cubicBezTo>
                  <a:pt x="21600" y="8715"/>
                  <a:pt x="20579" y="10245"/>
                  <a:pt x="18867" y="11565"/>
                </a:cubicBezTo>
                <a:lnTo>
                  <a:pt x="18505" y="11774"/>
                </a:lnTo>
                <a:cubicBezTo>
                  <a:pt x="18505" y="11774"/>
                  <a:pt x="18505" y="11984"/>
                  <a:pt x="18176" y="11984"/>
                </a:cubicBezTo>
                <a:cubicBezTo>
                  <a:pt x="17813" y="12424"/>
                  <a:pt x="17813" y="12864"/>
                  <a:pt x="17484" y="13304"/>
                </a:cubicBezTo>
                <a:cubicBezTo>
                  <a:pt x="17155" y="13744"/>
                  <a:pt x="16793" y="14184"/>
                  <a:pt x="16793" y="14603"/>
                </a:cubicBezTo>
                <a:cubicBezTo>
                  <a:pt x="16463" y="14603"/>
                  <a:pt x="16463" y="14603"/>
                  <a:pt x="16463" y="14833"/>
                </a:cubicBezTo>
                <a:lnTo>
                  <a:pt x="16463" y="15042"/>
                </a:lnTo>
                <a:cubicBezTo>
                  <a:pt x="16463" y="15273"/>
                  <a:pt x="16463" y="15273"/>
                  <a:pt x="16463" y="15273"/>
                </a:cubicBezTo>
                <a:cubicBezTo>
                  <a:pt x="16463" y="16572"/>
                  <a:pt x="16463" y="16572"/>
                  <a:pt x="16463" y="16572"/>
                </a:cubicBezTo>
                <a:cubicBezTo>
                  <a:pt x="5466" y="16572"/>
                  <a:pt x="5466" y="16572"/>
                  <a:pt x="5466" y="16572"/>
                </a:cubicBezTo>
                <a:cubicBezTo>
                  <a:pt x="5466" y="15273"/>
                  <a:pt x="5466" y="15273"/>
                  <a:pt x="5466" y="15273"/>
                </a:cubicBezTo>
                <a:cubicBezTo>
                  <a:pt x="5466" y="15042"/>
                  <a:pt x="5137" y="15042"/>
                  <a:pt x="5137" y="14833"/>
                </a:cubicBezTo>
                <a:lnTo>
                  <a:pt x="5137" y="14603"/>
                </a:lnTo>
                <a:cubicBezTo>
                  <a:pt x="4807" y="14184"/>
                  <a:pt x="4807" y="13744"/>
                  <a:pt x="4445" y="13304"/>
                </a:cubicBezTo>
                <a:cubicBezTo>
                  <a:pt x="4116" y="12864"/>
                  <a:pt x="3754" y="12424"/>
                  <a:pt x="3424" y="11984"/>
                </a:cubicBezTo>
                <a:cubicBezTo>
                  <a:pt x="3062" y="11774"/>
                  <a:pt x="3062" y="11774"/>
                  <a:pt x="3062" y="11565"/>
                </a:cubicBezTo>
                <a:lnTo>
                  <a:pt x="2733" y="11565"/>
                </a:lnTo>
                <a:cubicBezTo>
                  <a:pt x="1021" y="10245"/>
                  <a:pt x="0" y="8715"/>
                  <a:pt x="0" y="6977"/>
                </a:cubicBezTo>
                <a:cubicBezTo>
                  <a:pt x="0" y="5007"/>
                  <a:pt x="1021" y="3478"/>
                  <a:pt x="3424" y="2179"/>
                </a:cubicBezTo>
                <a:cubicBezTo>
                  <a:pt x="5466" y="649"/>
                  <a:pt x="7870" y="0"/>
                  <a:pt x="10965" y="0"/>
                </a:cubicBezTo>
                <a:cubicBezTo>
                  <a:pt x="13698" y="0"/>
                  <a:pt x="16463" y="649"/>
                  <a:pt x="18505" y="2179"/>
                </a:cubicBezTo>
                <a:cubicBezTo>
                  <a:pt x="20579" y="3478"/>
                  <a:pt x="21600" y="5007"/>
                  <a:pt x="21600" y="6977"/>
                </a:cubicBezTo>
                <a:close/>
                <a:moveTo>
                  <a:pt x="19196" y="6977"/>
                </a:moveTo>
                <a:cubicBezTo>
                  <a:pt x="19196" y="5447"/>
                  <a:pt x="18505" y="4148"/>
                  <a:pt x="16793" y="3268"/>
                </a:cubicBezTo>
                <a:cubicBezTo>
                  <a:pt x="15080" y="2179"/>
                  <a:pt x="13039" y="1739"/>
                  <a:pt x="10965" y="1739"/>
                </a:cubicBezTo>
                <a:cubicBezTo>
                  <a:pt x="8561" y="1739"/>
                  <a:pt x="6520" y="2179"/>
                  <a:pt x="5137" y="3268"/>
                </a:cubicBezTo>
                <a:cubicBezTo>
                  <a:pt x="3424" y="4148"/>
                  <a:pt x="2404" y="5447"/>
                  <a:pt x="2404" y="6977"/>
                </a:cubicBezTo>
                <a:cubicBezTo>
                  <a:pt x="2404" y="8296"/>
                  <a:pt x="3062" y="9386"/>
                  <a:pt x="4807" y="10454"/>
                </a:cubicBezTo>
                <a:cubicBezTo>
                  <a:pt x="4807" y="10454"/>
                  <a:pt x="4807" y="10685"/>
                  <a:pt x="5137" y="10685"/>
                </a:cubicBezTo>
                <a:cubicBezTo>
                  <a:pt x="5137" y="10894"/>
                  <a:pt x="5466" y="11125"/>
                  <a:pt x="5466" y="11334"/>
                </a:cubicBezTo>
                <a:cubicBezTo>
                  <a:pt x="5828" y="11774"/>
                  <a:pt x="6157" y="12214"/>
                  <a:pt x="6520" y="12654"/>
                </a:cubicBezTo>
                <a:cubicBezTo>
                  <a:pt x="6849" y="13073"/>
                  <a:pt x="7178" y="13513"/>
                  <a:pt x="7540" y="13953"/>
                </a:cubicBezTo>
                <a:cubicBezTo>
                  <a:pt x="7540" y="14603"/>
                  <a:pt x="7870" y="14833"/>
                  <a:pt x="7870" y="15042"/>
                </a:cubicBezTo>
                <a:cubicBezTo>
                  <a:pt x="14060" y="15042"/>
                  <a:pt x="14060" y="15042"/>
                  <a:pt x="14060" y="15042"/>
                </a:cubicBezTo>
                <a:cubicBezTo>
                  <a:pt x="14060" y="14833"/>
                  <a:pt x="14060" y="14603"/>
                  <a:pt x="14389" y="13953"/>
                </a:cubicBezTo>
                <a:cubicBezTo>
                  <a:pt x="14389" y="13513"/>
                  <a:pt x="14751" y="13073"/>
                  <a:pt x="15080" y="12654"/>
                </a:cubicBezTo>
                <a:cubicBezTo>
                  <a:pt x="15410" y="12214"/>
                  <a:pt x="15772" y="11774"/>
                  <a:pt x="16101" y="11334"/>
                </a:cubicBezTo>
                <a:cubicBezTo>
                  <a:pt x="16101" y="11125"/>
                  <a:pt x="16463" y="10894"/>
                  <a:pt x="16793" y="10894"/>
                </a:cubicBezTo>
                <a:cubicBezTo>
                  <a:pt x="16793" y="10685"/>
                  <a:pt x="16793" y="10454"/>
                  <a:pt x="17155" y="10454"/>
                </a:cubicBezTo>
                <a:cubicBezTo>
                  <a:pt x="18505" y="9386"/>
                  <a:pt x="19196" y="8296"/>
                  <a:pt x="19196" y="6977"/>
                </a:cubicBezTo>
                <a:close/>
                <a:moveTo>
                  <a:pt x="12677" y="8715"/>
                </a:moveTo>
                <a:cubicBezTo>
                  <a:pt x="11656" y="7416"/>
                  <a:pt x="11656" y="7416"/>
                  <a:pt x="11656" y="7416"/>
                </a:cubicBezTo>
                <a:cubicBezTo>
                  <a:pt x="10965" y="6327"/>
                  <a:pt x="10965" y="6327"/>
                  <a:pt x="10965" y="6327"/>
                </a:cubicBezTo>
                <a:cubicBezTo>
                  <a:pt x="9944" y="7416"/>
                  <a:pt x="9944" y="7416"/>
                  <a:pt x="9944" y="7416"/>
                </a:cubicBezTo>
                <a:cubicBezTo>
                  <a:pt x="8923" y="8715"/>
                  <a:pt x="8923" y="8715"/>
                  <a:pt x="8923" y="8715"/>
                </a:cubicBezTo>
                <a:cubicBezTo>
                  <a:pt x="7870" y="7416"/>
                  <a:pt x="7870" y="7416"/>
                  <a:pt x="7870" y="7416"/>
                </a:cubicBezTo>
                <a:cubicBezTo>
                  <a:pt x="6157" y="8066"/>
                  <a:pt x="6157" y="8066"/>
                  <a:pt x="6157" y="8066"/>
                </a:cubicBezTo>
                <a:cubicBezTo>
                  <a:pt x="8232" y="10454"/>
                  <a:pt x="8232" y="10454"/>
                  <a:pt x="8232" y="10454"/>
                </a:cubicBezTo>
                <a:cubicBezTo>
                  <a:pt x="8923" y="11565"/>
                  <a:pt x="8923" y="11565"/>
                  <a:pt x="8923" y="11565"/>
                </a:cubicBezTo>
                <a:cubicBezTo>
                  <a:pt x="9944" y="10454"/>
                  <a:pt x="9944" y="10454"/>
                  <a:pt x="9944" y="10454"/>
                </a:cubicBezTo>
                <a:cubicBezTo>
                  <a:pt x="10965" y="9155"/>
                  <a:pt x="10965" y="9155"/>
                  <a:pt x="10965" y="9155"/>
                </a:cubicBezTo>
                <a:cubicBezTo>
                  <a:pt x="11985" y="10454"/>
                  <a:pt x="11985" y="10454"/>
                  <a:pt x="11985" y="10454"/>
                </a:cubicBezTo>
                <a:cubicBezTo>
                  <a:pt x="12677" y="11565"/>
                  <a:pt x="12677" y="11565"/>
                  <a:pt x="12677" y="11565"/>
                </a:cubicBezTo>
                <a:cubicBezTo>
                  <a:pt x="13698" y="10454"/>
                  <a:pt x="13698" y="10454"/>
                  <a:pt x="13698" y="10454"/>
                </a:cubicBezTo>
                <a:cubicBezTo>
                  <a:pt x="15772" y="8066"/>
                  <a:pt x="15772" y="8066"/>
                  <a:pt x="15772" y="8066"/>
                </a:cubicBezTo>
                <a:cubicBezTo>
                  <a:pt x="14060" y="7416"/>
                  <a:pt x="14060" y="7416"/>
                  <a:pt x="14060" y="7416"/>
                </a:cubicBezTo>
                <a:lnTo>
                  <a:pt x="12677" y="8715"/>
                </a:lnTo>
                <a:close/>
              </a:path>
            </a:pathLst>
          </a:custGeom>
          <a:solidFill>
            <a:srgbClr val="FFFFFF"/>
          </a:solidFill>
          <a:ln w="12700">
            <a:miter lim="400000"/>
            <a:tailEnd type="triangle"/>
          </a:ln>
        </p:spPr>
        <p:txBody>
          <a:bodyPr lIns="45719" rIns="45719" anchor="ctr"/>
          <a:lstStyle/>
          <a:p>
            <a:pPr defTabSz="1219200" hangingPunct="1">
              <a:lnSpc>
                <a:spcPct val="120000"/>
              </a:lnSpc>
              <a:defRPr sz="2400"/>
            </a:pPr>
            <a:endParaRPr sz="2000" kern="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4" name="lasso-tool_73651"/>
          <p:cNvSpPr>
            <a:spLocks noChangeAspect="1"/>
          </p:cNvSpPr>
          <p:nvPr/>
        </p:nvSpPr>
        <p:spPr bwMode="auto">
          <a:xfrm>
            <a:off x="3445168" y="2535528"/>
            <a:ext cx="336855" cy="273555"/>
          </a:xfrm>
          <a:custGeom>
            <a:avLst/>
            <a:gdLst>
              <a:gd name="connsiteX0" fmla="*/ 319904 w 605479"/>
              <a:gd name="connsiteY0" fmla="*/ 191938 h 491700"/>
              <a:gd name="connsiteX1" fmla="*/ 324023 w 605479"/>
              <a:gd name="connsiteY1" fmla="*/ 192578 h 491700"/>
              <a:gd name="connsiteX2" fmla="*/ 595048 w 605479"/>
              <a:gd name="connsiteY2" fmla="*/ 272088 h 491700"/>
              <a:gd name="connsiteX3" fmla="*/ 605392 w 605479"/>
              <a:gd name="connsiteY3" fmla="*/ 284517 h 491700"/>
              <a:gd name="connsiteX4" fmla="*/ 597977 w 605479"/>
              <a:gd name="connsiteY4" fmla="*/ 298774 h 491700"/>
              <a:gd name="connsiteX5" fmla="*/ 478346 w 605479"/>
              <a:gd name="connsiteY5" fmla="*/ 364667 h 491700"/>
              <a:gd name="connsiteX6" fmla="*/ 412351 w 605479"/>
              <a:gd name="connsiteY6" fmla="*/ 484206 h 491700"/>
              <a:gd name="connsiteX7" fmla="*/ 399628 w 605479"/>
              <a:gd name="connsiteY7" fmla="*/ 491700 h 491700"/>
              <a:gd name="connsiteX8" fmla="*/ 397981 w 605479"/>
              <a:gd name="connsiteY8" fmla="*/ 491609 h 491700"/>
              <a:gd name="connsiteX9" fmla="*/ 385624 w 605479"/>
              <a:gd name="connsiteY9" fmla="*/ 481281 h 491700"/>
              <a:gd name="connsiteX10" fmla="*/ 305991 w 605479"/>
              <a:gd name="connsiteY10" fmla="*/ 210582 h 491700"/>
              <a:gd name="connsiteX11" fmla="*/ 309653 w 605479"/>
              <a:gd name="connsiteY11" fmla="*/ 196233 h 491700"/>
              <a:gd name="connsiteX12" fmla="*/ 319904 w 605479"/>
              <a:gd name="connsiteY12" fmla="*/ 191938 h 491700"/>
              <a:gd name="connsiteX13" fmla="*/ 305360 w 605479"/>
              <a:gd name="connsiteY13" fmla="*/ 0 h 491700"/>
              <a:gd name="connsiteX14" fmla="*/ 567786 w 605479"/>
              <a:gd name="connsiteY14" fmla="*/ 158576 h 491700"/>
              <a:gd name="connsiteX15" fmla="*/ 551310 w 605479"/>
              <a:gd name="connsiteY15" fmla="*/ 214420 h 491700"/>
              <a:gd name="connsiteX16" fmla="*/ 508106 w 605479"/>
              <a:gd name="connsiteY16" fmla="*/ 201715 h 491700"/>
              <a:gd name="connsiteX17" fmla="*/ 524766 w 605479"/>
              <a:gd name="connsiteY17" fmla="*/ 158576 h 491700"/>
              <a:gd name="connsiteX18" fmla="*/ 305360 w 605479"/>
              <a:gd name="connsiteY18" fmla="*/ 42957 h 491700"/>
              <a:gd name="connsiteX19" fmla="*/ 85954 w 605479"/>
              <a:gd name="connsiteY19" fmla="*/ 158576 h 491700"/>
              <a:gd name="connsiteX20" fmla="*/ 279456 w 605479"/>
              <a:gd name="connsiteY20" fmla="*/ 273189 h 491700"/>
              <a:gd name="connsiteX21" fmla="*/ 292270 w 605479"/>
              <a:gd name="connsiteY21" fmla="*/ 316694 h 491700"/>
              <a:gd name="connsiteX22" fmla="*/ 126869 w 605479"/>
              <a:gd name="connsiteY22" fmla="*/ 275474 h 491700"/>
              <a:gd name="connsiteX23" fmla="*/ 99775 w 605479"/>
              <a:gd name="connsiteY23" fmla="*/ 291834 h 491700"/>
              <a:gd name="connsiteX24" fmla="*/ 102155 w 605479"/>
              <a:gd name="connsiteY24" fmla="*/ 332232 h 491700"/>
              <a:gd name="connsiteX25" fmla="*/ 107007 w 605479"/>
              <a:gd name="connsiteY25" fmla="*/ 411200 h 491700"/>
              <a:gd name="connsiteX26" fmla="*/ 38631 w 605479"/>
              <a:gd name="connsiteY26" fmla="*/ 448399 h 491700"/>
              <a:gd name="connsiteX27" fmla="*/ 26457 w 605479"/>
              <a:gd name="connsiteY27" fmla="*/ 451049 h 491700"/>
              <a:gd name="connsiteX28" fmla="*/ 21514 w 605479"/>
              <a:gd name="connsiteY28" fmla="*/ 451689 h 491700"/>
              <a:gd name="connsiteX29" fmla="*/ 553 w 605479"/>
              <a:gd name="connsiteY29" fmla="*/ 435055 h 491700"/>
              <a:gd name="connsiteX30" fmla="*/ 16572 w 605479"/>
              <a:gd name="connsiteY30" fmla="*/ 409189 h 491700"/>
              <a:gd name="connsiteX31" fmla="*/ 29478 w 605479"/>
              <a:gd name="connsiteY31" fmla="*/ 406356 h 491700"/>
              <a:gd name="connsiteX32" fmla="*/ 69020 w 605479"/>
              <a:gd name="connsiteY32" fmla="*/ 391001 h 491700"/>
              <a:gd name="connsiteX33" fmla="*/ 62064 w 605479"/>
              <a:gd name="connsiteY33" fmla="*/ 348044 h 491700"/>
              <a:gd name="connsiteX34" fmla="*/ 62887 w 605479"/>
              <a:gd name="connsiteY34" fmla="*/ 269624 h 491700"/>
              <a:gd name="connsiteX35" fmla="*/ 85862 w 605479"/>
              <a:gd name="connsiteY35" fmla="*/ 246500 h 491700"/>
              <a:gd name="connsiteX36" fmla="*/ 42933 w 605479"/>
              <a:gd name="connsiteY36" fmla="*/ 158576 h 491700"/>
              <a:gd name="connsiteX37" fmla="*/ 305360 w 605479"/>
              <a:gd name="connsiteY37" fmla="*/ 0 h 49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5479" h="491700">
                <a:moveTo>
                  <a:pt x="319904" y="191938"/>
                </a:moveTo>
                <a:cubicBezTo>
                  <a:pt x="321277" y="191938"/>
                  <a:pt x="322650" y="192121"/>
                  <a:pt x="324023" y="192578"/>
                </a:cubicBezTo>
                <a:lnTo>
                  <a:pt x="595048" y="272088"/>
                </a:lnTo>
                <a:cubicBezTo>
                  <a:pt x="600723" y="273733"/>
                  <a:pt x="604751" y="278668"/>
                  <a:pt x="605392" y="284517"/>
                </a:cubicBezTo>
                <a:cubicBezTo>
                  <a:pt x="606032" y="290275"/>
                  <a:pt x="603103" y="295941"/>
                  <a:pt x="597977" y="298774"/>
                </a:cubicBezTo>
                <a:lnTo>
                  <a:pt x="478346" y="364667"/>
                </a:lnTo>
                <a:lnTo>
                  <a:pt x="412351" y="484206"/>
                </a:lnTo>
                <a:cubicBezTo>
                  <a:pt x="409788" y="488867"/>
                  <a:pt x="404846" y="491700"/>
                  <a:pt x="399628" y="491700"/>
                </a:cubicBezTo>
                <a:cubicBezTo>
                  <a:pt x="399079" y="491700"/>
                  <a:pt x="398530" y="491700"/>
                  <a:pt x="397981" y="491609"/>
                </a:cubicBezTo>
                <a:cubicBezTo>
                  <a:pt x="392123" y="490969"/>
                  <a:pt x="387271" y="486856"/>
                  <a:pt x="385624" y="481281"/>
                </a:cubicBezTo>
                <a:lnTo>
                  <a:pt x="305991" y="210582"/>
                </a:lnTo>
                <a:cubicBezTo>
                  <a:pt x="304435" y="205555"/>
                  <a:pt x="305900" y="199980"/>
                  <a:pt x="309653" y="196233"/>
                </a:cubicBezTo>
                <a:cubicBezTo>
                  <a:pt x="312399" y="193492"/>
                  <a:pt x="316151" y="191938"/>
                  <a:pt x="319904" y="191938"/>
                </a:cubicBezTo>
                <a:close/>
                <a:moveTo>
                  <a:pt x="305360" y="0"/>
                </a:moveTo>
                <a:cubicBezTo>
                  <a:pt x="452546" y="0"/>
                  <a:pt x="567786" y="69645"/>
                  <a:pt x="567786" y="158576"/>
                </a:cubicBezTo>
                <a:cubicBezTo>
                  <a:pt x="567786" y="178318"/>
                  <a:pt x="561837" y="197054"/>
                  <a:pt x="551310" y="214420"/>
                </a:cubicBezTo>
                <a:lnTo>
                  <a:pt x="508106" y="201715"/>
                </a:lnTo>
                <a:cubicBezTo>
                  <a:pt x="518724" y="188371"/>
                  <a:pt x="524766" y="173748"/>
                  <a:pt x="524766" y="158576"/>
                </a:cubicBezTo>
                <a:cubicBezTo>
                  <a:pt x="524766" y="95877"/>
                  <a:pt x="424262" y="42957"/>
                  <a:pt x="305360" y="42957"/>
                </a:cubicBezTo>
                <a:cubicBezTo>
                  <a:pt x="186458" y="42957"/>
                  <a:pt x="85954" y="95877"/>
                  <a:pt x="85954" y="158576"/>
                </a:cubicBezTo>
                <a:cubicBezTo>
                  <a:pt x="85954" y="216613"/>
                  <a:pt x="172270" y="266151"/>
                  <a:pt x="279456" y="273189"/>
                </a:cubicBezTo>
                <a:lnTo>
                  <a:pt x="292270" y="316694"/>
                </a:lnTo>
                <a:cubicBezTo>
                  <a:pt x="227922" y="314866"/>
                  <a:pt x="170439" y="299694"/>
                  <a:pt x="126869" y="275474"/>
                </a:cubicBezTo>
                <a:cubicBezTo>
                  <a:pt x="119455" y="277027"/>
                  <a:pt x="105817" y="281597"/>
                  <a:pt x="99775" y="291834"/>
                </a:cubicBezTo>
                <a:cubicBezTo>
                  <a:pt x="94375" y="301065"/>
                  <a:pt x="95107" y="314592"/>
                  <a:pt x="102155" y="332232"/>
                </a:cubicBezTo>
                <a:cubicBezTo>
                  <a:pt x="115794" y="366689"/>
                  <a:pt x="117441" y="391823"/>
                  <a:pt x="107007" y="411200"/>
                </a:cubicBezTo>
                <a:cubicBezTo>
                  <a:pt x="93551" y="436517"/>
                  <a:pt x="64352" y="442823"/>
                  <a:pt x="38631" y="448399"/>
                </a:cubicBezTo>
                <a:cubicBezTo>
                  <a:pt x="34604" y="449221"/>
                  <a:pt x="30576" y="450135"/>
                  <a:pt x="26457" y="451049"/>
                </a:cubicBezTo>
                <a:cubicBezTo>
                  <a:pt x="24810" y="451506"/>
                  <a:pt x="23162" y="451689"/>
                  <a:pt x="21514" y="451689"/>
                </a:cubicBezTo>
                <a:cubicBezTo>
                  <a:pt x="11720" y="451689"/>
                  <a:pt x="2933" y="445017"/>
                  <a:pt x="553" y="435055"/>
                </a:cubicBezTo>
                <a:cubicBezTo>
                  <a:pt x="-2101" y="423538"/>
                  <a:pt x="5038" y="411931"/>
                  <a:pt x="16572" y="409189"/>
                </a:cubicBezTo>
                <a:cubicBezTo>
                  <a:pt x="20965" y="408184"/>
                  <a:pt x="25267" y="407270"/>
                  <a:pt x="29478" y="406356"/>
                </a:cubicBezTo>
                <a:cubicBezTo>
                  <a:pt x="46961" y="402608"/>
                  <a:pt x="64901" y="398678"/>
                  <a:pt x="69020" y="391001"/>
                </a:cubicBezTo>
                <a:cubicBezTo>
                  <a:pt x="70759" y="387710"/>
                  <a:pt x="73597" y="377017"/>
                  <a:pt x="62064" y="348044"/>
                </a:cubicBezTo>
                <a:cubicBezTo>
                  <a:pt x="49890" y="317243"/>
                  <a:pt x="50164" y="290920"/>
                  <a:pt x="62887" y="269624"/>
                </a:cubicBezTo>
                <a:cubicBezTo>
                  <a:pt x="69112" y="259296"/>
                  <a:pt x="77350" y="251984"/>
                  <a:pt x="85862" y="246500"/>
                </a:cubicBezTo>
                <a:cubicBezTo>
                  <a:pt x="58677" y="221457"/>
                  <a:pt x="42933" y="191296"/>
                  <a:pt x="42933" y="158576"/>
                </a:cubicBezTo>
                <a:cubicBezTo>
                  <a:pt x="42933" y="69645"/>
                  <a:pt x="158174" y="0"/>
                  <a:pt x="305360" y="0"/>
                </a:cubicBezTo>
                <a:close/>
              </a:path>
            </a:pathLst>
          </a:custGeom>
          <a:solidFill>
            <a:schemeClr val="bg1"/>
          </a:solidFill>
          <a:ln>
            <a:noFill/>
          </a:ln>
        </p:spPr>
        <p:txBody>
          <a:bodyPr/>
          <a:lstStyle/>
          <a:p>
            <a:endParaRPr lang="zh-CN" altLang="en-US"/>
          </a:p>
        </p:txBody>
      </p:sp>
      <p:sp>
        <p:nvSpPr>
          <p:cNvPr id="125" name="形状"/>
          <p:cNvSpPr/>
          <p:nvPr>
            <p:custDataLst>
              <p:tags r:id="rId11"/>
            </p:custDataLst>
          </p:nvPr>
        </p:nvSpPr>
        <p:spPr>
          <a:xfrm>
            <a:off x="6713496" y="1574387"/>
            <a:ext cx="280713" cy="336855"/>
          </a:xfrm>
          <a:custGeom>
            <a:avLst/>
            <a:gdLst/>
            <a:ahLst/>
            <a:cxnLst>
              <a:cxn ang="0">
                <a:pos x="wd2" y="hd2"/>
              </a:cxn>
              <a:cxn ang="5400000">
                <a:pos x="wd2" y="hd2"/>
              </a:cxn>
              <a:cxn ang="10800000">
                <a:pos x="wd2" y="hd2"/>
              </a:cxn>
              <a:cxn ang="16200000">
                <a:pos x="wd2" y="hd2"/>
              </a:cxn>
            </a:cxnLst>
            <a:rect l="0" t="0" r="r" b="b"/>
            <a:pathLst>
              <a:path w="20301" h="20835" extrusionOk="0">
                <a:moveTo>
                  <a:pt x="18314" y="8890"/>
                </a:moveTo>
                <a:cubicBezTo>
                  <a:pt x="19793" y="2249"/>
                  <a:pt x="13703" y="-765"/>
                  <a:pt x="7013" y="164"/>
                </a:cubicBezTo>
                <a:cubicBezTo>
                  <a:pt x="297" y="1116"/>
                  <a:pt x="498" y="4720"/>
                  <a:pt x="97" y="6420"/>
                </a:cubicBezTo>
                <a:cubicBezTo>
                  <a:pt x="-755" y="10976"/>
                  <a:pt x="4282" y="15894"/>
                  <a:pt x="4282" y="15894"/>
                </a:cubicBezTo>
                <a:cubicBezTo>
                  <a:pt x="4081" y="20835"/>
                  <a:pt x="4081" y="20835"/>
                  <a:pt x="4081" y="20835"/>
                </a:cubicBezTo>
                <a:cubicBezTo>
                  <a:pt x="12250" y="20835"/>
                  <a:pt x="12250" y="20835"/>
                  <a:pt x="12250" y="20835"/>
                </a:cubicBezTo>
                <a:cubicBezTo>
                  <a:pt x="12877" y="18546"/>
                  <a:pt x="12877" y="18546"/>
                  <a:pt x="12877" y="18546"/>
                </a:cubicBezTo>
                <a:cubicBezTo>
                  <a:pt x="12877" y="18546"/>
                  <a:pt x="13077" y="19112"/>
                  <a:pt x="15182" y="19316"/>
                </a:cubicBezTo>
                <a:cubicBezTo>
                  <a:pt x="17487" y="19498"/>
                  <a:pt x="17061" y="17027"/>
                  <a:pt x="17061" y="17027"/>
                </a:cubicBezTo>
                <a:cubicBezTo>
                  <a:pt x="17061" y="17027"/>
                  <a:pt x="18540" y="16461"/>
                  <a:pt x="18540" y="16098"/>
                </a:cubicBezTo>
                <a:cubicBezTo>
                  <a:pt x="18540" y="15713"/>
                  <a:pt x="17688" y="15146"/>
                  <a:pt x="17688" y="15146"/>
                </a:cubicBezTo>
                <a:cubicBezTo>
                  <a:pt x="17688" y="15146"/>
                  <a:pt x="18540" y="15327"/>
                  <a:pt x="18941" y="14942"/>
                </a:cubicBezTo>
                <a:cubicBezTo>
                  <a:pt x="19141" y="14579"/>
                  <a:pt x="18540" y="13423"/>
                  <a:pt x="18540" y="13423"/>
                </a:cubicBezTo>
                <a:cubicBezTo>
                  <a:pt x="18540" y="13423"/>
                  <a:pt x="19567" y="13423"/>
                  <a:pt x="20193" y="12676"/>
                </a:cubicBezTo>
                <a:cubicBezTo>
                  <a:pt x="20845" y="12109"/>
                  <a:pt x="18314" y="10205"/>
                  <a:pt x="18314" y="8890"/>
                </a:cubicBezTo>
                <a:close/>
                <a:moveTo>
                  <a:pt x="6587" y="9842"/>
                </a:moveTo>
                <a:cubicBezTo>
                  <a:pt x="6587" y="9842"/>
                  <a:pt x="6587" y="9457"/>
                  <a:pt x="6587" y="9276"/>
                </a:cubicBezTo>
                <a:cubicBezTo>
                  <a:pt x="6361" y="9072"/>
                  <a:pt x="6161" y="9072"/>
                  <a:pt x="5961" y="9072"/>
                </a:cubicBezTo>
                <a:cubicBezTo>
                  <a:pt x="5760" y="9276"/>
                  <a:pt x="5334" y="9457"/>
                  <a:pt x="5334" y="9457"/>
                </a:cubicBezTo>
                <a:cubicBezTo>
                  <a:pt x="5109" y="9638"/>
                  <a:pt x="5109" y="9638"/>
                  <a:pt x="5109" y="9638"/>
                </a:cubicBezTo>
                <a:lnTo>
                  <a:pt x="4482" y="9457"/>
                </a:lnTo>
                <a:cubicBezTo>
                  <a:pt x="3229" y="8120"/>
                  <a:pt x="3229" y="8120"/>
                  <a:pt x="3229" y="8120"/>
                </a:cubicBezTo>
                <a:cubicBezTo>
                  <a:pt x="3229" y="7372"/>
                  <a:pt x="3229" y="7372"/>
                  <a:pt x="3229" y="7372"/>
                </a:cubicBezTo>
                <a:cubicBezTo>
                  <a:pt x="3229" y="7372"/>
                  <a:pt x="3655" y="6987"/>
                  <a:pt x="3856" y="6987"/>
                </a:cubicBezTo>
                <a:cubicBezTo>
                  <a:pt x="3856" y="6805"/>
                  <a:pt x="3856" y="6624"/>
                  <a:pt x="3856" y="6420"/>
                </a:cubicBezTo>
                <a:cubicBezTo>
                  <a:pt x="3455" y="6239"/>
                  <a:pt x="2803" y="6057"/>
                  <a:pt x="2803" y="6057"/>
                </a:cubicBezTo>
                <a:cubicBezTo>
                  <a:pt x="2603" y="5287"/>
                  <a:pt x="2603" y="5287"/>
                  <a:pt x="2603" y="5287"/>
                </a:cubicBezTo>
                <a:cubicBezTo>
                  <a:pt x="3455" y="3768"/>
                  <a:pt x="3455" y="3768"/>
                  <a:pt x="3455" y="3768"/>
                </a:cubicBezTo>
                <a:cubicBezTo>
                  <a:pt x="4282" y="3587"/>
                  <a:pt x="4282" y="3587"/>
                  <a:pt x="4282" y="3587"/>
                </a:cubicBezTo>
                <a:cubicBezTo>
                  <a:pt x="4282" y="3587"/>
                  <a:pt x="4908" y="3768"/>
                  <a:pt x="5109" y="3768"/>
                </a:cubicBezTo>
                <a:cubicBezTo>
                  <a:pt x="5334" y="3768"/>
                  <a:pt x="5334" y="3587"/>
                  <a:pt x="5535" y="3587"/>
                </a:cubicBezTo>
                <a:cubicBezTo>
                  <a:pt x="5535" y="3201"/>
                  <a:pt x="5535" y="2635"/>
                  <a:pt x="5535" y="2635"/>
                </a:cubicBezTo>
                <a:cubicBezTo>
                  <a:pt x="6161" y="2068"/>
                  <a:pt x="6161" y="2068"/>
                  <a:pt x="6161" y="2068"/>
                </a:cubicBezTo>
                <a:cubicBezTo>
                  <a:pt x="8040" y="1887"/>
                  <a:pt x="8040" y="1887"/>
                  <a:pt x="8040" y="1887"/>
                </a:cubicBezTo>
                <a:cubicBezTo>
                  <a:pt x="8667" y="2453"/>
                  <a:pt x="8667" y="2453"/>
                  <a:pt x="8667" y="2453"/>
                </a:cubicBezTo>
                <a:cubicBezTo>
                  <a:pt x="8667" y="2453"/>
                  <a:pt x="8667" y="3020"/>
                  <a:pt x="8667" y="3201"/>
                </a:cubicBezTo>
                <a:cubicBezTo>
                  <a:pt x="8892" y="3201"/>
                  <a:pt x="9093" y="3383"/>
                  <a:pt x="9318" y="3383"/>
                </a:cubicBezTo>
                <a:cubicBezTo>
                  <a:pt x="9519" y="3201"/>
                  <a:pt x="9945" y="3020"/>
                  <a:pt x="9945" y="3020"/>
                </a:cubicBezTo>
                <a:cubicBezTo>
                  <a:pt x="10772" y="3020"/>
                  <a:pt x="10772" y="3020"/>
                  <a:pt x="10772" y="3020"/>
                </a:cubicBezTo>
                <a:cubicBezTo>
                  <a:pt x="12025" y="4153"/>
                  <a:pt x="12025" y="4153"/>
                  <a:pt x="12025" y="4153"/>
                </a:cubicBezTo>
                <a:cubicBezTo>
                  <a:pt x="12025" y="4901"/>
                  <a:pt x="12025" y="4901"/>
                  <a:pt x="12025" y="4901"/>
                </a:cubicBezTo>
                <a:cubicBezTo>
                  <a:pt x="12025" y="4901"/>
                  <a:pt x="11624" y="5287"/>
                  <a:pt x="11198" y="5672"/>
                </a:cubicBezTo>
                <a:cubicBezTo>
                  <a:pt x="11398" y="5672"/>
                  <a:pt x="11398" y="5853"/>
                  <a:pt x="11398" y="6057"/>
                </a:cubicBezTo>
                <a:cubicBezTo>
                  <a:pt x="11624" y="6239"/>
                  <a:pt x="12250" y="6624"/>
                  <a:pt x="12250" y="6624"/>
                </a:cubicBezTo>
                <a:cubicBezTo>
                  <a:pt x="12451" y="7372"/>
                  <a:pt x="12451" y="7372"/>
                  <a:pt x="12451" y="7372"/>
                </a:cubicBezTo>
                <a:cubicBezTo>
                  <a:pt x="11624" y="8709"/>
                  <a:pt x="11624" y="8709"/>
                  <a:pt x="11624" y="8709"/>
                </a:cubicBezTo>
                <a:cubicBezTo>
                  <a:pt x="10772" y="8890"/>
                  <a:pt x="10772" y="8890"/>
                  <a:pt x="10772" y="8890"/>
                </a:cubicBezTo>
                <a:cubicBezTo>
                  <a:pt x="10772" y="8890"/>
                  <a:pt x="10346" y="8709"/>
                  <a:pt x="9945" y="8505"/>
                </a:cubicBezTo>
                <a:cubicBezTo>
                  <a:pt x="9945" y="8709"/>
                  <a:pt x="9719" y="8709"/>
                  <a:pt x="9519" y="8890"/>
                </a:cubicBezTo>
                <a:cubicBezTo>
                  <a:pt x="9519" y="9072"/>
                  <a:pt x="9719" y="9638"/>
                  <a:pt x="9719" y="9638"/>
                </a:cubicBezTo>
                <a:cubicBezTo>
                  <a:pt x="9093" y="10205"/>
                  <a:pt x="9093" y="10205"/>
                  <a:pt x="9093" y="10205"/>
                </a:cubicBezTo>
                <a:cubicBezTo>
                  <a:pt x="7213" y="10409"/>
                  <a:pt x="7213" y="10409"/>
                  <a:pt x="7213" y="10409"/>
                </a:cubicBezTo>
                <a:lnTo>
                  <a:pt x="6587" y="9842"/>
                </a:lnTo>
                <a:close/>
                <a:moveTo>
                  <a:pt x="14129" y="14194"/>
                </a:moveTo>
                <a:cubicBezTo>
                  <a:pt x="13703" y="14398"/>
                  <a:pt x="13703" y="14398"/>
                  <a:pt x="13703" y="14398"/>
                </a:cubicBezTo>
                <a:cubicBezTo>
                  <a:pt x="13703" y="14398"/>
                  <a:pt x="13303" y="14194"/>
                  <a:pt x="13303" y="14013"/>
                </a:cubicBezTo>
                <a:cubicBezTo>
                  <a:pt x="13077" y="14194"/>
                  <a:pt x="13077" y="14194"/>
                  <a:pt x="12877" y="14194"/>
                </a:cubicBezTo>
                <a:cubicBezTo>
                  <a:pt x="12877" y="14398"/>
                  <a:pt x="13077" y="14761"/>
                  <a:pt x="13077" y="14761"/>
                </a:cubicBezTo>
                <a:cubicBezTo>
                  <a:pt x="12651" y="15146"/>
                  <a:pt x="12651" y="15146"/>
                  <a:pt x="12651" y="15146"/>
                </a:cubicBezTo>
                <a:cubicBezTo>
                  <a:pt x="11398" y="15327"/>
                  <a:pt x="11398" y="15327"/>
                  <a:pt x="11398" y="15327"/>
                </a:cubicBezTo>
                <a:cubicBezTo>
                  <a:pt x="10997" y="14942"/>
                  <a:pt x="10997" y="14942"/>
                  <a:pt x="10997" y="14942"/>
                </a:cubicBezTo>
                <a:lnTo>
                  <a:pt x="10997" y="14579"/>
                </a:lnTo>
                <a:cubicBezTo>
                  <a:pt x="10772" y="14398"/>
                  <a:pt x="10772" y="14398"/>
                  <a:pt x="10571" y="14398"/>
                </a:cubicBezTo>
                <a:cubicBezTo>
                  <a:pt x="10145" y="14761"/>
                  <a:pt x="10145" y="14761"/>
                  <a:pt x="10145" y="14761"/>
                </a:cubicBezTo>
                <a:lnTo>
                  <a:pt x="9519" y="14761"/>
                </a:lnTo>
                <a:cubicBezTo>
                  <a:pt x="8892" y="13809"/>
                  <a:pt x="8892" y="13809"/>
                  <a:pt x="8892" y="13809"/>
                </a:cubicBezTo>
                <a:cubicBezTo>
                  <a:pt x="8892" y="13423"/>
                  <a:pt x="8892" y="13423"/>
                  <a:pt x="8892" y="13423"/>
                </a:cubicBezTo>
                <a:cubicBezTo>
                  <a:pt x="9318" y="13061"/>
                  <a:pt x="9318" y="13061"/>
                  <a:pt x="9318" y="13061"/>
                </a:cubicBezTo>
                <a:cubicBezTo>
                  <a:pt x="9318" y="12879"/>
                  <a:pt x="9318" y="12879"/>
                  <a:pt x="9318" y="12676"/>
                </a:cubicBezTo>
                <a:cubicBezTo>
                  <a:pt x="9093" y="12676"/>
                  <a:pt x="8667" y="12494"/>
                  <a:pt x="8667" y="12494"/>
                </a:cubicBezTo>
                <a:cubicBezTo>
                  <a:pt x="8466" y="11928"/>
                  <a:pt x="8466" y="11928"/>
                  <a:pt x="8466" y="11928"/>
                </a:cubicBezTo>
                <a:cubicBezTo>
                  <a:pt x="9093" y="10976"/>
                  <a:pt x="9093" y="10976"/>
                  <a:pt x="9093" y="10976"/>
                </a:cubicBezTo>
                <a:cubicBezTo>
                  <a:pt x="9519" y="10794"/>
                  <a:pt x="9519" y="10794"/>
                  <a:pt x="9519" y="10794"/>
                </a:cubicBezTo>
                <a:lnTo>
                  <a:pt x="9945" y="10976"/>
                </a:lnTo>
                <a:cubicBezTo>
                  <a:pt x="10145" y="10976"/>
                  <a:pt x="10346" y="10976"/>
                  <a:pt x="10346" y="10794"/>
                </a:cubicBezTo>
                <a:cubicBezTo>
                  <a:pt x="10346" y="10590"/>
                  <a:pt x="10346" y="10205"/>
                  <a:pt x="10346" y="10205"/>
                </a:cubicBezTo>
                <a:cubicBezTo>
                  <a:pt x="10772" y="9842"/>
                  <a:pt x="10772" y="9842"/>
                  <a:pt x="10772" y="9842"/>
                </a:cubicBezTo>
                <a:cubicBezTo>
                  <a:pt x="11824" y="9842"/>
                  <a:pt x="11824" y="9842"/>
                  <a:pt x="11824" y="9842"/>
                </a:cubicBezTo>
                <a:cubicBezTo>
                  <a:pt x="12250" y="10205"/>
                  <a:pt x="12250" y="10205"/>
                  <a:pt x="12250" y="10205"/>
                </a:cubicBezTo>
                <a:cubicBezTo>
                  <a:pt x="12250" y="10205"/>
                  <a:pt x="12250" y="10409"/>
                  <a:pt x="12250" y="10590"/>
                </a:cubicBezTo>
                <a:cubicBezTo>
                  <a:pt x="12451" y="10590"/>
                  <a:pt x="12651" y="10794"/>
                  <a:pt x="12877" y="10794"/>
                </a:cubicBezTo>
                <a:cubicBezTo>
                  <a:pt x="13077" y="10409"/>
                  <a:pt x="13077" y="10409"/>
                  <a:pt x="13077" y="10409"/>
                </a:cubicBezTo>
                <a:cubicBezTo>
                  <a:pt x="13703" y="10409"/>
                  <a:pt x="13703" y="10409"/>
                  <a:pt x="13703" y="10409"/>
                </a:cubicBezTo>
                <a:cubicBezTo>
                  <a:pt x="14555" y="11361"/>
                  <a:pt x="14555" y="11361"/>
                  <a:pt x="14555" y="11361"/>
                </a:cubicBezTo>
                <a:cubicBezTo>
                  <a:pt x="14555" y="11724"/>
                  <a:pt x="14555" y="11724"/>
                  <a:pt x="14555" y="11724"/>
                </a:cubicBezTo>
                <a:lnTo>
                  <a:pt x="14129" y="12109"/>
                </a:lnTo>
                <a:cubicBezTo>
                  <a:pt x="14129" y="12290"/>
                  <a:pt x="14129" y="12290"/>
                  <a:pt x="14129" y="12494"/>
                </a:cubicBezTo>
                <a:cubicBezTo>
                  <a:pt x="14330" y="12494"/>
                  <a:pt x="14756" y="12879"/>
                  <a:pt x="14756" y="12879"/>
                </a:cubicBezTo>
                <a:cubicBezTo>
                  <a:pt x="14756" y="13242"/>
                  <a:pt x="14756" y="13242"/>
                  <a:pt x="14756" y="13242"/>
                </a:cubicBezTo>
                <a:lnTo>
                  <a:pt x="14129" y="14194"/>
                </a:lnTo>
                <a:close/>
              </a:path>
            </a:pathLst>
          </a:custGeom>
          <a:solidFill>
            <a:srgbClr val="FFFFFF"/>
          </a:solidFill>
          <a:ln w="12700">
            <a:miter lim="400000"/>
            <a:tailEnd type="triangle"/>
          </a:ln>
        </p:spPr>
        <p:txBody>
          <a:bodyPr lIns="45719" rIns="45719" anchor="ctr"/>
          <a:lstStyle/>
          <a:p>
            <a:pPr defTabSz="1219200" hangingPunct="1">
              <a:lnSpc>
                <a:spcPct val="120000"/>
              </a:lnSpc>
              <a:defRPr sz="2400"/>
            </a:pPr>
            <a:endParaRPr sz="2000" kern="1200">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126" name="组合 125"/>
          <p:cNvGrpSpPr/>
          <p:nvPr>
            <p:custDataLst>
              <p:tags r:id="rId12"/>
            </p:custDataLst>
          </p:nvPr>
        </p:nvGrpSpPr>
        <p:grpSpPr>
          <a:xfrm>
            <a:off x="8040988" y="2514581"/>
            <a:ext cx="336855" cy="336855"/>
            <a:chOff x="4280542" y="2929156"/>
            <a:chExt cx="551810" cy="551810"/>
          </a:xfrm>
        </p:grpSpPr>
        <p:sp>
          <p:nvSpPr>
            <p:cNvPr id="127" name="PA_ImportSvg_636885181197072743"/>
            <p:cNvSpPr/>
            <p:nvPr>
              <p:custDataLst>
                <p:tags r:id="rId13"/>
              </p:custDataLst>
            </p:nvPr>
          </p:nvSpPr>
          <p:spPr>
            <a:xfrm>
              <a:off x="4280542" y="2929156"/>
              <a:ext cx="551810" cy="551810"/>
            </a:xfrm>
            <a:custGeom>
              <a:avLst/>
              <a:gdLst/>
              <a:ahLst/>
              <a:cxnLst/>
              <a:rect l="l" t="t" r="r" b="b"/>
              <a:pathLst>
                <a:path w="10837333" h="10837334">
                  <a:moveTo>
                    <a:pt x="5418668" y="10295468"/>
                  </a:moveTo>
                  <a:cubicBezTo>
                    <a:pt x="8112070" y="10295468"/>
                    <a:pt x="10295468" y="8112070"/>
                    <a:pt x="10295468" y="5418668"/>
                  </a:cubicBezTo>
                  <a:cubicBezTo>
                    <a:pt x="10295468" y="2725266"/>
                    <a:pt x="8112070" y="541868"/>
                    <a:pt x="5418668" y="541868"/>
                  </a:cubicBezTo>
                  <a:cubicBezTo>
                    <a:pt x="2725266" y="541868"/>
                    <a:pt x="541868" y="2725266"/>
                    <a:pt x="541868" y="5418668"/>
                  </a:cubicBezTo>
                  <a:cubicBezTo>
                    <a:pt x="541868" y="8112070"/>
                    <a:pt x="2725266" y="10295468"/>
                    <a:pt x="5418668" y="10295468"/>
                  </a:cubicBezTo>
                  <a:close/>
                  <a:moveTo>
                    <a:pt x="5418668" y="10837335"/>
                  </a:moveTo>
                  <a:cubicBezTo>
                    <a:pt x="2426047" y="10837335"/>
                    <a:pt x="1" y="8411289"/>
                    <a:pt x="1" y="5418668"/>
                  </a:cubicBezTo>
                  <a:cubicBezTo>
                    <a:pt x="1" y="2426047"/>
                    <a:pt x="2426047" y="1"/>
                    <a:pt x="5418668" y="1"/>
                  </a:cubicBezTo>
                  <a:cubicBezTo>
                    <a:pt x="8411289" y="1"/>
                    <a:pt x="10837334" y="2426047"/>
                    <a:pt x="10837334" y="5418668"/>
                  </a:cubicBezTo>
                  <a:cubicBezTo>
                    <a:pt x="10837334" y="8411289"/>
                    <a:pt x="8411288" y="10837334"/>
                    <a:pt x="5418668" y="10837334"/>
                  </a:cubicBezTo>
                </a:path>
              </a:pathLst>
            </a:custGeom>
            <a:solidFill>
              <a:sysClr val="window" lastClr="FFFFFF"/>
            </a:solidFill>
            <a:ln w="12700" cap="flat" cmpd="sng" algn="ctr">
              <a:noFill/>
              <a:prstDash val="solid"/>
              <a:miter lim="800000"/>
            </a:ln>
            <a:effectLst/>
            <a:extLst>
              <a:ext uri="{91240B29-F687-4F45-9708-019B960494DF}">
                <a14:hiddenLine xmlns:a14="http://schemas.microsoft.com/office/drawing/2010/main" w="12700">
                  <a:solidFill>
                    <a:srgbClr val="1F74AD">
                      <a:shade val="50000"/>
                    </a:srgbClr>
                  </a:solidFill>
                  <a:prstDash val="solid"/>
                  <a:miter lim="800000"/>
                  <a:headEnd/>
                  <a:tailEnd/>
                </a14:hiddenLine>
              </a:ext>
            </a:ex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9pPr>
            </a:lstStyle>
            <a:p>
              <a:pPr algn="ctr">
                <a:lnSpc>
                  <a:spcPct val="120000"/>
                </a:lnSpc>
              </a:pPr>
              <a:endParaRPr lang="zh-CN" altLang="en-US"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8" name="PA_ImportSvg_636885181198562829"/>
            <p:cNvSpPr/>
            <p:nvPr>
              <p:custDataLst>
                <p:tags r:id="rId14"/>
              </p:custDataLst>
            </p:nvPr>
          </p:nvSpPr>
          <p:spPr>
            <a:xfrm>
              <a:off x="4344000" y="2992614"/>
              <a:ext cx="424894" cy="424894"/>
            </a:xfrm>
            <a:custGeom>
              <a:avLst/>
              <a:gdLst/>
              <a:ahLst/>
              <a:cxnLst/>
              <a:rect l="l" t="t" r="r" b="b"/>
              <a:pathLst>
                <a:path w="8344747" h="8344747">
                  <a:moveTo>
                    <a:pt x="4172374" y="7802880"/>
                  </a:moveTo>
                  <a:cubicBezTo>
                    <a:pt x="6177443" y="7802880"/>
                    <a:pt x="7802881" y="6177443"/>
                    <a:pt x="7802881" y="4172374"/>
                  </a:cubicBezTo>
                  <a:cubicBezTo>
                    <a:pt x="7802881" y="2167304"/>
                    <a:pt x="6177444" y="541867"/>
                    <a:pt x="4172374" y="541867"/>
                  </a:cubicBezTo>
                  <a:cubicBezTo>
                    <a:pt x="2167304" y="541867"/>
                    <a:pt x="541867" y="2167304"/>
                    <a:pt x="541867" y="4172374"/>
                  </a:cubicBezTo>
                  <a:cubicBezTo>
                    <a:pt x="541867" y="6177443"/>
                    <a:pt x="2167305" y="7802880"/>
                    <a:pt x="4172374" y="7802880"/>
                  </a:cubicBezTo>
                  <a:close/>
                  <a:moveTo>
                    <a:pt x="4172374" y="8344747"/>
                  </a:moveTo>
                  <a:cubicBezTo>
                    <a:pt x="1868032" y="8344747"/>
                    <a:pt x="1" y="6476716"/>
                    <a:pt x="1" y="4172374"/>
                  </a:cubicBezTo>
                  <a:cubicBezTo>
                    <a:pt x="1" y="1868032"/>
                    <a:pt x="1868032" y="1"/>
                    <a:pt x="4172374" y="1"/>
                  </a:cubicBezTo>
                  <a:cubicBezTo>
                    <a:pt x="6476716" y="1"/>
                    <a:pt x="8344747" y="1868032"/>
                    <a:pt x="8344747" y="4172374"/>
                  </a:cubicBezTo>
                  <a:cubicBezTo>
                    <a:pt x="8344747" y="6476716"/>
                    <a:pt x="6476716" y="8344747"/>
                    <a:pt x="4172374" y="8344747"/>
                  </a:cubicBezTo>
                  <a:close/>
                </a:path>
              </a:pathLst>
            </a:custGeom>
            <a:solidFill>
              <a:sysClr val="window" lastClr="FFFFFF"/>
            </a:solidFill>
            <a:ln w="12700" cap="flat" cmpd="sng" algn="ctr">
              <a:noFill/>
              <a:prstDash val="solid"/>
              <a:miter lim="800000"/>
            </a:ln>
            <a:effectLst/>
            <a:extLst>
              <a:ext uri="{91240B29-F687-4F45-9708-019B960494DF}">
                <a14:hiddenLine xmlns:a14="http://schemas.microsoft.com/office/drawing/2010/main" w="12700">
                  <a:solidFill>
                    <a:srgbClr val="1F74AD">
                      <a:shade val="50000"/>
                    </a:srgbClr>
                  </a:solidFill>
                  <a:prstDash val="solid"/>
                  <a:miter lim="800000"/>
                  <a:headEnd/>
                  <a:tailEnd/>
                </a14:hiddenLine>
              </a:ext>
            </a:extLst>
          </p:spPr>
          <p:style>
            <a:lnRef idx="2">
              <a:srgbClr val="1F74AD">
                <a:shade val="50000"/>
              </a:srgbClr>
            </a:lnRef>
            <a:fillRef idx="1">
              <a:srgbClr val="1F74AD"/>
            </a:fillRef>
            <a:effectRef idx="0">
              <a:srgbClr val="1F74AD"/>
            </a:effectRef>
            <a:fontRef idx="minor">
              <a:sysClr val="window" lastClr="FFFFFF"/>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pitchFamily="34" charset="-122"/>
                  <a:cs typeface="+mn-ea"/>
                </a:defRPr>
              </a:lvl9pPr>
            </a:lstStyle>
            <a:p>
              <a:pPr algn="ctr">
                <a:lnSpc>
                  <a:spcPct val="120000"/>
                </a:lnSpc>
              </a:pPr>
              <a:endParaRPr lang="zh-CN" altLang="en-US" sz="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9" name="任意多边形 128"/>
            <p:cNvSpPr/>
            <p:nvPr>
              <p:custDataLst>
                <p:tags r:id="rId15"/>
              </p:custDataLst>
            </p:nvPr>
          </p:nvSpPr>
          <p:spPr>
            <a:xfrm>
              <a:off x="4459255" y="3102697"/>
              <a:ext cx="194383" cy="205073"/>
            </a:xfrm>
            <a:custGeom>
              <a:avLst/>
              <a:gdLst/>
              <a:ahLst/>
              <a:cxnLst/>
              <a:rect l="0" t="0" r="0" b="0"/>
              <a:pathLst>
                <a:path w="3817609" h="4027563">
                  <a:moveTo>
                    <a:pt x="2562891" y="980838"/>
                  </a:moveTo>
                  <a:lnTo>
                    <a:pt x="3534404" y="980838"/>
                  </a:lnTo>
                  <a:cubicBezTo>
                    <a:pt x="3631238" y="980780"/>
                    <a:pt x="3720741" y="1032407"/>
                    <a:pt x="3769174" y="1116258"/>
                  </a:cubicBezTo>
                  <a:cubicBezTo>
                    <a:pt x="3817608" y="1200109"/>
                    <a:pt x="3817608" y="1303434"/>
                    <a:pt x="3769174" y="1387285"/>
                  </a:cubicBezTo>
                  <a:cubicBezTo>
                    <a:pt x="3720741" y="1471135"/>
                    <a:pt x="3631238" y="1522762"/>
                    <a:pt x="3534404" y="1522705"/>
                  </a:cubicBezTo>
                  <a:lnTo>
                    <a:pt x="2179737" y="1522705"/>
                  </a:lnTo>
                  <a:lnTo>
                    <a:pt x="2179737" y="2064572"/>
                  </a:lnTo>
                  <a:lnTo>
                    <a:pt x="3534404" y="2064572"/>
                  </a:lnTo>
                  <a:cubicBezTo>
                    <a:pt x="3684037" y="2064572"/>
                    <a:pt x="3805338" y="2185873"/>
                    <a:pt x="3805338" y="2335505"/>
                  </a:cubicBezTo>
                  <a:cubicBezTo>
                    <a:pt x="3805338" y="2485137"/>
                    <a:pt x="3684037" y="2606439"/>
                    <a:pt x="3534404" y="2606439"/>
                  </a:cubicBezTo>
                  <a:lnTo>
                    <a:pt x="2179737" y="2606439"/>
                  </a:lnTo>
                  <a:lnTo>
                    <a:pt x="2179737" y="3744358"/>
                  </a:lnTo>
                  <a:cubicBezTo>
                    <a:pt x="2179795" y="3841192"/>
                    <a:pt x="2128168" y="3930695"/>
                    <a:pt x="2044317" y="3979128"/>
                  </a:cubicBezTo>
                  <a:cubicBezTo>
                    <a:pt x="1960467" y="4027562"/>
                    <a:pt x="1857141" y="4027562"/>
                    <a:pt x="1773291" y="3979128"/>
                  </a:cubicBezTo>
                  <a:cubicBezTo>
                    <a:pt x="1689440" y="3930695"/>
                    <a:pt x="1637813" y="3841192"/>
                    <a:pt x="1637871" y="3744358"/>
                  </a:cubicBezTo>
                  <a:lnTo>
                    <a:pt x="1637871" y="2606439"/>
                  </a:lnTo>
                  <a:lnTo>
                    <a:pt x="283204" y="2606439"/>
                  </a:lnTo>
                  <a:cubicBezTo>
                    <a:pt x="133572" y="2606439"/>
                    <a:pt x="12271" y="2485137"/>
                    <a:pt x="12271" y="2335505"/>
                  </a:cubicBezTo>
                  <a:cubicBezTo>
                    <a:pt x="12271" y="2185872"/>
                    <a:pt x="133572" y="2064572"/>
                    <a:pt x="283204" y="2064572"/>
                  </a:cubicBezTo>
                  <a:lnTo>
                    <a:pt x="1637871" y="2064572"/>
                  </a:lnTo>
                  <a:lnTo>
                    <a:pt x="1637871" y="1522705"/>
                  </a:lnTo>
                  <a:lnTo>
                    <a:pt x="283204" y="1522705"/>
                  </a:lnTo>
                  <a:cubicBezTo>
                    <a:pt x="186370" y="1522763"/>
                    <a:pt x="96867" y="1471136"/>
                    <a:pt x="48434" y="1387285"/>
                  </a:cubicBezTo>
                  <a:cubicBezTo>
                    <a:pt x="0" y="1303434"/>
                    <a:pt x="0" y="1200109"/>
                    <a:pt x="48434" y="1116259"/>
                  </a:cubicBezTo>
                  <a:cubicBezTo>
                    <a:pt x="96867" y="1032408"/>
                    <a:pt x="186370" y="980781"/>
                    <a:pt x="283204" y="980839"/>
                  </a:cubicBezTo>
                  <a:lnTo>
                    <a:pt x="1238352" y="980839"/>
                  </a:lnTo>
                  <a:lnTo>
                    <a:pt x="745741" y="488173"/>
                  </a:lnTo>
                  <a:cubicBezTo>
                    <a:pt x="640742" y="382231"/>
                    <a:pt x="641124" y="211346"/>
                    <a:pt x="746595" y="105874"/>
                  </a:cubicBezTo>
                  <a:cubicBezTo>
                    <a:pt x="852067" y="402"/>
                    <a:pt x="1022953" y="20"/>
                    <a:pt x="1128895" y="105020"/>
                  </a:cubicBezTo>
                  <a:lnTo>
                    <a:pt x="1900622" y="876800"/>
                  </a:lnTo>
                  <a:lnTo>
                    <a:pt x="2672402" y="105020"/>
                  </a:lnTo>
                  <a:cubicBezTo>
                    <a:pt x="2778341" y="0"/>
                    <a:pt x="2949244" y="372"/>
                    <a:pt x="3054724" y="105852"/>
                  </a:cubicBezTo>
                  <a:cubicBezTo>
                    <a:pt x="3160204" y="211332"/>
                    <a:pt x="3160576" y="382234"/>
                    <a:pt x="3055556" y="488173"/>
                  </a:cubicBezTo>
                  <a:close/>
                </a:path>
              </a:pathLst>
            </a:custGeom>
            <a:solidFill>
              <a:sysClr val="window" lastClr="FFFFFF"/>
            </a:solidFill>
            <a:ln w="12700" cap="flat" cmpd="sng" algn="ctr">
              <a:noFill/>
              <a:prstDash val="solid"/>
              <a:miter lim="800000"/>
            </a:ln>
            <a:effectLst/>
            <a:extLst>
              <a:ext uri="{91240B29-F687-4F45-9708-019B960494DF}">
                <a14:hiddenLine xmlns:a14="http://schemas.microsoft.com/office/drawing/2010/main" w="12700">
                  <a:solidFill>
                    <a:srgbClr val="1F74AD">
                      <a:shade val="50000"/>
                    </a:srgbClr>
                  </a:solidFill>
                  <a:prstDash val="solid"/>
                  <a:miter lim="800000"/>
                  <a:headEnd/>
                  <a:tailEnd/>
                </a14:hiddenLine>
              </a:ext>
            </a:extLst>
          </p:spPr>
          <p:style>
            <a:lnRef idx="2">
              <a:srgbClr val="1F74AD">
                <a:shade val="50000"/>
              </a:srgbClr>
            </a:lnRef>
            <a:fillRef idx="1">
              <a:srgbClr val="1F74AD"/>
            </a:fillRef>
            <a:effectRef idx="0">
              <a:srgbClr val="1F74AD"/>
            </a:effectRef>
            <a:fontRef idx="minor">
              <a:sysClr val="window" lastClr="FFFFFF"/>
            </a:fontRef>
          </p:style>
          <p:txBody>
            <a:bodyPr rtlCol="0" anchor="ctr"/>
            <a:lstStyle/>
            <a:p>
              <a:pPr algn="ctr">
                <a:lnSpc>
                  <a:spcPct val="120000"/>
                </a:lnSpc>
              </a:pPr>
              <a:endParaRPr lang="zh-CN" altLang="en-US" sz="1200">
                <a:latin typeface="微软雅黑" panose="020B0503020204020204" pitchFamily="34" charset="-122"/>
                <a:ea typeface="微软雅黑" panose="020B0503020204020204" pitchFamily="34" charset="-122"/>
                <a:cs typeface="苹方-简" panose="020B0400000000000000" pitchFamily="2" charset="-120"/>
              </a:endParaRPr>
            </a:p>
          </p:txBody>
        </p:sp>
      </p:grpSp>
      <p:sp>
        <p:nvSpPr>
          <p:cNvPr id="130" name="形状"/>
          <p:cNvSpPr/>
          <p:nvPr>
            <p:custDataLst>
              <p:tags r:id="rId16"/>
            </p:custDataLst>
          </p:nvPr>
        </p:nvSpPr>
        <p:spPr>
          <a:xfrm>
            <a:off x="8837419" y="3902547"/>
            <a:ext cx="308784" cy="280713"/>
          </a:xfrm>
          <a:custGeom>
            <a:avLst/>
            <a:gdLst/>
            <a:ahLst/>
            <a:cxnLst>
              <a:cxn ang="0">
                <a:pos x="wd2" y="hd2"/>
              </a:cxn>
              <a:cxn ang="5400000">
                <a:pos x="wd2" y="hd2"/>
              </a:cxn>
              <a:cxn ang="10800000">
                <a:pos x="wd2" y="hd2"/>
              </a:cxn>
              <a:cxn ang="16200000">
                <a:pos x="wd2" y="hd2"/>
              </a:cxn>
            </a:cxnLst>
            <a:rect l="0" t="0" r="r" b="b"/>
            <a:pathLst>
              <a:path w="21600" h="21600" extrusionOk="0">
                <a:moveTo>
                  <a:pt x="3477" y="7346"/>
                </a:moveTo>
                <a:cubicBezTo>
                  <a:pt x="4216" y="6519"/>
                  <a:pt x="5041" y="6957"/>
                  <a:pt x="6171" y="8222"/>
                </a:cubicBezTo>
                <a:cubicBezTo>
                  <a:pt x="6563" y="8659"/>
                  <a:pt x="6563" y="8222"/>
                  <a:pt x="6563" y="8222"/>
                </a:cubicBezTo>
                <a:cubicBezTo>
                  <a:pt x="6954" y="8222"/>
                  <a:pt x="8084" y="6519"/>
                  <a:pt x="8475" y="6519"/>
                </a:cubicBezTo>
                <a:cubicBezTo>
                  <a:pt x="8475" y="6519"/>
                  <a:pt x="8475" y="6519"/>
                  <a:pt x="8475" y="6081"/>
                </a:cubicBezTo>
                <a:cubicBezTo>
                  <a:pt x="8084" y="6081"/>
                  <a:pt x="7736" y="5643"/>
                  <a:pt x="7736" y="5205"/>
                </a:cubicBezTo>
                <a:cubicBezTo>
                  <a:pt x="5780" y="2189"/>
                  <a:pt x="13082" y="486"/>
                  <a:pt x="11952" y="486"/>
                </a:cubicBezTo>
                <a:cubicBezTo>
                  <a:pt x="11169" y="0"/>
                  <a:pt x="8866" y="0"/>
                  <a:pt x="8475" y="0"/>
                </a:cubicBezTo>
                <a:cubicBezTo>
                  <a:pt x="7345" y="486"/>
                  <a:pt x="5433" y="1751"/>
                  <a:pt x="4650" y="2627"/>
                </a:cubicBezTo>
                <a:cubicBezTo>
                  <a:pt x="3477" y="3503"/>
                  <a:pt x="3129" y="3941"/>
                  <a:pt x="3129" y="3941"/>
                </a:cubicBezTo>
                <a:cubicBezTo>
                  <a:pt x="2695" y="4330"/>
                  <a:pt x="3129" y="5205"/>
                  <a:pt x="2303" y="5643"/>
                </a:cubicBezTo>
                <a:cubicBezTo>
                  <a:pt x="1565" y="6081"/>
                  <a:pt x="1173" y="5643"/>
                  <a:pt x="782" y="6081"/>
                </a:cubicBezTo>
                <a:cubicBezTo>
                  <a:pt x="782" y="6519"/>
                  <a:pt x="391" y="6519"/>
                  <a:pt x="0" y="6957"/>
                </a:cubicBezTo>
                <a:lnTo>
                  <a:pt x="0" y="7346"/>
                </a:lnTo>
                <a:lnTo>
                  <a:pt x="1565" y="9097"/>
                </a:lnTo>
                <a:cubicBezTo>
                  <a:pt x="1565" y="9535"/>
                  <a:pt x="1912" y="9535"/>
                  <a:pt x="2303" y="9535"/>
                </a:cubicBezTo>
                <a:cubicBezTo>
                  <a:pt x="2303" y="9097"/>
                  <a:pt x="2695" y="8659"/>
                  <a:pt x="3129" y="8659"/>
                </a:cubicBezTo>
                <a:cubicBezTo>
                  <a:pt x="3129" y="8659"/>
                  <a:pt x="3129" y="7346"/>
                  <a:pt x="3477" y="7346"/>
                </a:cubicBezTo>
                <a:close/>
                <a:moveTo>
                  <a:pt x="9648" y="7784"/>
                </a:moveTo>
                <a:cubicBezTo>
                  <a:pt x="9257" y="7784"/>
                  <a:pt x="9257" y="7784"/>
                  <a:pt x="9257" y="7784"/>
                </a:cubicBezTo>
                <a:cubicBezTo>
                  <a:pt x="7736" y="9097"/>
                  <a:pt x="7736" y="9097"/>
                  <a:pt x="7736" y="9097"/>
                </a:cubicBezTo>
                <a:cubicBezTo>
                  <a:pt x="7345" y="9535"/>
                  <a:pt x="7345" y="9535"/>
                  <a:pt x="7345" y="9924"/>
                </a:cubicBezTo>
                <a:cubicBezTo>
                  <a:pt x="16559" y="21162"/>
                  <a:pt x="16559" y="21162"/>
                  <a:pt x="16559" y="21162"/>
                </a:cubicBezTo>
                <a:cubicBezTo>
                  <a:pt x="16559" y="21600"/>
                  <a:pt x="16993" y="21600"/>
                  <a:pt x="17341" y="21162"/>
                </a:cubicBezTo>
                <a:cubicBezTo>
                  <a:pt x="18514" y="20286"/>
                  <a:pt x="18514" y="20286"/>
                  <a:pt x="18514" y="20286"/>
                </a:cubicBezTo>
                <a:cubicBezTo>
                  <a:pt x="18514" y="19849"/>
                  <a:pt x="18514" y="19459"/>
                  <a:pt x="18514" y="19459"/>
                </a:cubicBezTo>
                <a:lnTo>
                  <a:pt x="9648" y="7784"/>
                </a:lnTo>
                <a:close/>
                <a:moveTo>
                  <a:pt x="21600" y="3065"/>
                </a:moveTo>
                <a:cubicBezTo>
                  <a:pt x="21209" y="2189"/>
                  <a:pt x="21209" y="2627"/>
                  <a:pt x="20818" y="2627"/>
                </a:cubicBezTo>
                <a:cubicBezTo>
                  <a:pt x="20818" y="3065"/>
                  <a:pt x="20035" y="3941"/>
                  <a:pt x="20035" y="4330"/>
                </a:cubicBezTo>
                <a:cubicBezTo>
                  <a:pt x="19644" y="5205"/>
                  <a:pt x="18905" y="6081"/>
                  <a:pt x="17732" y="5205"/>
                </a:cubicBezTo>
                <a:cubicBezTo>
                  <a:pt x="16559" y="3941"/>
                  <a:pt x="16993" y="3503"/>
                  <a:pt x="17341" y="3065"/>
                </a:cubicBezTo>
                <a:cubicBezTo>
                  <a:pt x="17341" y="2627"/>
                  <a:pt x="18123" y="1362"/>
                  <a:pt x="18123" y="924"/>
                </a:cubicBezTo>
                <a:cubicBezTo>
                  <a:pt x="18514" y="924"/>
                  <a:pt x="18123" y="486"/>
                  <a:pt x="17732" y="486"/>
                </a:cubicBezTo>
                <a:cubicBezTo>
                  <a:pt x="17341" y="924"/>
                  <a:pt x="15037" y="1751"/>
                  <a:pt x="14646" y="3503"/>
                </a:cubicBezTo>
                <a:cubicBezTo>
                  <a:pt x="14255" y="4768"/>
                  <a:pt x="15037" y="6081"/>
                  <a:pt x="13864" y="7346"/>
                </a:cubicBezTo>
                <a:cubicBezTo>
                  <a:pt x="12343" y="9097"/>
                  <a:pt x="12343" y="9097"/>
                  <a:pt x="12343" y="9097"/>
                </a:cubicBezTo>
                <a:cubicBezTo>
                  <a:pt x="13864" y="11238"/>
                  <a:pt x="13864" y="11238"/>
                  <a:pt x="13864" y="11238"/>
                </a:cubicBezTo>
                <a:cubicBezTo>
                  <a:pt x="15820" y="9097"/>
                  <a:pt x="15820" y="9097"/>
                  <a:pt x="15820" y="9097"/>
                </a:cubicBezTo>
                <a:cubicBezTo>
                  <a:pt x="16167" y="8659"/>
                  <a:pt x="16993" y="8222"/>
                  <a:pt x="17732" y="8659"/>
                </a:cubicBezTo>
                <a:cubicBezTo>
                  <a:pt x="19644" y="9097"/>
                  <a:pt x="20427" y="8222"/>
                  <a:pt x="21209" y="6957"/>
                </a:cubicBezTo>
                <a:cubicBezTo>
                  <a:pt x="21600" y="5643"/>
                  <a:pt x="21600" y="3503"/>
                  <a:pt x="21600" y="3065"/>
                </a:cubicBezTo>
                <a:close/>
                <a:moveTo>
                  <a:pt x="3129" y="19459"/>
                </a:moveTo>
                <a:cubicBezTo>
                  <a:pt x="2695" y="19849"/>
                  <a:pt x="2695" y="20286"/>
                  <a:pt x="3129" y="20286"/>
                </a:cubicBezTo>
                <a:cubicBezTo>
                  <a:pt x="3868" y="21600"/>
                  <a:pt x="3868" y="21600"/>
                  <a:pt x="3868" y="21600"/>
                </a:cubicBezTo>
                <a:cubicBezTo>
                  <a:pt x="4216" y="21600"/>
                  <a:pt x="4650" y="21600"/>
                  <a:pt x="4650" y="21162"/>
                </a:cubicBezTo>
                <a:cubicBezTo>
                  <a:pt x="10039" y="15568"/>
                  <a:pt x="10039" y="15568"/>
                  <a:pt x="10039" y="15568"/>
                </a:cubicBezTo>
                <a:cubicBezTo>
                  <a:pt x="8475" y="13378"/>
                  <a:pt x="8475" y="13378"/>
                  <a:pt x="8475" y="13378"/>
                </a:cubicBezTo>
                <a:lnTo>
                  <a:pt x="3129" y="19459"/>
                </a:lnTo>
                <a:close/>
              </a:path>
            </a:pathLst>
          </a:custGeom>
          <a:solidFill>
            <a:srgbClr val="FFFFFF"/>
          </a:solidFill>
          <a:ln w="12700">
            <a:miter lim="400000"/>
            <a:tailEnd type="triangle"/>
          </a:ln>
        </p:spPr>
        <p:txBody>
          <a:bodyPr lIns="45719" rIns="45719" anchor="ctr"/>
          <a:lstStyle/>
          <a:p>
            <a:pPr defTabSz="1219200" hangingPunct="1">
              <a:lnSpc>
                <a:spcPct val="120000"/>
              </a:lnSpc>
              <a:defRPr sz="1000"/>
            </a:pPr>
            <a:endParaRPr sz="700" kern="1200">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0" name="矩形 19"/>
          <p:cNvSpPr/>
          <p:nvPr/>
        </p:nvSpPr>
        <p:spPr>
          <a:xfrm>
            <a:off x="6973135" y="4727133"/>
            <a:ext cx="1377166" cy="265398"/>
          </a:xfrm>
          <a:prstGeom prst="rect">
            <a:avLst/>
          </a:prstGeom>
          <a:noFill/>
          <a:ln>
            <a:noFill/>
          </a:ln>
          <a:effectLst/>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800"/>
            <a:r>
              <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rPr>
              <a:t>多维度目标管理</a:t>
            </a:r>
            <a:endPar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1" name="矩形 20"/>
          <p:cNvSpPr/>
          <p:nvPr/>
        </p:nvSpPr>
        <p:spPr>
          <a:xfrm>
            <a:off x="3608783" y="4727133"/>
            <a:ext cx="1377166" cy="265398"/>
          </a:xfrm>
          <a:prstGeom prst="rect">
            <a:avLst/>
          </a:prstGeom>
          <a:noFill/>
          <a:ln>
            <a:noFill/>
          </a:ln>
          <a:effectLst/>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800"/>
            <a:r>
              <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rPr>
              <a:t>智能区域管理</a:t>
            </a:r>
            <a:endPar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2" name="矩形 21"/>
          <p:cNvSpPr/>
          <p:nvPr/>
        </p:nvSpPr>
        <p:spPr>
          <a:xfrm>
            <a:off x="5255229" y="4893209"/>
            <a:ext cx="1377166" cy="265398"/>
          </a:xfrm>
          <a:prstGeom prst="rect">
            <a:avLst/>
          </a:prstGeom>
          <a:noFill/>
          <a:ln>
            <a:noFill/>
          </a:ln>
          <a:effectLst/>
          <a:extLst>
            <a:ext uri="{909E8E84-426E-40DD-AFC4-6F175D3DCCD1}">
              <a14:hiddenFill xmlns:a14="http://schemas.microsoft.com/office/drawing/2010/main">
                <a:solidFill>
                  <a:srgbClr val="0070C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800"/>
            <a:r>
              <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rPr>
              <a:t>精准数据分析</a:t>
            </a:r>
            <a:endParaRPr lang="zh-CN" altLang="en-US" sz="1100" b="1" dirty="0">
              <a:solidFill>
                <a:srgbClr val="04419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4" name="弧形 23"/>
          <p:cNvSpPr/>
          <p:nvPr>
            <p:custDataLst>
              <p:tags r:id="rId17"/>
            </p:custDataLst>
          </p:nvPr>
        </p:nvSpPr>
        <p:spPr>
          <a:xfrm rot="10800000">
            <a:off x="4773948" y="3876510"/>
            <a:ext cx="2339730" cy="1400273"/>
          </a:xfrm>
          <a:prstGeom prst="arc">
            <a:avLst>
              <a:gd name="adj1" fmla="val 11771538"/>
              <a:gd name="adj2" fmla="val 20707085"/>
            </a:avLst>
          </a:prstGeom>
          <a:ln w="69850" cap="rnd">
            <a:solidFill>
              <a:sysClr val="window" lastClr="FFFFFF">
                <a:lumMod val="75000"/>
              </a:sysClr>
            </a:solidFill>
            <a:prstDash val="sysDot"/>
            <a:round/>
          </a:ln>
        </p:spPr>
        <p:style>
          <a:lnRef idx="1">
            <a:srgbClr val="1F74AD"/>
          </a:lnRef>
          <a:fillRef idx="0">
            <a:srgbClr val="1F74AD"/>
          </a:fillRef>
          <a:effectRef idx="0">
            <a:srgbClr val="1F74AD"/>
          </a:effectRef>
          <a:fontRef idx="minor">
            <a:srgbClr val="000000"/>
          </a:fontRef>
        </p:style>
        <p:txBody>
          <a:bodyPr anchor="ctr"/>
          <a:lstStyle/>
          <a:p>
            <a:pPr algn="ctr">
              <a:lnSpc>
                <a:spcPct val="130000"/>
              </a:lnSpc>
            </a:pPr>
            <a:endParaRPr sz="1200">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3" name="组合 2"/>
          <p:cNvGrpSpPr/>
          <p:nvPr/>
        </p:nvGrpSpPr>
        <p:grpSpPr>
          <a:xfrm>
            <a:off x="2012956" y="5605824"/>
            <a:ext cx="7822654" cy="350271"/>
            <a:chOff x="2012956" y="5605824"/>
            <a:chExt cx="7822654" cy="350271"/>
          </a:xfrm>
        </p:grpSpPr>
        <p:grpSp>
          <p:nvGrpSpPr>
            <p:cNvPr id="16" name="组合 15"/>
            <p:cNvGrpSpPr/>
            <p:nvPr/>
          </p:nvGrpSpPr>
          <p:grpSpPr>
            <a:xfrm>
              <a:off x="2012956" y="5605824"/>
              <a:ext cx="7822654" cy="343660"/>
              <a:chOff x="1491976" y="5772680"/>
              <a:chExt cx="8845284" cy="447646"/>
            </a:xfrm>
          </p:grpSpPr>
          <p:sp>
            <p:nvSpPr>
              <p:cNvPr id="10" name="箭头: V 形 9"/>
              <p:cNvSpPr/>
              <p:nvPr/>
            </p:nvSpPr>
            <p:spPr>
              <a:xfrm>
                <a:off x="1491976"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7" name="箭头: V 形 106"/>
              <p:cNvSpPr/>
              <p:nvPr/>
            </p:nvSpPr>
            <p:spPr>
              <a:xfrm>
                <a:off x="3673867"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9" name="箭头: V 形 108"/>
              <p:cNvSpPr/>
              <p:nvPr/>
            </p:nvSpPr>
            <p:spPr>
              <a:xfrm>
                <a:off x="5855758"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10" name="箭头: V 形 109"/>
              <p:cNvSpPr/>
              <p:nvPr/>
            </p:nvSpPr>
            <p:spPr>
              <a:xfrm>
                <a:off x="8037648"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11" name="矩形 10"/>
            <p:cNvSpPr/>
            <p:nvPr/>
          </p:nvSpPr>
          <p:spPr>
            <a:xfrm>
              <a:off x="2724256" y="5676185"/>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11" name="矩形 110"/>
            <p:cNvSpPr/>
            <p:nvPr/>
          </p:nvSpPr>
          <p:spPr>
            <a:xfrm>
              <a:off x="4687279" y="5676185"/>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2" name="矩形 111"/>
            <p:cNvSpPr/>
            <p:nvPr/>
          </p:nvSpPr>
          <p:spPr>
            <a:xfrm>
              <a:off x="6577694" y="5676185"/>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3" name="矩形 112"/>
            <p:cNvSpPr/>
            <p:nvPr/>
          </p:nvSpPr>
          <p:spPr>
            <a:xfrm>
              <a:off x="8496319" y="5676185"/>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99" name="图片 98"/>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488840" y="5664164"/>
              <a:ext cx="263949" cy="244886"/>
            </a:xfrm>
            <a:prstGeom prst="rect">
              <a:avLst/>
            </a:prstGeom>
          </p:spPr>
        </p:pic>
        <p:pic>
          <p:nvPicPr>
            <p:cNvPr id="100" name="图片 99"/>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322293" y="5629454"/>
              <a:ext cx="300530" cy="279595"/>
            </a:xfrm>
            <a:prstGeom prst="rect">
              <a:avLst/>
            </a:prstGeom>
          </p:spPr>
        </p:pic>
        <p:pic>
          <p:nvPicPr>
            <p:cNvPr id="101" name="图片 100"/>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444105" y="5676775"/>
              <a:ext cx="244930" cy="225954"/>
            </a:xfrm>
            <a:prstGeom prst="rect">
              <a:avLst/>
            </a:prstGeom>
          </p:spPr>
        </p:pic>
        <p:pic>
          <p:nvPicPr>
            <p:cNvPr id="102" name="图片 101"/>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219251" y="5652835"/>
              <a:ext cx="311095" cy="303260"/>
            </a:xfrm>
            <a:prstGeom prst="rect">
              <a:avLst/>
            </a:prstGeom>
          </p:spPr>
        </p:pic>
      </p:grpSp>
    </p:spTree>
    <p:custDataLst>
      <p:tags r:id="rId22"/>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6"/>
          <p:cNvSpPr txBox="1"/>
          <p:nvPr/>
        </p:nvSpPr>
        <p:spPr>
          <a:xfrm>
            <a:off x="1681553" y="2296259"/>
            <a:ext cx="8940268" cy="1569660"/>
          </a:xfrm>
          <a:prstGeom prst="rect">
            <a:avLst/>
          </a:prstGeom>
          <a:noFill/>
        </p:spPr>
        <p:txBody>
          <a:bodyPr wrap="none" rtlCol="0">
            <a:spAutoFit/>
          </a:bodyPr>
          <a:lstStyle/>
          <a:p>
            <a:r>
              <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rPr>
              <a:t>Leads-To-Cash</a:t>
            </a:r>
            <a:endPar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81" name="组合 80"/>
          <p:cNvGrpSpPr/>
          <p:nvPr/>
        </p:nvGrpSpPr>
        <p:grpSpPr>
          <a:xfrm>
            <a:off x="1663431" y="39273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8" name="箭头: V 形 9"/>
              <p:cNvSpPr/>
              <p:nvPr/>
            </p:nvSpPr>
            <p:spPr>
              <a:xfrm>
                <a:off x="1479302" y="5772680"/>
                <a:ext cx="2299612"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1"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5" name="图片 9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6" name="图片 9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7" name="图片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2" name="组合 101"/>
          <p:cNvGrpSpPr/>
          <p:nvPr/>
        </p:nvGrpSpPr>
        <p:grpSpPr>
          <a:xfrm>
            <a:off x="1949877" y="3653786"/>
            <a:ext cx="8200250" cy="230832"/>
            <a:chOff x="2043564" y="4067093"/>
            <a:chExt cx="8200250" cy="230832"/>
          </a:xfrm>
        </p:grpSpPr>
        <p:sp>
          <p:nvSpPr>
            <p:cNvPr id="103" name="矩形 102"/>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315546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1" name="矩形 110"/>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2" name="直接连接符 111"/>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67531" y="355669"/>
            <a:ext cx="9410436" cy="440905"/>
          </a:xfrm>
        </p:spPr>
        <p:txBody>
          <a:bodyPr>
            <a:noAutofit/>
          </a:bodyPr>
          <a:lstStyle/>
          <a:p>
            <a:pPr>
              <a:lnSpc>
                <a:spcPct val="100000"/>
              </a:lnSpc>
            </a:pP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多维度目标管理</a:t>
            </a:r>
            <a:r>
              <a:rPr lang="en-US" altLang="zh-CN"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清晰的目标设定与进度追踪，确保业绩的顺利达成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7"/>
          <p:cNvSpPr txBox="1"/>
          <p:nvPr/>
        </p:nvSpPr>
        <p:spPr>
          <a:xfrm>
            <a:off x="1818985" y="1353990"/>
            <a:ext cx="2638715" cy="523220"/>
          </a:xfrm>
          <a:prstGeom prst="rect">
            <a:avLst/>
          </a:prstGeom>
          <a:noFill/>
        </p:spPr>
        <p:txBody>
          <a:bodyPr wrap="square" numCol="1" spcCol="0" rtlCol="0" anchor="ctr">
            <a:spAutoFit/>
          </a:bodyPr>
          <a:lstStyle/>
          <a:p>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多维度目标</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合理</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设定</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及分解，确保业绩达成</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 name="TextBox 18"/>
          <p:cNvSpPr txBox="1"/>
          <p:nvPr/>
        </p:nvSpPr>
        <p:spPr>
          <a:xfrm>
            <a:off x="1818985" y="1901369"/>
            <a:ext cx="2718572" cy="923330"/>
          </a:xfrm>
          <a:prstGeom prst="rect">
            <a:avLst/>
          </a:prstGeom>
          <a:noFill/>
        </p:spPr>
        <p:txBody>
          <a:bodyPr wrap="square" numCol="1" spcCol="0" rtlCol="0" anchor="ctr">
            <a:spAutoFit/>
          </a:bodyPr>
          <a:lstStyle/>
          <a:p>
            <a:pPr defTabSz="914400" hangingPunct="1">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根据业务特点结合历史业绩数据分析，通过多维度（区域、时间、产品线、团队、行业等）进行合理的目标设置及分解。清晰掌握业绩增长点和目标达成的路径，确保业绩完成。</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4" name="TextBox 17"/>
          <p:cNvSpPr txBox="1"/>
          <p:nvPr/>
        </p:nvSpPr>
        <p:spPr>
          <a:xfrm>
            <a:off x="5639251" y="1316282"/>
            <a:ext cx="2463537" cy="523220"/>
          </a:xfrm>
          <a:prstGeom prst="rect">
            <a:avLst/>
          </a:prstGeom>
          <a:noFill/>
        </p:spPr>
        <p:txBody>
          <a:bodyPr wrap="square" numCol="1" spcCol="0" rtlCol="0" anchor="ctr">
            <a:spAutoFit/>
          </a:bodyPr>
          <a:lstStyle/>
          <a:p>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目标进度</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可视化</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跟踪</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，实时了解业务进展</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2" name="TextBox 18"/>
          <p:cNvSpPr txBox="1"/>
          <p:nvPr/>
        </p:nvSpPr>
        <p:spPr>
          <a:xfrm>
            <a:off x="5639251" y="1901369"/>
            <a:ext cx="2559559" cy="715581"/>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随时随地追踪监控多个维度的目标进展，全面直观的掌握销售（团队、个人）目标完成情况，及时发现问题，调整策略，为团队</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23" name="Graphic 21" descr="Trophy"/>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12592" y="1355491"/>
            <a:ext cx="460587" cy="460587"/>
          </a:xfrm>
          <a:prstGeom prst="rect">
            <a:avLst/>
          </a:prstGeom>
        </p:spPr>
      </p:pic>
      <p:pic>
        <p:nvPicPr>
          <p:cNvPr id="24" name="Graphic 23" descr="Network"/>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7224" y="1264051"/>
            <a:ext cx="552027" cy="552027"/>
          </a:xfrm>
          <a:prstGeom prst="rect">
            <a:avLst/>
          </a:prstGeom>
        </p:spPr>
      </p:pic>
      <p:grpSp>
        <p:nvGrpSpPr>
          <p:cNvPr id="10" name="组合 9"/>
          <p:cNvGrpSpPr/>
          <p:nvPr/>
        </p:nvGrpSpPr>
        <p:grpSpPr>
          <a:xfrm>
            <a:off x="9013386" y="1768654"/>
            <a:ext cx="1679584" cy="3362802"/>
            <a:chOff x="9151622" y="1114902"/>
            <a:chExt cx="1949457" cy="3903133"/>
          </a:xfrm>
        </p:grpSpPr>
        <p:pic>
          <p:nvPicPr>
            <p:cNvPr id="70" name="图片 69" descr="销售目标管理"/>
            <p:cNvPicPr>
              <a:picLocks noChangeAspect="1"/>
            </p:cNvPicPr>
            <p:nvPr/>
          </p:nvPicPr>
          <p:blipFill>
            <a:blip r:embed="rId5"/>
            <a:stretch>
              <a:fillRect/>
            </a:stretch>
          </p:blipFill>
          <p:spPr>
            <a:xfrm>
              <a:off x="9299372" y="1114902"/>
              <a:ext cx="1801707" cy="3903133"/>
            </a:xfrm>
            <a:prstGeom prst="rect">
              <a:avLst/>
            </a:prstGeom>
            <a:effectLst>
              <a:outerShdw blurRad="457200" dist="88900" dir="5400000" algn="t" rotWithShape="0">
                <a:prstClr val="black">
                  <a:alpha val="33000"/>
                </a:prstClr>
              </a:outerShdw>
            </a:effectLst>
          </p:spPr>
        </p:pic>
        <p:grpSp>
          <p:nvGrpSpPr>
            <p:cNvPr id="71" name="Group 16"/>
            <p:cNvGrpSpPr/>
            <p:nvPr/>
          </p:nvGrpSpPr>
          <p:grpSpPr>
            <a:xfrm>
              <a:off x="9151622" y="1114902"/>
              <a:ext cx="980648" cy="555158"/>
              <a:chOff x="3314903" y="965753"/>
              <a:chExt cx="1188520" cy="614454"/>
            </a:xfrm>
          </p:grpSpPr>
          <p:sp>
            <p:nvSpPr>
              <p:cNvPr id="72"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73" name="文本框 30"/>
              <p:cNvSpPr txBox="1"/>
              <p:nvPr/>
            </p:nvSpPr>
            <p:spPr>
              <a:xfrm rot="19199977">
                <a:off x="3314903" y="990881"/>
                <a:ext cx="1188520" cy="257000"/>
              </a:xfrm>
              <a:prstGeom prst="rect">
                <a:avLst/>
              </a:prstGeom>
              <a:noFill/>
            </p:spPr>
            <p:txBody>
              <a:bodyPr wrap="square" rtlCol="0">
                <a:spAutoFit/>
              </a:bodyPr>
              <a:lstStyle/>
              <a:p>
                <a:r>
                  <a:rPr lang="zh-CN" altLang="en-US" sz="7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目标完成率</a:t>
                </a:r>
                <a:endParaRPr lang="zh-CN" altLang="en-US" sz="7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nvGrpSpPr>
          <p:cNvPr id="74" name="组合 73"/>
          <p:cNvGrpSpPr/>
          <p:nvPr/>
        </p:nvGrpSpPr>
        <p:grpSpPr>
          <a:xfrm>
            <a:off x="1663431" y="5794289"/>
            <a:ext cx="8882272" cy="343660"/>
            <a:chOff x="1757118" y="4324905"/>
            <a:chExt cx="8882272" cy="343660"/>
          </a:xfrm>
        </p:grpSpPr>
        <p:grpSp>
          <p:nvGrpSpPr>
            <p:cNvPr id="75" name="组合 74"/>
            <p:cNvGrpSpPr/>
            <p:nvPr/>
          </p:nvGrpSpPr>
          <p:grpSpPr>
            <a:xfrm>
              <a:off x="1757118" y="4324905"/>
              <a:ext cx="8882272" cy="343660"/>
              <a:chOff x="1479302" y="5772680"/>
              <a:chExt cx="8864294" cy="447646"/>
            </a:xfrm>
          </p:grpSpPr>
          <p:sp>
            <p:nvSpPr>
              <p:cNvPr id="84" name="箭头: V 形 9"/>
              <p:cNvSpPr/>
              <p:nvPr/>
            </p:nvSpPr>
            <p:spPr>
              <a:xfrm>
                <a:off x="1479302" y="5772680"/>
                <a:ext cx="2299612"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85"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86"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87"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76" name="矩形 75"/>
            <p:cNvSpPr/>
            <p:nvPr/>
          </p:nvSpPr>
          <p:spPr>
            <a:xfrm>
              <a:off x="2662805" y="4383591"/>
              <a:ext cx="954107" cy="246221"/>
            </a:xfrm>
            <a:prstGeom prst="rect">
              <a:avLst/>
            </a:prstGeom>
          </p:spPr>
          <p:txBody>
            <a:bodyPr wrap="none">
              <a:spAutoFit/>
            </a:bodyPr>
            <a:lstStyle/>
            <a:p>
              <a:r>
                <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7" name="矩形 76"/>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8" name="矩形 77"/>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9" name="矩形 78"/>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0" name="图片 7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1" name="图片 8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82" name="图片 8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83" name="图片 8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88" name="组合 87"/>
          <p:cNvGrpSpPr/>
          <p:nvPr/>
        </p:nvGrpSpPr>
        <p:grpSpPr>
          <a:xfrm>
            <a:off x="1949877" y="5520686"/>
            <a:ext cx="8200250" cy="230832"/>
            <a:chOff x="2043564" y="4067093"/>
            <a:chExt cx="8200250" cy="230832"/>
          </a:xfrm>
        </p:grpSpPr>
        <p:sp>
          <p:nvSpPr>
            <p:cNvPr id="89" name="矩形 88"/>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0" name="矩形 89"/>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1" name="矩形 90"/>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2" name="矩形 91"/>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3" name="矩形 92"/>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4" name="矩形 93"/>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5" name="矩形 94"/>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6" name="矩形 95"/>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7" name="矩形 96"/>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98" name="直接连接符 97"/>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1918127" y="555331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592" name="02-01-员工完成详情-默认.png" descr="02-01-员工完成详情-默认.png"/>
          <p:cNvPicPr>
            <a:picLocks noChangeAspect="1"/>
          </p:cNvPicPr>
          <p:nvPr/>
        </p:nvPicPr>
        <p:blipFill>
          <a:blip r:embed="rId10"/>
          <a:stretch>
            <a:fillRect/>
          </a:stretch>
        </p:blipFill>
        <p:spPr>
          <a:xfrm>
            <a:off x="1510665" y="3178810"/>
            <a:ext cx="3335020" cy="1931670"/>
          </a:xfrm>
          <a:prstGeom prst="rect">
            <a:avLst/>
          </a:prstGeom>
          <a:effectLst>
            <a:outerShdw blurRad="457200" dist="88900" dir="5400000" algn="t" rotWithShape="0">
              <a:prstClr val="black">
                <a:alpha val="33000"/>
              </a:prstClr>
            </a:outerShdw>
          </a:effectLst>
        </p:spPr>
      </p:pic>
      <p:pic>
        <p:nvPicPr>
          <p:cNvPr id="3" name="图片 2" descr="多维度目标"/>
          <p:cNvPicPr>
            <a:picLocks noChangeAspect="1"/>
          </p:cNvPicPr>
          <p:nvPr/>
        </p:nvPicPr>
        <p:blipFill>
          <a:blip r:embed="rId11"/>
          <a:stretch>
            <a:fillRect/>
          </a:stretch>
        </p:blipFill>
        <p:spPr>
          <a:xfrm>
            <a:off x="5314950" y="3178810"/>
            <a:ext cx="2843530" cy="1881505"/>
          </a:xfrm>
          <a:prstGeom prst="rect">
            <a:avLst/>
          </a:prstGeom>
          <a:effectLst>
            <a:outerShdw blurRad="457200" dist="88900" dir="5400000" algn="t" rotWithShape="0">
              <a:prstClr val="black">
                <a:alpha val="33000"/>
              </a:prstClr>
            </a:outerShd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61800" y="379728"/>
            <a:ext cx="10266363" cy="676275"/>
          </a:xfrm>
        </p:spPr>
        <p:txBody>
          <a:bodyPr>
            <a:noAutofit/>
          </a:bodyPr>
          <a:lstStyle/>
          <a:p>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Calibri" panose="020F0502020204030204"/>
              </a:rPr>
              <a:t>区域管理</a:t>
            </a:r>
            <a:r>
              <a:rPr lang="en-US" altLang="zh-CN"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Calibri" panose="020F0502020204030204"/>
              </a:rPr>
              <a:t>科学管理销售组织，智能分配销售资源</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Calibri" panose="020F0502020204030204"/>
            </a:endParaRPr>
          </a:p>
        </p:txBody>
      </p:sp>
      <p:sp>
        <p:nvSpPr>
          <p:cNvPr id="14" name="TextBox 17"/>
          <p:cNvSpPr txBox="1"/>
          <p:nvPr/>
        </p:nvSpPr>
        <p:spPr>
          <a:xfrm>
            <a:off x="5554953" y="1432586"/>
            <a:ext cx="2435010" cy="338554"/>
          </a:xfrm>
          <a:prstGeom prst="rect">
            <a:avLst/>
          </a:prstGeom>
          <a:noFill/>
        </p:spPr>
        <p:txBody>
          <a:bodyPr wrap="square" numCol="1" spcCol="0" rtlCol="0" anchor="ctr">
            <a:spAutoFit/>
          </a:bodyPr>
          <a:lstStyle/>
          <a:p>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销售资源均衡分配的洞察</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2" name="TextBox 18"/>
          <p:cNvSpPr txBox="1"/>
          <p:nvPr/>
        </p:nvSpPr>
        <p:spPr>
          <a:xfrm>
            <a:off x="5565586" y="1777673"/>
            <a:ext cx="2375772" cy="400110"/>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直观的资源分配结果，提供区域均衡覆盖的洞察</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24" name="Graphic 23" descr="Network"/>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9330" y="1437490"/>
            <a:ext cx="552027" cy="552027"/>
          </a:xfrm>
          <a:prstGeom prst="rect">
            <a:avLst/>
          </a:prstGeom>
        </p:spPr>
      </p:pic>
      <p:sp>
        <p:nvSpPr>
          <p:cNvPr id="16" name="TextBox 18"/>
          <p:cNvSpPr txBox="1"/>
          <p:nvPr/>
        </p:nvSpPr>
        <p:spPr>
          <a:xfrm>
            <a:off x="8825427" y="1772369"/>
            <a:ext cx="2002736" cy="400110"/>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与目标管理结合，闭环管理区域销售业绩达成</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0" name="Graphic 25" descr="Gear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7086" y="1413743"/>
            <a:ext cx="559647" cy="559647"/>
          </a:xfrm>
          <a:prstGeom prst="rect">
            <a:avLst/>
          </a:prstGeom>
        </p:spPr>
      </p:pic>
      <p:sp>
        <p:nvSpPr>
          <p:cNvPr id="3" name="TextBox 17"/>
          <p:cNvSpPr txBox="1"/>
          <p:nvPr/>
        </p:nvSpPr>
        <p:spPr>
          <a:xfrm>
            <a:off x="2092250" y="1432586"/>
            <a:ext cx="2506421" cy="584775"/>
          </a:xfrm>
          <a:prstGeom prst="rect">
            <a:avLst/>
          </a:prstGeom>
          <a:noFill/>
        </p:spPr>
        <p:txBody>
          <a:bodyPr wrap="square" numCol="1" spcCol="0" rtlCol="0" anchor="ctr">
            <a:spAutoFit/>
          </a:bodyPr>
          <a:lstStyle/>
          <a:p>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销售资源自动</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高效</a:t>
            </a: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分配</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给更匹配的团队</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 name="TextBox 18"/>
          <p:cNvSpPr txBox="1"/>
          <p:nvPr/>
        </p:nvSpPr>
        <p:spPr>
          <a:xfrm>
            <a:off x="2105798" y="2067797"/>
            <a:ext cx="2382807" cy="400110"/>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将销售资源（线索、客户、商机）自动分配给指定团队或个人，及时跟进</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 name="TextBox 17"/>
          <p:cNvSpPr txBox="1"/>
          <p:nvPr/>
        </p:nvSpPr>
        <p:spPr>
          <a:xfrm>
            <a:off x="8786732" y="1432586"/>
            <a:ext cx="3340100" cy="338554"/>
          </a:xfrm>
          <a:prstGeom prst="rect">
            <a:avLst/>
          </a:prstGeom>
          <a:noFill/>
        </p:spPr>
        <p:txBody>
          <a:bodyPr wrap="square" numCol="1" spcCol="0" rtlCol="0" anchor="ctr">
            <a:spAutoFit/>
          </a:bodyPr>
          <a:lstStyle/>
          <a:p>
            <a:r>
              <a:rPr lang="zh-CN" altLang="ja-JP" sz="1600" b="1" dirty="0">
                <a:solidFill>
                  <a:srgbClr val="1C69D4"/>
                </a:solidFill>
                <a:latin typeface="苹方-简" panose="020B0400000000000000" pitchFamily="2" charset="-120"/>
                <a:ea typeface="苹方-简" panose="020B0400000000000000" pitchFamily="2" charset="-120"/>
                <a:cs typeface="苹方-简" panose="020B0400000000000000" pitchFamily="2" charset="-120"/>
              </a:rPr>
              <a:t>销售区域目标管理</a:t>
            </a:r>
            <a:endParaRPr lang="zh-CN" altLang="ja-JP" sz="1600" b="1" dirty="0">
              <a:solidFill>
                <a:srgbClr val="1C69D4"/>
              </a:solidFill>
              <a:latin typeface="苹方-简" panose="020B0400000000000000" pitchFamily="2" charset="-120"/>
              <a:ea typeface="苹方-简" panose="020B0400000000000000" pitchFamily="2" charset="-120"/>
              <a:cs typeface="苹方-简" panose="020B0400000000000000" pitchFamily="2" charset="-120"/>
            </a:endParaRPr>
          </a:p>
        </p:txBody>
      </p:sp>
      <p:pic>
        <p:nvPicPr>
          <p:cNvPr id="5" name="图片 4" descr="fenxi2"/>
          <p:cNvPicPr>
            <a:picLocks noChangeAspect="1"/>
          </p:cNvPicPr>
          <p:nvPr/>
        </p:nvPicPr>
        <p:blipFill>
          <a:blip r:embed="rId5"/>
          <a:stretch>
            <a:fillRect/>
          </a:stretch>
        </p:blipFill>
        <p:spPr>
          <a:xfrm>
            <a:off x="5097753" y="1559221"/>
            <a:ext cx="349673" cy="349673"/>
          </a:xfrm>
          <a:prstGeom prst="rect">
            <a:avLst/>
          </a:prstGeom>
        </p:spPr>
      </p:pic>
      <p:pic>
        <p:nvPicPr>
          <p:cNvPr id="7" name="图片 6" descr="区域管理"/>
          <p:cNvPicPr>
            <a:picLocks noChangeAspect="1"/>
          </p:cNvPicPr>
          <p:nvPr/>
        </p:nvPicPr>
        <p:blipFill>
          <a:blip r:embed="rId6"/>
          <a:stretch>
            <a:fillRect/>
          </a:stretch>
        </p:blipFill>
        <p:spPr>
          <a:xfrm>
            <a:off x="1859196" y="2692829"/>
            <a:ext cx="3571335" cy="2261584"/>
          </a:xfrm>
          <a:prstGeom prst="rect">
            <a:avLst/>
          </a:prstGeom>
          <a:effectLst>
            <a:outerShdw blurRad="457200" dist="88900" dir="5400000" algn="t" rotWithShape="0">
              <a:prstClr val="black">
                <a:alpha val="33000"/>
              </a:prstClr>
            </a:outerShdw>
          </a:effectLst>
        </p:spPr>
      </p:pic>
      <p:pic>
        <p:nvPicPr>
          <p:cNvPr id="2" name="图片 1" descr="销售区域总览"/>
          <p:cNvPicPr>
            <a:picLocks noChangeAspect="1"/>
          </p:cNvPicPr>
          <p:nvPr/>
        </p:nvPicPr>
        <p:blipFill>
          <a:blip r:embed="rId7"/>
          <a:stretch>
            <a:fillRect/>
          </a:stretch>
        </p:blipFill>
        <p:spPr>
          <a:xfrm>
            <a:off x="6222648" y="2712043"/>
            <a:ext cx="4051557" cy="2248365"/>
          </a:xfrm>
          <a:prstGeom prst="rect">
            <a:avLst/>
          </a:prstGeom>
          <a:effectLst>
            <a:outerShdw blurRad="457200" dist="88900" dir="5400000" algn="t" rotWithShape="0">
              <a:prstClr val="black">
                <a:alpha val="33000"/>
              </a:prstClr>
            </a:outerShdw>
          </a:effectLst>
        </p:spPr>
      </p:pic>
      <p:cxnSp>
        <p:nvCxnSpPr>
          <p:cNvPr id="12" name="直接连接符 11"/>
          <p:cNvCxnSpPr/>
          <p:nvPr/>
        </p:nvCxnSpPr>
        <p:spPr>
          <a:xfrm>
            <a:off x="4796367" y="1437490"/>
            <a:ext cx="0" cy="886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8114874" y="1428874"/>
            <a:ext cx="0" cy="8866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1663431" y="5794289"/>
            <a:ext cx="8882272" cy="343660"/>
            <a:chOff x="1757118" y="4324905"/>
            <a:chExt cx="8882272" cy="343660"/>
          </a:xfrm>
        </p:grpSpPr>
        <p:grpSp>
          <p:nvGrpSpPr>
            <p:cNvPr id="80" name="组合 79"/>
            <p:cNvGrpSpPr/>
            <p:nvPr/>
          </p:nvGrpSpPr>
          <p:grpSpPr>
            <a:xfrm>
              <a:off x="1757118" y="4324905"/>
              <a:ext cx="8882272" cy="343660"/>
              <a:chOff x="1479302" y="5772680"/>
              <a:chExt cx="8864294" cy="447646"/>
            </a:xfrm>
          </p:grpSpPr>
          <p:sp>
            <p:nvSpPr>
              <p:cNvPr id="89" name="箭头: V 形 9"/>
              <p:cNvSpPr/>
              <p:nvPr/>
            </p:nvSpPr>
            <p:spPr>
              <a:xfrm>
                <a:off x="1479302" y="5772680"/>
                <a:ext cx="2299612"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0"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1"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2"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1" name="矩形 80"/>
            <p:cNvSpPr/>
            <p:nvPr/>
          </p:nvSpPr>
          <p:spPr>
            <a:xfrm>
              <a:off x="2662805" y="4383591"/>
              <a:ext cx="954107" cy="246221"/>
            </a:xfrm>
            <a:prstGeom prst="rect">
              <a:avLst/>
            </a:prstGeom>
          </p:spPr>
          <p:txBody>
            <a:bodyPr wrap="none">
              <a:spAutoFit/>
            </a:bodyPr>
            <a:lstStyle/>
            <a:p>
              <a:r>
                <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3" name="矩形 82"/>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4" name="矩形 83"/>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5" name="图片 8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6" name="图片 8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87" name="图片 8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88" name="图片 8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3" name="组合 92"/>
          <p:cNvGrpSpPr/>
          <p:nvPr/>
        </p:nvGrpSpPr>
        <p:grpSpPr>
          <a:xfrm>
            <a:off x="1949877" y="5520686"/>
            <a:ext cx="8200250" cy="230832"/>
            <a:chOff x="2043564" y="4067093"/>
            <a:chExt cx="8200250" cy="230832"/>
          </a:xfrm>
        </p:grpSpPr>
        <p:sp>
          <p:nvSpPr>
            <p:cNvPr id="94" name="矩形 93"/>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5" name="矩形 94"/>
            <p:cNvSpPr/>
            <p:nvPr/>
          </p:nvSpPr>
          <p:spPr>
            <a:xfrm>
              <a:off x="315546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6" name="矩形 95"/>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7" name="矩形 96"/>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8" name="矩形 97"/>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9" name="矩形 98"/>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3" name="直接连接符 102"/>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1" name="矩形 110"/>
          <p:cNvSpPr/>
          <p:nvPr/>
        </p:nvSpPr>
        <p:spPr>
          <a:xfrm>
            <a:off x="3042876" y="555331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6"/>
          <p:cNvSpPr txBox="1"/>
          <p:nvPr/>
        </p:nvSpPr>
        <p:spPr>
          <a:xfrm>
            <a:off x="1681553" y="2296259"/>
            <a:ext cx="8940268" cy="1569660"/>
          </a:xfrm>
          <a:prstGeom prst="rect">
            <a:avLst/>
          </a:prstGeom>
          <a:noFill/>
        </p:spPr>
        <p:txBody>
          <a:bodyPr wrap="none" rtlCol="0">
            <a:spAutoFit/>
          </a:bodyPr>
          <a:lstStyle/>
          <a:p>
            <a:r>
              <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rPr>
              <a:t>Leads-To-Cash</a:t>
            </a:r>
            <a:endPar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81" name="组合 80"/>
          <p:cNvGrpSpPr/>
          <p:nvPr/>
        </p:nvGrpSpPr>
        <p:grpSpPr>
          <a:xfrm>
            <a:off x="1663431" y="39273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8"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1"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5" name="图片 9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6" name="图片 9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7" name="图片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2" name="组合 101"/>
          <p:cNvGrpSpPr/>
          <p:nvPr/>
        </p:nvGrpSpPr>
        <p:grpSpPr>
          <a:xfrm>
            <a:off x="1949877" y="3653786"/>
            <a:ext cx="8200250" cy="230832"/>
            <a:chOff x="2043564" y="4067093"/>
            <a:chExt cx="8200250" cy="230832"/>
          </a:xfrm>
        </p:grpSpPr>
        <p:sp>
          <p:nvSpPr>
            <p:cNvPr id="103" name="矩形 102"/>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b="1">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091114"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5909069"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1" name="矩形 110"/>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2" name="直接连接符 111"/>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8"/>
          <p:cNvSpPr txBox="1"/>
          <p:nvPr/>
        </p:nvSpPr>
        <p:spPr>
          <a:xfrm>
            <a:off x="7049383" y="4664257"/>
            <a:ext cx="2603080" cy="336695"/>
          </a:xfrm>
          <a:prstGeom prst="rect">
            <a:avLst/>
          </a:prstGeom>
          <a:noFill/>
        </p:spPr>
        <p:txBody>
          <a:bodyPr wrap="square" numCol="1" spcCol="0" rtlCol="0" anchor="ctr">
            <a:spAutoFit/>
          </a:bodyPr>
          <a:lstStyle/>
          <a:p>
            <a:pPr algn="ctr">
              <a:lnSpc>
                <a:spcPct val="150000"/>
              </a:lnSpc>
            </a:pPr>
            <a:r>
              <a:rPr lang="zh-CN" altLang="ja-JP" sz="1200" dirty="0">
                <a:solidFill>
                  <a:schemeClr val="bg1">
                    <a:lumMod val="50000"/>
                  </a:schemeClr>
                </a:solidFill>
                <a:latin typeface="微软雅黑" panose="020B0503020204020204" pitchFamily="34" charset="-122"/>
                <a:ea typeface="微软雅黑" panose="020B0503020204020204" pitchFamily="34" charset="-122"/>
                <a:cs typeface="苹方-简" panose="020B0400000000000000" pitchFamily="2" charset="-120"/>
              </a:rPr>
              <a:t>市场活动</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苹方-简" panose="020B0400000000000000" pitchFamily="2" charset="-120"/>
              </a:rPr>
              <a:t>ROI</a:t>
            </a: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苹方-简" panose="020B0400000000000000" pitchFamily="2" charset="-120"/>
              </a:rPr>
              <a:t>评估</a:t>
            </a:r>
            <a:endParaRPr lang="zh-CN" altLang="en-US" sz="1200" dirty="0">
              <a:solidFill>
                <a:schemeClr val="bg1">
                  <a:lumMod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3" name="图片 2" descr="营销数据分析"/>
          <p:cNvPicPr>
            <a:picLocks noChangeAspect="1"/>
          </p:cNvPicPr>
          <p:nvPr/>
        </p:nvPicPr>
        <p:blipFill>
          <a:blip r:embed="rId1"/>
          <a:stretch>
            <a:fillRect/>
          </a:stretch>
        </p:blipFill>
        <p:spPr>
          <a:xfrm>
            <a:off x="5445790" y="1421913"/>
            <a:ext cx="5516945" cy="3233822"/>
          </a:xfrm>
          <a:prstGeom prst="rect">
            <a:avLst/>
          </a:prstGeom>
          <a:effectLst>
            <a:outerShdw blurRad="457200" dist="88900" dir="5400000" algn="t" rotWithShape="0">
              <a:prstClr val="black">
                <a:alpha val="33000"/>
              </a:prstClr>
            </a:outerShdw>
          </a:effectLst>
        </p:spPr>
      </p:pic>
      <p:sp>
        <p:nvSpPr>
          <p:cNvPr id="4" name="Title 1"/>
          <p:cNvSpPr>
            <a:spLocks noGrp="1"/>
          </p:cNvSpPr>
          <p:nvPr>
            <p:ph type="title"/>
          </p:nvPr>
        </p:nvSpPr>
        <p:spPr>
          <a:xfrm>
            <a:off x="626381" y="348598"/>
            <a:ext cx="10266363" cy="676275"/>
          </a:xfrm>
        </p:spPr>
        <p:txBody>
          <a:bodyPr>
            <a:noAutofit/>
          </a:bodyPr>
          <a:lstStyle/>
          <a:p>
            <a:pPr>
              <a:lnSpc>
                <a:spcPct val="100000"/>
              </a:lnSpc>
            </a:pP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端到端高效管理</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市场活动  优化</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ROI</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4" name="矩形 73"/>
          <p:cNvSpPr/>
          <p:nvPr/>
        </p:nvSpPr>
        <p:spPr>
          <a:xfrm>
            <a:off x="3358268" y="3968635"/>
            <a:ext cx="1075222" cy="307771"/>
          </a:xfrm>
          <a:prstGeom prst="rect">
            <a:avLst/>
          </a:prstGeom>
          <a:solidFill>
            <a:srgbClr val="FFC000"/>
          </a:solidFill>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0957" tIns="60957" rIns="60957" bIns="60957" numCol="1" spcCol="38100" rtlCol="0" anchor="ctr">
            <a:spAutoFit/>
          </a:bodyPr>
          <a:lstStyle/>
          <a:p>
            <a:pPr algn="ctr" defTabSz="609600"/>
            <a:r>
              <a:rPr lang="zh-CN" altLang="en-US" sz="10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由</a:t>
            </a:r>
            <a:r>
              <a:rPr lang="zh-CN" altLang="en-US" sz="12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量</a:t>
            </a:r>
            <a:r>
              <a:rPr lang="zh-CN" altLang="en-US" sz="10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到</a:t>
            </a:r>
            <a:r>
              <a:rPr lang="zh-CN" altLang="en-US" sz="12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质</a:t>
            </a:r>
            <a:r>
              <a:rPr lang="zh-CN" altLang="en-US" sz="10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rPr>
              <a:t>的评估</a:t>
            </a:r>
            <a:endParaRPr lang="zh-CN" altLang="en-US" sz="1000" b="1" dirty="0">
              <a:solidFill>
                <a:schemeClr val="tx1">
                  <a:lumMod val="65000"/>
                  <a:lumOff val="3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72" name="直接箭头连接符 71"/>
          <p:cNvCxnSpPr>
            <a:endCxn id="24" idx="0"/>
          </p:cNvCxnSpPr>
          <p:nvPr/>
        </p:nvCxnSpPr>
        <p:spPr>
          <a:xfrm>
            <a:off x="1353791" y="2127183"/>
            <a:ext cx="162" cy="648589"/>
          </a:xfrm>
          <a:prstGeom prst="straightConnector1">
            <a:avLst/>
          </a:prstGeom>
          <a:noFill/>
          <a:ln w="12700" cap="flat">
            <a:solidFill>
              <a:schemeClr val="accent1"/>
            </a:solidFill>
            <a:prstDash val="sysDash"/>
            <a:round/>
            <a:tailEnd type="triangle"/>
          </a:ln>
          <a:effectLst/>
        </p:spPr>
        <p:style>
          <a:lnRef idx="0">
            <a:scrgbClr r="0" g="0" b="0"/>
          </a:lnRef>
          <a:fillRef idx="0">
            <a:scrgbClr r="0" g="0" b="0"/>
          </a:fillRef>
          <a:effectRef idx="0">
            <a:scrgbClr r="0" g="0" b="0"/>
          </a:effectRef>
          <a:fontRef idx="none"/>
        </p:style>
      </p:cxnSp>
      <p:sp>
        <p:nvSpPr>
          <p:cNvPr id="18" name="TextBox 17"/>
          <p:cNvSpPr txBox="1"/>
          <p:nvPr/>
        </p:nvSpPr>
        <p:spPr>
          <a:xfrm>
            <a:off x="1587322" y="1667511"/>
            <a:ext cx="3038991" cy="338554"/>
          </a:xfrm>
          <a:prstGeom prst="rect">
            <a:avLst/>
          </a:prstGeom>
          <a:noFill/>
        </p:spPr>
        <p:txBody>
          <a:bodyPr wrap="square" numCol="1" spcCol="0" rtlCol="0" anchor="ctr">
            <a:spAutoFit/>
          </a:bodyPr>
          <a:lstStyle/>
          <a:p>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市场计划与活动管理</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2" name="Graphic 21" descr="Trophy"/>
          <p:cNvPicPr>
            <a:picLocks noChangeAspect="1"/>
          </p:cNvPicPr>
          <p:nvPr/>
        </p:nvPicPr>
        <p:blipFill>
          <a:blip r:embed="rId2"/>
          <a:stretch>
            <a:fillRect/>
          </a:stretch>
        </p:blipFill>
        <p:spPr>
          <a:xfrm>
            <a:off x="1123497" y="1629644"/>
            <a:ext cx="460587" cy="460587"/>
          </a:xfrm>
          <a:prstGeom prst="rect">
            <a:avLst/>
          </a:prstGeom>
        </p:spPr>
      </p:pic>
      <p:pic>
        <p:nvPicPr>
          <p:cNvPr id="24" name="Graphic 23" descr="Network"/>
          <p:cNvPicPr>
            <a:picLocks noChangeAspect="1"/>
          </p:cNvPicPr>
          <p:nvPr/>
        </p:nvPicPr>
        <p:blipFill>
          <a:blip r:embed="rId3"/>
          <a:stretch>
            <a:fillRect/>
          </a:stretch>
        </p:blipFill>
        <p:spPr>
          <a:xfrm>
            <a:off x="1077939" y="2775772"/>
            <a:ext cx="552027" cy="552027"/>
          </a:xfrm>
          <a:prstGeom prst="rect">
            <a:avLst/>
          </a:prstGeom>
        </p:spPr>
      </p:pic>
      <p:sp>
        <p:nvSpPr>
          <p:cNvPr id="6" name="TextBox 18"/>
          <p:cNvSpPr txBox="1"/>
          <p:nvPr/>
        </p:nvSpPr>
        <p:spPr>
          <a:xfrm>
            <a:off x="1671407" y="2034898"/>
            <a:ext cx="3373723" cy="400110"/>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全年市场计划及活动数据沉淀，全景式查看各渠道及不同类型活动线索获取效率</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 name="TextBox 17"/>
          <p:cNvSpPr txBox="1"/>
          <p:nvPr/>
        </p:nvSpPr>
        <p:spPr>
          <a:xfrm>
            <a:off x="1587322" y="2820546"/>
            <a:ext cx="3340100" cy="338554"/>
          </a:xfrm>
          <a:prstGeom prst="rect">
            <a:avLst/>
          </a:prstGeom>
          <a:noFill/>
        </p:spPr>
        <p:txBody>
          <a:bodyPr wrap="square" numCol="1" spcCol="0" rtlCol="0" anchor="ctr">
            <a:spAutoFit/>
          </a:bodyPr>
          <a:lstStyle/>
          <a:p>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多渠道的营销线索导入与分配</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 name="TextBox 18"/>
          <p:cNvSpPr txBox="1"/>
          <p:nvPr/>
        </p:nvSpPr>
        <p:spPr>
          <a:xfrm>
            <a:off x="1671407" y="3124230"/>
            <a:ext cx="3374209" cy="685188"/>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多渠道线索导入、自动查重、清洗，高效整合、科学分配，提高整体的营销效率与营销线索的转化率</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a:p>
            <a:pPr>
              <a:lnSpc>
                <a:spcPct val="150000"/>
              </a:lnSpc>
            </a:pPr>
            <a:endParaRPr lang="zh-CN" altLang="en-US" sz="1400" dirty="0">
              <a:solidFill>
                <a:schemeClr val="bg2"/>
              </a:solidFill>
              <a:latin typeface="微软雅黑" panose="020B0503020204020204" pitchFamily="34" charset="-122"/>
              <a:ea typeface="微软雅黑" panose="020B0503020204020204" pitchFamily="34" charset="-122"/>
              <a:cs typeface="+mn-ea"/>
            </a:endParaRPr>
          </a:p>
        </p:txBody>
      </p:sp>
      <p:sp>
        <p:nvSpPr>
          <p:cNvPr id="10" name="TextBox 17"/>
          <p:cNvSpPr txBox="1"/>
          <p:nvPr/>
        </p:nvSpPr>
        <p:spPr>
          <a:xfrm>
            <a:off x="1587322" y="4022970"/>
            <a:ext cx="1874255" cy="338554"/>
          </a:xfrm>
          <a:prstGeom prst="rect">
            <a:avLst/>
          </a:prstGeom>
          <a:noFill/>
        </p:spPr>
        <p:txBody>
          <a:bodyPr wrap="square" numCol="1" spcCol="0" rtlCol="0" anchor="ctr">
            <a:spAutoFit/>
          </a:bodyPr>
          <a:lstStyle/>
          <a:p>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市场活动</a:t>
            </a:r>
            <a:r>
              <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ROI</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评估</a:t>
            </a:r>
            <a:endPar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 name="TextBox 18"/>
          <p:cNvSpPr txBox="1"/>
          <p:nvPr/>
        </p:nvSpPr>
        <p:spPr>
          <a:xfrm>
            <a:off x="1671407" y="4340060"/>
            <a:ext cx="3272892" cy="400110"/>
          </a:xfrm>
          <a:prstGeom prst="rect">
            <a:avLst/>
          </a:prstGeom>
          <a:noFill/>
        </p:spPr>
        <p:txBody>
          <a:bodyPr wrap="square" numCol="1" spcCol="0" rtlCol="0" anchor="ctr">
            <a:spAutoFit/>
          </a:bodyPr>
          <a:lstStyle/>
          <a:p>
            <a:pPr defTabSz="914400" hangingPunct="1"/>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a:t>
            </a:r>
            <a:r>
              <a:rPr lang="en-US" altLang="zh-CN"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ROI</a:t>
            </a: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，优化整体营销策略，资源投放，构建营销核心竞争力</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 name="图片 1" descr="fenxi2"/>
          <p:cNvPicPr>
            <a:picLocks noChangeAspect="1"/>
          </p:cNvPicPr>
          <p:nvPr/>
        </p:nvPicPr>
        <p:blipFill>
          <a:blip r:embed="rId4"/>
          <a:stretch>
            <a:fillRect/>
          </a:stretch>
        </p:blipFill>
        <p:spPr>
          <a:xfrm>
            <a:off x="1187310" y="4011851"/>
            <a:ext cx="349673" cy="349673"/>
          </a:xfrm>
          <a:prstGeom prst="rect">
            <a:avLst/>
          </a:prstGeom>
        </p:spPr>
      </p:pic>
      <p:cxnSp>
        <p:nvCxnSpPr>
          <p:cNvPr id="42" name="直接箭头连接符 41"/>
          <p:cNvCxnSpPr>
            <a:endCxn id="2" idx="0"/>
          </p:cNvCxnSpPr>
          <p:nvPr/>
        </p:nvCxnSpPr>
        <p:spPr>
          <a:xfrm>
            <a:off x="1357912" y="3191746"/>
            <a:ext cx="4235" cy="820105"/>
          </a:xfrm>
          <a:prstGeom prst="straightConnector1">
            <a:avLst/>
          </a:prstGeom>
          <a:noFill/>
          <a:ln w="12700" cap="flat">
            <a:solidFill>
              <a:schemeClr val="accent1"/>
            </a:solidFill>
            <a:prstDash val="sysDash"/>
            <a:round/>
            <a:tailEnd type="triangle"/>
          </a:ln>
          <a:effectLst/>
        </p:spPr>
        <p:style>
          <a:lnRef idx="0">
            <a:scrgbClr r="0" g="0" b="0"/>
          </a:lnRef>
          <a:fillRef idx="0">
            <a:scrgbClr r="0" g="0" b="0"/>
          </a:fillRef>
          <a:effectRef idx="0">
            <a:scrgbClr r="0" g="0" b="0"/>
          </a:effectRef>
          <a:fontRef idx="none"/>
        </p:style>
      </p:cxnSp>
      <p:grpSp>
        <p:nvGrpSpPr>
          <p:cNvPr id="75" name="组合 74"/>
          <p:cNvGrpSpPr/>
          <p:nvPr/>
        </p:nvGrpSpPr>
        <p:grpSpPr>
          <a:xfrm>
            <a:off x="1663431" y="5794289"/>
            <a:ext cx="8882272" cy="343660"/>
            <a:chOff x="1757118" y="4324905"/>
            <a:chExt cx="8882272" cy="343660"/>
          </a:xfrm>
        </p:grpSpPr>
        <p:grpSp>
          <p:nvGrpSpPr>
            <p:cNvPr id="88" name="组合 87"/>
            <p:cNvGrpSpPr/>
            <p:nvPr/>
          </p:nvGrpSpPr>
          <p:grpSpPr>
            <a:xfrm>
              <a:off x="1757118" y="4324905"/>
              <a:ext cx="8882272" cy="343660"/>
              <a:chOff x="1479302" y="5772680"/>
              <a:chExt cx="8864294" cy="447646"/>
            </a:xfrm>
          </p:grpSpPr>
          <p:sp>
            <p:nvSpPr>
              <p:cNvPr id="97"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8"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9" name="矩形 88"/>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90" name="矩形 89"/>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1" name="矩形 90"/>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2" name="矩形 91"/>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93" name="图片 9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4" name="图片 9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5" name="图片 9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6" name="图片 9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1" name="组合 100"/>
          <p:cNvGrpSpPr/>
          <p:nvPr/>
        </p:nvGrpSpPr>
        <p:grpSpPr>
          <a:xfrm>
            <a:off x="1949877" y="5520686"/>
            <a:ext cx="8200250" cy="230832"/>
            <a:chOff x="2043564" y="4067093"/>
            <a:chExt cx="8200250" cy="230832"/>
          </a:xfrm>
        </p:grpSpPr>
        <p:sp>
          <p:nvSpPr>
            <p:cNvPr id="102" name="矩形 101"/>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b="1">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1" name="直接连接符 110"/>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9" name="矩形 118"/>
          <p:cNvSpPr/>
          <p:nvPr/>
        </p:nvSpPr>
        <p:spPr>
          <a:xfrm>
            <a:off x="3932782" y="555331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1"/>
          <a:srcRect r="15692"/>
          <a:stretch>
            <a:fillRect/>
          </a:stretch>
        </p:blipFill>
        <p:spPr>
          <a:xfrm>
            <a:off x="5389418" y="1701614"/>
            <a:ext cx="4282794" cy="2431934"/>
          </a:xfrm>
          <a:prstGeom prst="rect">
            <a:avLst/>
          </a:prstGeom>
          <a:effectLst>
            <a:outerShdw blurRad="457200" dist="88900" dir="5400000" algn="t" rotWithShape="0">
              <a:prstClr val="black">
                <a:alpha val="33000"/>
              </a:prstClr>
            </a:outerShdw>
          </a:effectLst>
        </p:spPr>
      </p:pic>
      <p:sp>
        <p:nvSpPr>
          <p:cNvPr id="4" name="Title 1"/>
          <p:cNvSpPr>
            <a:spLocks noGrp="1"/>
          </p:cNvSpPr>
          <p:nvPr>
            <p:ph type="title"/>
          </p:nvPr>
        </p:nvSpPr>
        <p:spPr>
          <a:xfrm>
            <a:off x="566256" y="361149"/>
            <a:ext cx="7084503" cy="519574"/>
          </a:xfrm>
        </p:spPr>
        <p:txBody>
          <a:bodyPr>
            <a:noAutofit/>
          </a:bodyPr>
          <a:lstStyle/>
          <a:p>
            <a:r>
              <a:rPr lang="zh-CN" altLang="en-US" sz="2400" b="1" dirty="0">
                <a:solidFill>
                  <a:schemeClr val="tx1">
                    <a:lumMod val="75000"/>
                    <a:lumOff val="25000"/>
                  </a:schemeClr>
                </a:solidFill>
                <a:latin typeface="苹方-简" panose="020B0400000000000000" pitchFamily="2" charset="-120"/>
                <a:ea typeface="苹方-简" panose="020B0400000000000000" pitchFamily="2" charset="-120"/>
                <a:cs typeface="苹方-简" panose="020B0400000000000000" pitchFamily="2" charset="-120"/>
              </a:rPr>
              <a:t>全生命周期的</a:t>
            </a:r>
            <a:r>
              <a:rPr lang="zh-CN" altLang="en-US" sz="2400" b="1" dirty="0">
                <a:solidFill>
                  <a:srgbClr val="1C69D4"/>
                </a:solidFill>
                <a:latin typeface="苹方-简" panose="020B0400000000000000" pitchFamily="2" charset="-120"/>
                <a:ea typeface="苹方-简" panose="020B0400000000000000" pitchFamily="2" charset="-120"/>
                <a:cs typeface="苹方-简" panose="020B0400000000000000" pitchFamily="2" charset="-120"/>
              </a:rPr>
              <a:t>线索管理</a:t>
            </a:r>
            <a:r>
              <a:rPr lang="en-US" altLang="zh-CN" sz="2400" b="1" dirty="0">
                <a:solidFill>
                  <a:schemeClr val="tx1">
                    <a:lumMod val="75000"/>
                    <a:lumOff val="25000"/>
                  </a:schemeClr>
                </a:solidFill>
                <a:latin typeface="苹方-简" panose="020B0400000000000000" pitchFamily="2" charset="-120"/>
                <a:ea typeface="苹方-简" panose="020B0400000000000000" pitchFamily="2" charset="-120"/>
                <a:cs typeface="苹方-简" panose="020B0400000000000000" pitchFamily="2" charset="-120"/>
              </a:rPr>
              <a:t>,</a:t>
            </a:r>
            <a:r>
              <a:rPr lang="zh-CN" altLang="en-US" sz="2400" b="1" dirty="0">
                <a:solidFill>
                  <a:schemeClr val="tx1">
                    <a:lumMod val="75000"/>
                    <a:lumOff val="25000"/>
                  </a:schemeClr>
                </a:solidFill>
                <a:latin typeface="苹方-简" panose="020B0400000000000000" pitchFamily="2" charset="-120"/>
                <a:ea typeface="苹方-简" panose="020B0400000000000000" pitchFamily="2" charset="-120"/>
                <a:cs typeface="苹方-简" panose="020B0400000000000000" pitchFamily="2" charset="-120"/>
              </a:rPr>
              <a:t>提升线索利用率、高效转化</a:t>
            </a:r>
            <a:endParaRPr lang="zh-CN" altLang="en-US" sz="2400" b="1" dirty="0">
              <a:solidFill>
                <a:schemeClr val="tx1">
                  <a:lumMod val="75000"/>
                  <a:lumOff val="25000"/>
                </a:schemeClr>
              </a:solidFill>
              <a:latin typeface="苹方-简" panose="020B0400000000000000" pitchFamily="2" charset="-120"/>
              <a:ea typeface="苹方-简" panose="020B0400000000000000" pitchFamily="2" charset="-120"/>
              <a:cs typeface="苹方-简" panose="020B0400000000000000" pitchFamily="2" charset="-120"/>
            </a:endParaRPr>
          </a:p>
        </p:txBody>
      </p:sp>
      <p:sp>
        <p:nvSpPr>
          <p:cNvPr id="18" name="TextBox 17"/>
          <p:cNvSpPr txBox="1"/>
          <p:nvPr/>
        </p:nvSpPr>
        <p:spPr>
          <a:xfrm>
            <a:off x="1064414" y="1117505"/>
            <a:ext cx="4563532" cy="387029"/>
          </a:xfrm>
          <a:prstGeom prst="rect">
            <a:avLst/>
          </a:prstGeom>
          <a:noFill/>
        </p:spPr>
        <p:txBody>
          <a:bodyPr wrap="square" numCol="1" spcCol="0" rtlCol="0" anchor="ctr">
            <a:spAutoFit/>
          </a:bodyPr>
          <a:lstStyle/>
          <a:p>
            <a:pPr>
              <a:lnSpc>
                <a:spcPct val="150000"/>
              </a:lnSpc>
            </a:pP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线索评估</a:t>
            </a:r>
            <a:r>
              <a:rPr lang="en-US" altLang="zh-CN"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分级机制，快速识别高质量客户</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 name="TextBox 18"/>
          <p:cNvSpPr txBox="1"/>
          <p:nvPr/>
        </p:nvSpPr>
        <p:spPr>
          <a:xfrm>
            <a:off x="1064414" y="1479877"/>
            <a:ext cx="4511888" cy="230832"/>
          </a:xfrm>
          <a:prstGeom prst="rect">
            <a:avLst/>
          </a:prstGeom>
          <a:noFill/>
        </p:spPr>
        <p:txBody>
          <a:bodyPr wrap="square" numCol="1" spcCol="0" rtlCol="0" anchor="ctr">
            <a:spAutoFit/>
          </a:bodyPr>
          <a:lstStyle/>
          <a:p>
            <a:pPr defTabSz="914400" hangingPunct="1"/>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建立科学的线索评估机制，通过打分、分级快速识别高质量客户</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 name="TextBox 17"/>
          <p:cNvSpPr txBox="1"/>
          <p:nvPr/>
        </p:nvSpPr>
        <p:spPr>
          <a:xfrm>
            <a:off x="1030737" y="3067571"/>
            <a:ext cx="3692265" cy="387029"/>
          </a:xfrm>
          <a:prstGeom prst="rect">
            <a:avLst/>
          </a:prstGeom>
          <a:noFill/>
        </p:spPr>
        <p:txBody>
          <a:bodyPr wrap="square" numCol="1" spcCol="0" rtlCol="0" anchor="ctr">
            <a:spAutoFit/>
          </a:bodyPr>
          <a:lstStyle/>
          <a:p>
            <a:pPr>
              <a:lnSpc>
                <a:spcPct val="150000"/>
              </a:lnSpc>
            </a:pP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精细化管理</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线索公海池提升线索</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利用</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率</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 name="TextBox 18"/>
          <p:cNvSpPr txBox="1"/>
          <p:nvPr/>
        </p:nvSpPr>
        <p:spPr>
          <a:xfrm>
            <a:off x="1039048" y="3389658"/>
            <a:ext cx="3822873" cy="715581"/>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根据区域、行业、业务等多维度精细化细分设计公海池，提升领取效率</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通过线索领取规则的制定，使线索得到合理分配、快速响应，加快线索流转，激发销售跟进效率，提升线索资源利用率</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 name="TextBox 17"/>
          <p:cNvSpPr txBox="1"/>
          <p:nvPr/>
        </p:nvSpPr>
        <p:spPr>
          <a:xfrm>
            <a:off x="1002930" y="4599860"/>
            <a:ext cx="3340100" cy="387029"/>
          </a:xfrm>
          <a:prstGeom prst="rect">
            <a:avLst/>
          </a:prstGeom>
          <a:noFill/>
        </p:spPr>
        <p:txBody>
          <a:bodyPr wrap="square" numCol="1" spcCol="0" rtlCol="0" anchor="ctr">
            <a:spAutoFit/>
          </a:bodyPr>
          <a:lstStyle/>
          <a:p>
            <a:pPr>
              <a:lnSpc>
                <a:spcPct val="150000"/>
              </a:lnSpc>
            </a:pP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实时监控线索全生命周期</a:t>
            </a:r>
            <a:endPar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 name="TextBox 18"/>
          <p:cNvSpPr txBox="1"/>
          <p:nvPr/>
        </p:nvSpPr>
        <p:spPr>
          <a:xfrm>
            <a:off x="1002930" y="4938844"/>
            <a:ext cx="4511887" cy="275588"/>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根据线索资源，随时调整团队资源分配</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16" name="Graphic 21" descr="Trophy"/>
          <p:cNvPicPr>
            <a:picLocks noChangeAspect="1"/>
          </p:cNvPicPr>
          <p:nvPr/>
        </p:nvPicPr>
        <p:blipFill>
          <a:blip r:embed="rId2"/>
          <a:stretch>
            <a:fillRect/>
          </a:stretch>
        </p:blipFill>
        <p:spPr>
          <a:xfrm>
            <a:off x="542343" y="1135744"/>
            <a:ext cx="460587" cy="460587"/>
          </a:xfrm>
          <a:prstGeom prst="rect">
            <a:avLst/>
          </a:prstGeom>
        </p:spPr>
      </p:pic>
      <p:pic>
        <p:nvPicPr>
          <p:cNvPr id="17" name="Graphic 23" descr="Network"/>
          <p:cNvPicPr>
            <a:picLocks noChangeAspect="1"/>
          </p:cNvPicPr>
          <p:nvPr/>
        </p:nvPicPr>
        <p:blipFill>
          <a:blip r:embed="rId3">
            <a:duotone>
              <a:prstClr val="black"/>
              <a:schemeClr val="accent5">
                <a:tint val="45000"/>
                <a:satMod val="400000"/>
              </a:schemeClr>
            </a:duotone>
          </a:blip>
          <a:stretch>
            <a:fillRect/>
          </a:stretch>
        </p:blipFill>
        <p:spPr>
          <a:xfrm>
            <a:off x="462946" y="2995120"/>
            <a:ext cx="552027" cy="552027"/>
          </a:xfrm>
          <a:prstGeom prst="rect">
            <a:avLst/>
          </a:prstGeom>
        </p:spPr>
      </p:pic>
      <p:pic>
        <p:nvPicPr>
          <p:cNvPr id="19" name="Graphic 25" descr="Gears"/>
          <p:cNvPicPr>
            <a:picLocks noChangeAspect="1"/>
          </p:cNvPicPr>
          <p:nvPr/>
        </p:nvPicPr>
        <p:blipFill>
          <a:blip r:embed="rId4">
            <a:duotone>
              <a:prstClr val="black"/>
              <a:schemeClr val="accent5">
                <a:tint val="45000"/>
                <a:satMod val="400000"/>
              </a:schemeClr>
            </a:duotone>
          </a:blip>
          <a:stretch>
            <a:fillRect/>
          </a:stretch>
        </p:blipFill>
        <p:spPr>
          <a:xfrm>
            <a:off x="504767" y="4579785"/>
            <a:ext cx="559647" cy="559647"/>
          </a:xfrm>
          <a:prstGeom prst="rect">
            <a:avLst/>
          </a:prstGeom>
        </p:spPr>
      </p:pic>
      <p:grpSp>
        <p:nvGrpSpPr>
          <p:cNvPr id="29" name="组合 28"/>
          <p:cNvGrpSpPr/>
          <p:nvPr/>
        </p:nvGrpSpPr>
        <p:grpSpPr>
          <a:xfrm>
            <a:off x="9783346" y="1681656"/>
            <a:ext cx="1519061" cy="3145461"/>
            <a:chOff x="10149585" y="2380011"/>
            <a:chExt cx="1843057" cy="3816347"/>
          </a:xfrm>
        </p:grpSpPr>
        <p:pic>
          <p:nvPicPr>
            <p:cNvPr id="20" name="图片 19" descr="e1f26437-6971-4758-a323-465a49ae882b"/>
            <p:cNvPicPr>
              <a:picLocks noChangeAspect="1"/>
            </p:cNvPicPr>
            <p:nvPr/>
          </p:nvPicPr>
          <p:blipFill>
            <a:blip r:embed="rId5"/>
            <a:stretch>
              <a:fillRect/>
            </a:stretch>
          </p:blipFill>
          <p:spPr>
            <a:xfrm>
              <a:off x="10236655" y="2392285"/>
              <a:ext cx="1755987" cy="3804073"/>
            </a:xfrm>
            <a:prstGeom prst="rect">
              <a:avLst/>
            </a:prstGeom>
            <a:effectLst>
              <a:outerShdw blurRad="457200" dist="88900" dir="5400000" algn="t" rotWithShape="0">
                <a:prstClr val="black">
                  <a:alpha val="33000"/>
                </a:prstClr>
              </a:outerShdw>
            </a:effectLst>
          </p:spPr>
        </p:pic>
        <p:grpSp>
          <p:nvGrpSpPr>
            <p:cNvPr id="21" name="Group 16"/>
            <p:cNvGrpSpPr/>
            <p:nvPr/>
          </p:nvGrpSpPr>
          <p:grpSpPr>
            <a:xfrm>
              <a:off x="10149585" y="2380011"/>
              <a:ext cx="1068165" cy="590621"/>
              <a:chOff x="3382604" y="959816"/>
              <a:chExt cx="1188520" cy="620391"/>
            </a:xfrm>
          </p:grpSpPr>
          <p:sp>
            <p:nvSpPr>
              <p:cNvPr id="23"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25" name="文本框 30"/>
              <p:cNvSpPr txBox="1"/>
              <p:nvPr/>
            </p:nvSpPr>
            <p:spPr>
              <a:xfrm rot="19433735">
                <a:off x="3382604" y="959816"/>
                <a:ext cx="1188520" cy="274571"/>
              </a:xfrm>
              <a:prstGeom prst="rect">
                <a:avLst/>
              </a:prstGeom>
              <a:noFill/>
            </p:spPr>
            <p:txBody>
              <a:bodyPr wrap="square" rtlCol="0">
                <a:spAutoFit/>
              </a:bodyPr>
              <a:lstStyle/>
              <a:p>
                <a:r>
                  <a:rPr lang="zh-CN" altLang="en-US" sz="8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线索详情</a:t>
                </a:r>
                <a:endPar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nvGrpSpPr>
          <p:cNvPr id="30" name="组合 29"/>
          <p:cNvGrpSpPr/>
          <p:nvPr/>
        </p:nvGrpSpPr>
        <p:grpSpPr>
          <a:xfrm>
            <a:off x="1116934" y="1752663"/>
            <a:ext cx="4284846" cy="1035211"/>
            <a:chOff x="628103" y="1966799"/>
            <a:chExt cx="4284846" cy="1035211"/>
          </a:xfrm>
        </p:grpSpPr>
        <p:sp>
          <p:nvSpPr>
            <p:cNvPr id="3" name="矩形: 圆角 2"/>
            <p:cNvSpPr/>
            <p:nvPr/>
          </p:nvSpPr>
          <p:spPr>
            <a:xfrm>
              <a:off x="723220" y="2039464"/>
              <a:ext cx="836522" cy="3369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2" name="矩形: 圆角 51"/>
            <p:cNvSpPr/>
            <p:nvPr/>
          </p:nvSpPr>
          <p:spPr>
            <a:xfrm>
              <a:off x="1750008" y="2039464"/>
              <a:ext cx="836522" cy="3369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3" name="矩形: 圆角 52"/>
            <p:cNvSpPr/>
            <p:nvPr/>
          </p:nvSpPr>
          <p:spPr>
            <a:xfrm>
              <a:off x="2776796" y="2039464"/>
              <a:ext cx="836522" cy="3369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5" name="矩形: 圆角 54"/>
            <p:cNvSpPr/>
            <p:nvPr/>
          </p:nvSpPr>
          <p:spPr>
            <a:xfrm>
              <a:off x="3803584" y="2039464"/>
              <a:ext cx="836522" cy="3369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箭头: 右 12"/>
            <p:cNvSpPr/>
            <p:nvPr/>
          </p:nvSpPr>
          <p:spPr>
            <a:xfrm>
              <a:off x="1585671" y="2084845"/>
              <a:ext cx="153378" cy="246221"/>
            </a:xfrm>
            <a:prstGeom prst="rightArrow">
              <a:avLst/>
            </a:prstGeom>
            <a:solidFill>
              <a:srgbClr val="45A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6" name="箭头: 右 55"/>
            <p:cNvSpPr/>
            <p:nvPr/>
          </p:nvSpPr>
          <p:spPr>
            <a:xfrm>
              <a:off x="2610266" y="2084845"/>
              <a:ext cx="153378" cy="246221"/>
            </a:xfrm>
            <a:prstGeom prst="rightArrow">
              <a:avLst/>
            </a:prstGeom>
            <a:solidFill>
              <a:srgbClr val="45A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7" name="箭头: 右 56"/>
            <p:cNvSpPr/>
            <p:nvPr/>
          </p:nvSpPr>
          <p:spPr>
            <a:xfrm>
              <a:off x="3634858" y="2084845"/>
              <a:ext cx="153378" cy="246221"/>
            </a:xfrm>
            <a:prstGeom prst="rightArrow">
              <a:avLst/>
            </a:prstGeom>
            <a:solidFill>
              <a:srgbClr val="45AA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矩形 13"/>
            <p:cNvSpPr/>
            <p:nvPr/>
          </p:nvSpPr>
          <p:spPr>
            <a:xfrm>
              <a:off x="783731" y="2024471"/>
              <a:ext cx="697627" cy="369332"/>
            </a:xfrm>
            <a:prstGeom prst="rect">
              <a:avLst/>
            </a:prstGeom>
          </p:spPr>
          <p:txBody>
            <a:bodyPr wrap="none">
              <a:spAutoFit/>
            </a:bodyPr>
            <a:lstStyle/>
            <a:p>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市场人员</a:t>
              </a:r>
              <a:r>
                <a:rPr lang="en-US" altLang="zh-CN"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a:t>
              </a:r>
              <a:endParaRPr lang="en-US" altLang="zh-CN"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销售人员</a:t>
              </a:r>
              <a:endPar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8" name="矩形 57"/>
            <p:cNvSpPr/>
            <p:nvPr/>
          </p:nvSpPr>
          <p:spPr>
            <a:xfrm>
              <a:off x="1840871" y="2032165"/>
              <a:ext cx="697627" cy="369332"/>
            </a:xfrm>
            <a:prstGeom prst="rect">
              <a:avLst/>
            </a:prstGeom>
          </p:spPr>
          <p:txBody>
            <a:bodyPr wrap="none">
              <a:spAutoFit/>
            </a:bodyPr>
            <a:lstStyle/>
            <a:p>
              <a:pPr algn="ctr"/>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销售助理</a:t>
              </a:r>
              <a:r>
                <a:rPr lang="en-US" altLang="zh-CN"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a:t>
              </a:r>
              <a:endParaRPr lang="en-US" altLang="zh-CN"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a:p>
              <a:pPr algn="ctr"/>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内销</a:t>
              </a:r>
              <a:endPar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9" name="矩形 58"/>
            <p:cNvSpPr/>
            <p:nvPr/>
          </p:nvSpPr>
          <p:spPr>
            <a:xfrm>
              <a:off x="2870977" y="2096528"/>
              <a:ext cx="646331" cy="230832"/>
            </a:xfrm>
            <a:prstGeom prst="rect">
              <a:avLst/>
            </a:prstGeom>
          </p:spPr>
          <p:txBody>
            <a:bodyPr wrap="none">
              <a:spAutoFit/>
            </a:bodyPr>
            <a:lstStyle/>
            <a:p>
              <a:pPr algn="ctr"/>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销售代表</a:t>
              </a:r>
              <a:endPar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0" name="矩形 59"/>
            <p:cNvSpPr/>
            <p:nvPr/>
          </p:nvSpPr>
          <p:spPr>
            <a:xfrm>
              <a:off x="3887522" y="2096528"/>
              <a:ext cx="646331" cy="230832"/>
            </a:xfrm>
            <a:prstGeom prst="rect">
              <a:avLst/>
            </a:prstGeom>
          </p:spPr>
          <p:txBody>
            <a:bodyPr wrap="none">
              <a:spAutoFit/>
            </a:bodyPr>
            <a:lstStyle/>
            <a:p>
              <a:pPr algn="ctr"/>
              <a:r>
                <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销售经理</a:t>
              </a:r>
              <a:endParaRPr lang="zh-CN" altLang="en-US" sz="900" b="1"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6" name="矩形 25"/>
            <p:cNvSpPr/>
            <p:nvPr/>
          </p:nvSpPr>
          <p:spPr>
            <a:xfrm>
              <a:off x="628103" y="2417753"/>
              <a:ext cx="1034257" cy="215444"/>
            </a:xfrm>
            <a:prstGeom prst="rect">
              <a:avLst/>
            </a:prstGeom>
          </p:spPr>
          <p:txBody>
            <a:bodyPr wrap="none">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收集信息</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录入线索</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1" name="矩形 60"/>
            <p:cNvSpPr/>
            <p:nvPr/>
          </p:nvSpPr>
          <p:spPr>
            <a:xfrm>
              <a:off x="731608" y="2548025"/>
              <a:ext cx="800219" cy="215444"/>
            </a:xfrm>
            <a:prstGeom prst="rect">
              <a:avLst/>
            </a:prstGeom>
          </p:spPr>
          <p:txBody>
            <a:bodyPr wrap="none">
              <a:spAutoFit/>
            </a:bodyPr>
            <a:lstStyle/>
            <a:p>
              <a:r>
                <a:rPr lang="zh-CN" altLang="en-US" sz="8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（线索查重）</a:t>
              </a:r>
              <a:endParaRPr lang="zh-CN" altLang="en-US" sz="8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2" name="矩形 61"/>
            <p:cNvSpPr/>
            <p:nvPr/>
          </p:nvSpPr>
          <p:spPr>
            <a:xfrm>
              <a:off x="1614518" y="2415499"/>
              <a:ext cx="1116794" cy="584775"/>
            </a:xfrm>
            <a:prstGeom prst="rect">
              <a:avLst/>
            </a:prstGeom>
          </p:spPr>
          <p:txBody>
            <a:bodyPr wrap="square">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识别线索质量，跟进培育线索，将</a:t>
              </a:r>
              <a:r>
                <a:rPr lang="zh-CN" altLang="en-US" sz="8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（线索公海池）</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线索分配给销售代表</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3" name="矩形 62"/>
            <p:cNvSpPr/>
            <p:nvPr/>
          </p:nvSpPr>
          <p:spPr>
            <a:xfrm>
              <a:off x="2635745" y="2417235"/>
              <a:ext cx="1167840" cy="584775"/>
            </a:xfrm>
            <a:prstGeom prst="rect">
              <a:avLst/>
            </a:prstGeom>
          </p:spPr>
          <p:txBody>
            <a:bodyPr wrap="square">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跟进线索 并适时将线索转化为商机或客户</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a:p>
              <a:r>
                <a:rPr lang="zh-CN" altLang="en-US" sz="800"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（未被跟进，逾期线索退回公海池）</a:t>
              </a:r>
              <a:endParaRPr lang="zh-CN" altLang="en-US" sz="800"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4" name="矩形 63"/>
            <p:cNvSpPr/>
            <p:nvPr/>
          </p:nvSpPr>
          <p:spPr>
            <a:xfrm>
              <a:off x="3745109" y="2417753"/>
              <a:ext cx="1167840" cy="338554"/>
            </a:xfrm>
            <a:prstGeom prst="rect">
              <a:avLst/>
            </a:prstGeom>
          </p:spPr>
          <p:txBody>
            <a:bodyPr wrap="square">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对线索转化进行分析，进而规划决策</a:t>
              </a:r>
              <a:endParaRPr lang="zh-CN" altLang="en-US" sz="800"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8" name="矩形: 圆角 27"/>
            <p:cNvSpPr/>
            <p:nvPr/>
          </p:nvSpPr>
          <p:spPr>
            <a:xfrm>
              <a:off x="628103" y="1966799"/>
              <a:ext cx="4094899" cy="1029786"/>
            </a:xfrm>
            <a:prstGeom prst="roundRect">
              <a:avLst>
                <a:gd name="adj" fmla="val 6077"/>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01" name="椭圆 100"/>
          <p:cNvSpPr/>
          <p:nvPr/>
        </p:nvSpPr>
        <p:spPr>
          <a:xfrm>
            <a:off x="5627946" y="4494682"/>
            <a:ext cx="558069" cy="56194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609600"/>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rPr>
              <a:t>快速识别客户</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椭圆 102"/>
          <p:cNvSpPr/>
          <p:nvPr/>
        </p:nvSpPr>
        <p:spPr>
          <a:xfrm>
            <a:off x="6738764" y="4494682"/>
            <a:ext cx="558069" cy="56194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609600"/>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rPr>
              <a:t>线索快速流转</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4" name="直接箭头连接符 103"/>
          <p:cNvCxnSpPr/>
          <p:nvPr/>
        </p:nvCxnSpPr>
        <p:spPr>
          <a:xfrm>
            <a:off x="7357446" y="4775656"/>
            <a:ext cx="411520" cy="0"/>
          </a:xfrm>
          <a:prstGeom prst="straightConnector1">
            <a:avLst/>
          </a:prstGeom>
          <a:noFill/>
          <a:ln w="12700" cap="flat">
            <a:solidFill>
              <a:schemeClr val="accent1"/>
            </a:solidFill>
            <a:prstDash val="sysDash"/>
            <a:round/>
            <a:tailEnd type="triangle"/>
          </a:ln>
          <a:effectLst/>
        </p:spPr>
        <p:style>
          <a:lnRef idx="0">
            <a:scrgbClr r="0" g="0" b="0"/>
          </a:lnRef>
          <a:fillRef idx="0">
            <a:scrgbClr r="0" g="0" b="0"/>
          </a:fillRef>
          <a:effectRef idx="0">
            <a:scrgbClr r="0" g="0" b="0"/>
          </a:effectRef>
          <a:fontRef idx="none"/>
        </p:style>
      </p:cxnSp>
      <p:sp>
        <p:nvSpPr>
          <p:cNvPr id="105" name="椭圆 104"/>
          <p:cNvSpPr/>
          <p:nvPr/>
        </p:nvSpPr>
        <p:spPr>
          <a:xfrm>
            <a:off x="7849582" y="4494682"/>
            <a:ext cx="558069" cy="56194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609600"/>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rPr>
              <a:t>精细化管理</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椭圆 105"/>
          <p:cNvSpPr/>
          <p:nvPr/>
        </p:nvSpPr>
        <p:spPr>
          <a:xfrm>
            <a:off x="8960400" y="4494682"/>
            <a:ext cx="558069" cy="561949"/>
          </a:xfrm>
          <a:prstGeom prst="ellipse">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609600"/>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rPr>
              <a:t>提升转化效率</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8" name="直接箭头连接符 107"/>
          <p:cNvCxnSpPr/>
          <p:nvPr/>
        </p:nvCxnSpPr>
        <p:spPr>
          <a:xfrm>
            <a:off x="8488120" y="4775656"/>
            <a:ext cx="411520" cy="0"/>
          </a:xfrm>
          <a:prstGeom prst="straightConnector1">
            <a:avLst/>
          </a:prstGeom>
          <a:noFill/>
          <a:ln w="12700" cap="flat">
            <a:solidFill>
              <a:schemeClr val="accent1"/>
            </a:solidFill>
            <a:prstDash val="sysDash"/>
            <a:round/>
            <a:tailEnd type="triangle"/>
          </a:ln>
          <a:effectLst/>
        </p:spPr>
        <p:style>
          <a:lnRef idx="0">
            <a:scrgbClr r="0" g="0" b="0"/>
          </a:lnRef>
          <a:fillRef idx="0">
            <a:scrgbClr r="0" g="0" b="0"/>
          </a:fillRef>
          <a:effectRef idx="0">
            <a:scrgbClr r="0" g="0" b="0"/>
          </a:effectRef>
          <a:fontRef idx="none"/>
        </p:style>
      </p:cxnSp>
      <p:cxnSp>
        <p:nvCxnSpPr>
          <p:cNvPr id="109" name="直接箭头连接符 108"/>
          <p:cNvCxnSpPr/>
          <p:nvPr/>
        </p:nvCxnSpPr>
        <p:spPr>
          <a:xfrm>
            <a:off x="6240535" y="4775656"/>
            <a:ext cx="411520" cy="0"/>
          </a:xfrm>
          <a:prstGeom prst="straightConnector1">
            <a:avLst/>
          </a:prstGeom>
          <a:noFill/>
          <a:ln w="12700" cap="flat">
            <a:solidFill>
              <a:schemeClr val="accent1"/>
            </a:solidFill>
            <a:prstDash val="sysDash"/>
            <a:round/>
            <a:tailEnd type="triangle"/>
          </a:ln>
          <a:effectLst/>
        </p:spPr>
        <p:style>
          <a:lnRef idx="0">
            <a:scrgbClr r="0" g="0" b="0"/>
          </a:lnRef>
          <a:fillRef idx="0">
            <a:scrgbClr r="0" g="0" b="0"/>
          </a:fillRef>
          <a:effectRef idx="0">
            <a:scrgbClr r="0" g="0" b="0"/>
          </a:effectRef>
          <a:fontRef idx="none"/>
        </p:style>
      </p:cxnSp>
      <p:grpSp>
        <p:nvGrpSpPr>
          <p:cNvPr id="113" name="组合 112"/>
          <p:cNvGrpSpPr/>
          <p:nvPr/>
        </p:nvGrpSpPr>
        <p:grpSpPr>
          <a:xfrm>
            <a:off x="5833211" y="4948068"/>
            <a:ext cx="3482533" cy="36000"/>
            <a:chOff x="5833211" y="4654076"/>
            <a:chExt cx="3482533" cy="45719"/>
          </a:xfrm>
          <a:solidFill>
            <a:srgbClr val="FFC000"/>
          </a:solidFill>
        </p:grpSpPr>
        <p:sp>
          <p:nvSpPr>
            <p:cNvPr id="38" name="矩形 37"/>
            <p:cNvSpPr/>
            <p:nvPr/>
          </p:nvSpPr>
          <p:spPr>
            <a:xfrm>
              <a:off x="5833211" y="4654076"/>
              <a:ext cx="15262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0" name="矩形 109"/>
            <p:cNvSpPr/>
            <p:nvPr/>
          </p:nvSpPr>
          <p:spPr>
            <a:xfrm>
              <a:off x="6946346" y="4654076"/>
              <a:ext cx="15262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1" name="矩形 110"/>
            <p:cNvSpPr/>
            <p:nvPr/>
          </p:nvSpPr>
          <p:spPr>
            <a:xfrm>
              <a:off x="8052305" y="4654076"/>
              <a:ext cx="15262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2" name="矩形 111"/>
            <p:cNvSpPr/>
            <p:nvPr/>
          </p:nvSpPr>
          <p:spPr>
            <a:xfrm>
              <a:off x="9163123" y="4654076"/>
              <a:ext cx="15262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grpSp>
        <p:nvGrpSpPr>
          <p:cNvPr id="102" name="组合 101"/>
          <p:cNvGrpSpPr/>
          <p:nvPr/>
        </p:nvGrpSpPr>
        <p:grpSpPr>
          <a:xfrm>
            <a:off x="1663431" y="5794289"/>
            <a:ext cx="8882272" cy="343660"/>
            <a:chOff x="1757118" y="4324905"/>
            <a:chExt cx="8882272" cy="343660"/>
          </a:xfrm>
        </p:grpSpPr>
        <p:grpSp>
          <p:nvGrpSpPr>
            <p:cNvPr id="107" name="组合 106"/>
            <p:cNvGrpSpPr/>
            <p:nvPr/>
          </p:nvGrpSpPr>
          <p:grpSpPr>
            <a:xfrm>
              <a:off x="1757118" y="4324905"/>
              <a:ext cx="8882272" cy="343660"/>
              <a:chOff x="1479302" y="5772680"/>
              <a:chExt cx="8864294" cy="447646"/>
            </a:xfrm>
          </p:grpSpPr>
          <p:sp>
            <p:nvSpPr>
              <p:cNvPr id="122"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23"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24"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25"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114" name="矩形 113"/>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115" name="矩形 114"/>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6" name="矩形 115"/>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7" name="矩形 116"/>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118" name="图片 1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119" name="图片 1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120" name="图片 1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121" name="图片 1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26" name="组合 125"/>
          <p:cNvGrpSpPr/>
          <p:nvPr/>
        </p:nvGrpSpPr>
        <p:grpSpPr>
          <a:xfrm>
            <a:off x="1949877" y="5520686"/>
            <a:ext cx="8200250" cy="230832"/>
            <a:chOff x="2043564" y="4067093"/>
            <a:chExt cx="8200250" cy="230832"/>
          </a:xfrm>
        </p:grpSpPr>
        <p:sp>
          <p:nvSpPr>
            <p:cNvPr id="127" name="矩形 126"/>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8" name="矩形 127"/>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29" name="矩形 128"/>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0" name="矩形 129"/>
            <p:cNvSpPr/>
            <p:nvPr/>
          </p:nvSpPr>
          <p:spPr>
            <a:xfrm>
              <a:off x="5091114"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1" name="矩形 130"/>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2" name="矩形 131"/>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3" name="矩形 132"/>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4" name="矩形 133"/>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5" name="矩形 134"/>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36" name="直接连接符 135"/>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44" name="矩形 143"/>
          <p:cNvSpPr/>
          <p:nvPr/>
        </p:nvSpPr>
        <p:spPr>
          <a:xfrm>
            <a:off x="4997427"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62063" y="371199"/>
            <a:ext cx="7130642" cy="676275"/>
          </a:xfrm>
        </p:spPr>
        <p:txBody>
          <a:bodyPr>
            <a:no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360度</a:t>
            </a: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客户管理</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全面掌握客户信息，深入洞悉客户</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8" name="组合 7"/>
          <p:cNvGrpSpPr/>
          <p:nvPr/>
        </p:nvGrpSpPr>
        <p:grpSpPr>
          <a:xfrm>
            <a:off x="9449683" y="1950578"/>
            <a:ext cx="1305029" cy="2768049"/>
            <a:chOff x="9583630" y="1668017"/>
            <a:chExt cx="1892509" cy="4014133"/>
          </a:xfrm>
        </p:grpSpPr>
        <p:pic>
          <p:nvPicPr>
            <p:cNvPr id="37" name="图片 36" descr="客户.png"/>
            <p:cNvPicPr>
              <a:picLocks noChangeAspect="1"/>
            </p:cNvPicPr>
            <p:nvPr/>
          </p:nvPicPr>
          <p:blipFill rotWithShape="1">
            <a:blip r:embed="rId1"/>
            <a:srcRect l="459" t="-1538" r="197" b="-3378"/>
            <a:stretch>
              <a:fillRect/>
            </a:stretch>
          </p:blipFill>
          <p:spPr>
            <a:xfrm>
              <a:off x="9722415" y="1668017"/>
              <a:ext cx="1753724" cy="4014133"/>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9583630" y="1728684"/>
              <a:ext cx="862466" cy="430365"/>
              <a:chOff x="3275681" y="965753"/>
              <a:chExt cx="1188520" cy="614454"/>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433735">
                <a:off x="3275681" y="973644"/>
                <a:ext cx="1188520" cy="382347"/>
              </a:xfrm>
              <a:prstGeom prst="rect">
                <a:avLst/>
              </a:prstGeom>
              <a:noFill/>
            </p:spPr>
            <p:txBody>
              <a:bodyPr wrap="square" rtlCol="0">
                <a:spAutoFit/>
              </a:bodyPr>
              <a:lstStyle/>
              <a:p>
                <a:r>
                  <a:rPr lang="zh-CN" altLang="en-US" sz="6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客户详情</a:t>
                </a:r>
                <a:endParaRPr lang="en-US" altLang="zh-CN" sz="6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nvGrpSpPr>
          <p:cNvPr id="6" name="组合 5"/>
          <p:cNvGrpSpPr/>
          <p:nvPr/>
        </p:nvGrpSpPr>
        <p:grpSpPr>
          <a:xfrm>
            <a:off x="1147948" y="1709409"/>
            <a:ext cx="3933614" cy="2984906"/>
            <a:chOff x="859126" y="2195205"/>
            <a:chExt cx="3933614" cy="2984906"/>
          </a:xfrm>
        </p:grpSpPr>
        <p:sp>
          <p:nvSpPr>
            <p:cNvPr id="5" name="TextBox 17"/>
            <p:cNvSpPr txBox="1"/>
            <p:nvPr/>
          </p:nvSpPr>
          <p:spPr>
            <a:xfrm>
              <a:off x="1429715" y="3359469"/>
              <a:ext cx="3038991"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客户跟进管理</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8"/>
            <p:cNvSpPr txBox="1"/>
            <p:nvPr/>
          </p:nvSpPr>
          <p:spPr>
            <a:xfrm>
              <a:off x="1450012" y="3725101"/>
              <a:ext cx="3127587"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从与客户建立关系到完成交易维护关系，全生命周期的管理客户</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 name="TextBox 17"/>
            <p:cNvSpPr txBox="1"/>
            <p:nvPr/>
          </p:nvSpPr>
          <p:spPr>
            <a:xfrm>
              <a:off x="1411999" y="4521641"/>
              <a:ext cx="3340100" cy="429156"/>
            </a:xfrm>
            <a:prstGeom prst="rect">
              <a:avLst/>
            </a:prstGeom>
            <a:noFill/>
          </p:spPr>
          <p:txBody>
            <a:bodyPr wrap="square" numCol="1" spcCol="0" rtlCol="0" anchor="ctr">
              <a:spAutoFit/>
            </a:bodyPr>
            <a:lstStyle/>
            <a:p>
              <a:pPr>
                <a:lnSpc>
                  <a:spcPct val="150000"/>
                </a:lnSpc>
              </a:pPr>
              <a:r>
                <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mn-ea"/>
                </a:rPr>
                <a:t>360</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mn-ea"/>
                </a:rPr>
                <a:t>度客户视图</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4" name="TextBox 18"/>
            <p:cNvSpPr txBox="1"/>
            <p:nvPr/>
          </p:nvSpPr>
          <p:spPr>
            <a:xfrm>
              <a:off x="1418773" y="4877271"/>
              <a:ext cx="3373967" cy="302840"/>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全面分析客户数据，方便挖掘二次商机</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8" name="Graphic 23" descr="Network"/>
            <p:cNvPicPr>
              <a:picLocks noChangeAspect="1"/>
            </p:cNvPicPr>
            <p:nvPr/>
          </p:nvPicPr>
          <p:blipFill>
            <a:blip r:embed="rId2"/>
            <a:stretch>
              <a:fillRect/>
            </a:stretch>
          </p:blipFill>
          <p:spPr>
            <a:xfrm>
              <a:off x="877688" y="3303877"/>
              <a:ext cx="552027" cy="552027"/>
            </a:xfrm>
            <a:prstGeom prst="rect">
              <a:avLst/>
            </a:prstGeom>
          </p:spPr>
        </p:pic>
        <p:sp>
          <p:nvSpPr>
            <p:cNvPr id="33" name="TextBox 17"/>
            <p:cNvSpPr txBox="1"/>
            <p:nvPr/>
          </p:nvSpPr>
          <p:spPr>
            <a:xfrm>
              <a:off x="1436488" y="2195205"/>
              <a:ext cx="3038991"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客户识别与划分</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34" name="TextBox 18"/>
            <p:cNvSpPr txBox="1"/>
            <p:nvPr/>
          </p:nvSpPr>
          <p:spPr>
            <a:xfrm>
              <a:off x="1450013" y="2585777"/>
              <a:ext cx="3077114"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对客户进行多维度定义：如客户级别、客户行业、客户状态等，全面沉淀客户信息</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35" name="Graphic 21" descr="Trophy"/>
            <p:cNvPicPr>
              <a:picLocks noChangeAspect="1"/>
            </p:cNvPicPr>
            <p:nvPr/>
          </p:nvPicPr>
          <p:blipFill>
            <a:blip r:embed="rId3"/>
            <a:stretch>
              <a:fillRect/>
            </a:stretch>
          </p:blipFill>
          <p:spPr>
            <a:xfrm>
              <a:off x="924254" y="2299966"/>
              <a:ext cx="460587" cy="460587"/>
            </a:xfrm>
            <a:prstGeom prst="rect">
              <a:avLst/>
            </a:prstGeom>
          </p:spPr>
        </p:pic>
        <p:pic>
          <p:nvPicPr>
            <p:cNvPr id="42" name="Graphic 25" descr="Gears"/>
            <p:cNvPicPr>
              <a:picLocks noChangeAspect="1"/>
            </p:cNvPicPr>
            <p:nvPr/>
          </p:nvPicPr>
          <p:blipFill>
            <a:blip r:embed="rId4"/>
            <a:stretch>
              <a:fillRect/>
            </a:stretch>
          </p:blipFill>
          <p:spPr>
            <a:xfrm>
              <a:off x="859126" y="4498728"/>
              <a:ext cx="559647" cy="559647"/>
            </a:xfrm>
            <a:prstGeom prst="rect">
              <a:avLst/>
            </a:prstGeom>
          </p:spPr>
        </p:pic>
      </p:grpSp>
      <p:grpSp>
        <p:nvGrpSpPr>
          <p:cNvPr id="82" name="组合 81"/>
          <p:cNvGrpSpPr/>
          <p:nvPr/>
        </p:nvGrpSpPr>
        <p:grpSpPr>
          <a:xfrm>
            <a:off x="1663431" y="5794289"/>
            <a:ext cx="8882272" cy="343660"/>
            <a:chOff x="1757118" y="4324905"/>
            <a:chExt cx="8882272" cy="343660"/>
          </a:xfrm>
        </p:grpSpPr>
        <p:grpSp>
          <p:nvGrpSpPr>
            <p:cNvPr id="83" name="组合 82"/>
            <p:cNvGrpSpPr/>
            <p:nvPr/>
          </p:nvGrpSpPr>
          <p:grpSpPr>
            <a:xfrm>
              <a:off x="1757118" y="4324905"/>
              <a:ext cx="8882272" cy="343660"/>
              <a:chOff x="1479302" y="5772680"/>
              <a:chExt cx="8864294" cy="447646"/>
            </a:xfrm>
          </p:grpSpPr>
          <p:sp>
            <p:nvSpPr>
              <p:cNvPr id="92"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3"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4"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5"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4" name="矩形 83"/>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5" name="矩形 84"/>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7" name="矩形 86"/>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8" name="图片 8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9" name="图片 8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0" name="图片 8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1" name="图片 9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6" name="组合 95"/>
          <p:cNvGrpSpPr/>
          <p:nvPr/>
        </p:nvGrpSpPr>
        <p:grpSpPr>
          <a:xfrm>
            <a:off x="1949877" y="5520686"/>
            <a:ext cx="8200250" cy="230832"/>
            <a:chOff x="2043564" y="4067093"/>
            <a:chExt cx="8200250" cy="230832"/>
          </a:xfrm>
        </p:grpSpPr>
        <p:sp>
          <p:nvSpPr>
            <p:cNvPr id="97" name="矩形 96"/>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8" name="矩形 97"/>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9" name="矩形 98"/>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5909069"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6" name="直接连接符 105"/>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4" name="矩形 113"/>
          <p:cNvSpPr/>
          <p:nvPr/>
        </p:nvSpPr>
        <p:spPr>
          <a:xfrm>
            <a:off x="5822356"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2" name="图片 1" descr="360客户视图"/>
          <p:cNvPicPr>
            <a:picLocks noChangeAspect="1"/>
          </p:cNvPicPr>
          <p:nvPr/>
        </p:nvPicPr>
        <p:blipFill rotWithShape="1">
          <a:blip r:embed="rId9" cstate="print"/>
          <a:stretch>
            <a:fillRect/>
          </a:stretch>
        </p:blipFill>
        <p:spPr>
          <a:xfrm>
            <a:off x="4824095" y="1950578"/>
            <a:ext cx="4512945" cy="2684145"/>
          </a:xfrm>
          <a:prstGeom prst="rect">
            <a:avLst/>
          </a:prstGeom>
          <a:effectLst>
            <a:outerShdw blurRad="457200" dist="88900" dir="5400000" algn="t" rotWithShape="0">
              <a:prstClr val="black">
                <a:alpha val="33000"/>
              </a:prstClr>
            </a:outerShd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589280" y="377614"/>
            <a:ext cx="10542693" cy="676487"/>
          </a:xfrm>
          <a:prstGeom prst="rect">
            <a:avLst/>
          </a:prstGeom>
        </p:spPr>
        <p:txBody>
          <a:bodyPr>
            <a:noAutofit/>
          </a:bodyPr>
          <a:lstStyle>
            <a:lvl1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hangingPunct="1">
              <a:lnSpc>
                <a:spcPct val="90000"/>
              </a:lnSpc>
              <a:spcBef>
                <a:spcPct val="0"/>
              </a:spcBef>
            </a:pPr>
            <a:r>
              <a:rPr lang="zh-CN" altLang="en-US" kern="1200" dirty="0">
                <a:solidFill>
                  <a:srgbClr val="1C69D4"/>
                </a:solidFill>
                <a:cs typeface="苹方-简" panose="020B0400000000000000" pitchFamily="2" charset="-120"/>
              </a:rPr>
              <a:t>企业图谱与客户智能推荐</a:t>
            </a:r>
            <a:r>
              <a:rPr lang="zh-CN" altLang="en-US" kern="1200" dirty="0">
                <a:solidFill>
                  <a:schemeClr val="tx1">
                    <a:lumMod val="75000"/>
                    <a:lumOff val="25000"/>
                  </a:schemeClr>
                </a:solidFill>
                <a:cs typeface="苹方-简" panose="020B0400000000000000" pitchFamily="2" charset="-120"/>
              </a:rPr>
              <a:t>，快速获取潜在客户，极大提升赢单机率</a:t>
            </a:r>
            <a:endParaRPr lang="zh-CN" altLang="en-US" kern="1200" dirty="0">
              <a:solidFill>
                <a:schemeClr val="tx1">
                  <a:lumMod val="75000"/>
                  <a:lumOff val="25000"/>
                </a:schemeClr>
              </a:solidFill>
              <a:cs typeface="苹方-简" panose="020B0400000000000000" pitchFamily="2" charset="-120"/>
            </a:endParaRPr>
          </a:p>
        </p:txBody>
      </p:sp>
      <p:grpSp>
        <p:nvGrpSpPr>
          <p:cNvPr id="11" name="组合 10"/>
          <p:cNvGrpSpPr/>
          <p:nvPr/>
        </p:nvGrpSpPr>
        <p:grpSpPr>
          <a:xfrm>
            <a:off x="4355527" y="1933318"/>
            <a:ext cx="6698487" cy="2832343"/>
            <a:chOff x="3759964" y="1469251"/>
            <a:chExt cx="7148348" cy="3022559"/>
          </a:xfrm>
        </p:grpSpPr>
        <p:grpSp>
          <p:nvGrpSpPr>
            <p:cNvPr id="7" name="组合 6"/>
            <p:cNvGrpSpPr/>
            <p:nvPr/>
          </p:nvGrpSpPr>
          <p:grpSpPr>
            <a:xfrm>
              <a:off x="9446214" y="1470804"/>
              <a:ext cx="1462098" cy="3021005"/>
              <a:chOff x="8871469" y="1895606"/>
              <a:chExt cx="1677998" cy="3467100"/>
            </a:xfrm>
          </p:grpSpPr>
          <p:pic>
            <p:nvPicPr>
              <p:cNvPr id="14" name="图片 13" descr="无命名"/>
              <p:cNvPicPr>
                <a:picLocks noChangeAspect="1"/>
              </p:cNvPicPr>
              <p:nvPr/>
            </p:nvPicPr>
            <p:blipFill rotWithShape="1">
              <a:blip r:embed="rId1"/>
              <a:srcRect l="1811" t="225" r="865" b="153"/>
              <a:stretch>
                <a:fillRect/>
              </a:stretch>
            </p:blipFill>
            <p:spPr>
              <a:xfrm>
                <a:off x="8987367" y="1895606"/>
                <a:ext cx="1562100" cy="3467100"/>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8871469" y="1895606"/>
                <a:ext cx="888482" cy="512537"/>
                <a:chOff x="3312598" y="965753"/>
                <a:chExt cx="1188520" cy="614454"/>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317497">
                  <a:off x="3312598" y="980380"/>
                  <a:ext cx="1188520" cy="338926"/>
                </a:xfrm>
                <a:prstGeom prst="rect">
                  <a:avLst/>
                </a:prstGeom>
                <a:noFill/>
              </p:spPr>
              <p:txBody>
                <a:bodyPr wrap="square" rtlCol="0">
                  <a:spAutoFit/>
                </a:bodyPr>
                <a:lstStyle/>
                <a:p>
                  <a:r>
                    <a:rPr lang="zh-CN" altLang="en-US" sz="900" b="1" dirty="0">
                      <a:latin typeface="微软雅黑" panose="020B0503020204020204" pitchFamily="34" charset="-122"/>
                      <a:ea typeface="微软雅黑" panose="020B0503020204020204" pitchFamily="34" charset="-122"/>
                      <a:cs typeface="苹方-简" panose="020B0400000000000000" pitchFamily="2" charset="-120"/>
                    </a:rPr>
                    <a:t>客户推荐</a:t>
                  </a:r>
                  <a:endParaRPr lang="zh-CN" altLang="en-US" sz="900" b="1" dirty="0">
                    <a:latin typeface="微软雅黑" panose="020B0503020204020204" pitchFamily="34" charset="-122"/>
                    <a:ea typeface="微软雅黑" panose="020B0503020204020204" pitchFamily="34" charset="-122"/>
                    <a:cs typeface="苹方-简" panose="020B0400000000000000" pitchFamily="2" charset="-120"/>
                  </a:endParaRPr>
                </a:p>
              </p:txBody>
            </p:sp>
          </p:grpSp>
        </p:grpSp>
        <p:pic>
          <p:nvPicPr>
            <p:cNvPr id="5" name="图片 4" descr="无命名"/>
            <p:cNvPicPr>
              <a:picLocks noChangeAspect="1"/>
            </p:cNvPicPr>
            <p:nvPr/>
          </p:nvPicPr>
          <p:blipFill rotWithShape="1">
            <a:blip r:embed="rId2"/>
            <a:srcRect l="18124" t="11697" r="1371" b="1351"/>
            <a:stretch>
              <a:fillRect/>
            </a:stretch>
          </p:blipFill>
          <p:spPr>
            <a:xfrm>
              <a:off x="3759964" y="1469251"/>
              <a:ext cx="5627069" cy="3022559"/>
            </a:xfrm>
            <a:prstGeom prst="rect">
              <a:avLst/>
            </a:prstGeom>
            <a:effectLst>
              <a:outerShdw blurRad="457200" dist="88900" dir="5400000" algn="t" rotWithShape="0">
                <a:prstClr val="black">
                  <a:alpha val="33000"/>
                </a:prstClr>
              </a:outerShdw>
            </a:effectLst>
          </p:spPr>
        </p:pic>
      </p:grpSp>
      <p:grpSp>
        <p:nvGrpSpPr>
          <p:cNvPr id="4" name="组合 3"/>
          <p:cNvGrpSpPr/>
          <p:nvPr/>
        </p:nvGrpSpPr>
        <p:grpSpPr>
          <a:xfrm>
            <a:off x="809187" y="2166795"/>
            <a:ext cx="3853566" cy="2418639"/>
            <a:chOff x="692646" y="973051"/>
            <a:chExt cx="3853566" cy="2418639"/>
          </a:xfrm>
        </p:grpSpPr>
        <p:sp>
          <p:nvSpPr>
            <p:cNvPr id="8" name="TextBox 17"/>
            <p:cNvSpPr txBox="1"/>
            <p:nvPr/>
          </p:nvSpPr>
          <p:spPr>
            <a:xfrm>
              <a:off x="1206112" y="2312713"/>
              <a:ext cx="3340100"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客户推荐</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12" name="Graphic 23" descr="Network"/>
            <p:cNvPicPr>
              <a:picLocks noChangeAspect="1"/>
            </p:cNvPicPr>
            <p:nvPr/>
          </p:nvPicPr>
          <p:blipFill>
            <a:blip r:embed="rId3"/>
            <a:stretch>
              <a:fillRect/>
            </a:stretch>
          </p:blipFill>
          <p:spPr>
            <a:xfrm>
              <a:off x="692646" y="2313506"/>
              <a:ext cx="552027" cy="552027"/>
            </a:xfrm>
            <a:prstGeom prst="rect">
              <a:avLst/>
            </a:prstGeom>
          </p:spPr>
        </p:pic>
        <p:sp>
          <p:nvSpPr>
            <p:cNvPr id="18" name="TextBox 17"/>
            <p:cNvSpPr txBox="1"/>
            <p:nvPr/>
          </p:nvSpPr>
          <p:spPr>
            <a:xfrm>
              <a:off x="1248774" y="973051"/>
              <a:ext cx="3038991"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企业图谱</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9" name="TextBox 18"/>
            <p:cNvSpPr txBox="1"/>
            <p:nvPr/>
          </p:nvSpPr>
          <p:spPr>
            <a:xfrm>
              <a:off x="1248774" y="1379906"/>
              <a:ext cx="2755959" cy="483209"/>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根据已有客户，通过大数据，为销售勾画相关企业与联系人的拓扑图</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1" name="Graphic 21" descr="Trophy"/>
            <p:cNvPicPr>
              <a:picLocks noChangeAspect="1"/>
            </p:cNvPicPr>
            <p:nvPr/>
          </p:nvPicPr>
          <p:blipFill>
            <a:blip r:embed="rId4"/>
            <a:stretch>
              <a:fillRect/>
            </a:stretch>
          </p:blipFill>
          <p:spPr>
            <a:xfrm>
              <a:off x="745525" y="1031257"/>
              <a:ext cx="460587" cy="460587"/>
            </a:xfrm>
            <a:prstGeom prst="rect">
              <a:avLst/>
            </a:prstGeom>
          </p:spPr>
        </p:pic>
        <p:sp>
          <p:nvSpPr>
            <p:cNvPr id="3" name="矩形 2"/>
            <p:cNvSpPr/>
            <p:nvPr/>
          </p:nvSpPr>
          <p:spPr>
            <a:xfrm>
              <a:off x="1206113" y="2700732"/>
              <a:ext cx="3005726" cy="690958"/>
            </a:xfrm>
            <a:prstGeom prst="rect">
              <a:avLst/>
            </a:prstGeom>
          </p:spPr>
          <p:txBody>
            <a:bodyPr wrap="square">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通过企业图谱，按排名智能为销售推荐相关客户；</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销售代表轻松识别赢单机率大的客户，并将其转化为线索。</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p:txBody>
        </p:sp>
      </p:grpSp>
      <p:grpSp>
        <p:nvGrpSpPr>
          <p:cNvPr id="84" name="组合 83"/>
          <p:cNvGrpSpPr/>
          <p:nvPr/>
        </p:nvGrpSpPr>
        <p:grpSpPr>
          <a:xfrm>
            <a:off x="1663431" y="5794289"/>
            <a:ext cx="8882272" cy="343660"/>
            <a:chOff x="1757118" y="4324905"/>
            <a:chExt cx="8882272" cy="343660"/>
          </a:xfrm>
        </p:grpSpPr>
        <p:grpSp>
          <p:nvGrpSpPr>
            <p:cNvPr id="85" name="组合 84"/>
            <p:cNvGrpSpPr/>
            <p:nvPr/>
          </p:nvGrpSpPr>
          <p:grpSpPr>
            <a:xfrm>
              <a:off x="1757118" y="4324905"/>
              <a:ext cx="8882272" cy="343660"/>
              <a:chOff x="1479302" y="5772680"/>
              <a:chExt cx="8864294" cy="447646"/>
            </a:xfrm>
          </p:grpSpPr>
          <p:sp>
            <p:nvSpPr>
              <p:cNvPr id="94"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5"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6"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7"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6" name="矩形 85"/>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7" name="矩形 86"/>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8" name="矩形 87"/>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9" name="矩形 88"/>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90" name="图片 8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1" name="图片 9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2" name="图片 9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3" name="图片 9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8" name="组合 97"/>
          <p:cNvGrpSpPr/>
          <p:nvPr/>
        </p:nvGrpSpPr>
        <p:grpSpPr>
          <a:xfrm>
            <a:off x="1949877" y="5520686"/>
            <a:ext cx="8200250" cy="230832"/>
            <a:chOff x="2043564" y="4067093"/>
            <a:chExt cx="8200250" cy="230832"/>
          </a:xfrm>
        </p:grpSpPr>
        <p:sp>
          <p:nvSpPr>
            <p:cNvPr id="99" name="矩形 98"/>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5909069"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8" name="直接连接符 107"/>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6" name="矩形 115"/>
          <p:cNvSpPr/>
          <p:nvPr/>
        </p:nvSpPr>
        <p:spPr>
          <a:xfrm>
            <a:off x="5822356"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601980" y="244995"/>
            <a:ext cx="10542693" cy="676487"/>
          </a:xfrm>
          <a:prstGeom prst="rect">
            <a:avLst/>
          </a:prstGeom>
          <a:ln w="12700">
            <a:miter lim="400000"/>
          </a:ln>
        </p:spPr>
        <p:txBody>
          <a:bodyPr lIns="60957" tIns="60957" rIns="60957" bIns="60957" anchor="ctr">
            <a:noAutofit/>
          </a:bodyPr>
          <a:lstStyle>
            <a:lvl1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r>
              <a:rPr lang="zh-CN" altLang="en-US" kern="1200" dirty="0">
                <a:solidFill>
                  <a:srgbClr val="1C69D4"/>
                </a:solidFill>
                <a:cs typeface="苹方-简" panose="020B0400000000000000" pitchFamily="2" charset="-120"/>
              </a:rPr>
              <a:t>客户</a:t>
            </a:r>
            <a:r>
              <a:rPr lang="en-US" altLang="zh-CN" kern="1200" dirty="0">
                <a:solidFill>
                  <a:srgbClr val="1C69D4"/>
                </a:solidFill>
                <a:cs typeface="苹方-简" panose="020B0400000000000000" pitchFamily="2" charset="-120"/>
              </a:rPr>
              <a:t>/</a:t>
            </a:r>
            <a:r>
              <a:rPr lang="zh-CN" altLang="en-US" kern="1200" dirty="0">
                <a:solidFill>
                  <a:srgbClr val="1C69D4"/>
                </a:solidFill>
                <a:cs typeface="苹方-简" panose="020B0400000000000000" pitchFamily="2" charset="-120"/>
              </a:rPr>
              <a:t>商机</a:t>
            </a:r>
            <a:r>
              <a:rPr lang="en-US" altLang="zh-CN" kern="1200" dirty="0">
                <a:solidFill>
                  <a:srgbClr val="1C69D4"/>
                </a:solidFill>
                <a:cs typeface="苹方-简" panose="020B0400000000000000" pitchFamily="2" charset="-120"/>
              </a:rPr>
              <a:t>/</a:t>
            </a:r>
            <a:r>
              <a:rPr lang="zh-CN" altLang="en-US" kern="1200" dirty="0">
                <a:solidFill>
                  <a:srgbClr val="1C69D4"/>
                </a:solidFill>
                <a:cs typeface="苹方-简" panose="020B0400000000000000" pitchFamily="2" charset="-120"/>
              </a:rPr>
              <a:t>联系人动态评分</a:t>
            </a:r>
            <a:r>
              <a:rPr lang="zh-CN" altLang="en-US" kern="1200" dirty="0">
                <a:solidFill>
                  <a:schemeClr val="tx1">
                    <a:lumMod val="75000"/>
                    <a:lumOff val="25000"/>
                  </a:schemeClr>
                </a:solidFill>
                <a:cs typeface="苹方-简" panose="020B0400000000000000" pitchFamily="2" charset="-120"/>
              </a:rPr>
              <a:t>，聚焦更高价值的客户资源</a:t>
            </a:r>
            <a:endParaRPr lang="zh-CN" altLang="en-US" kern="1200" dirty="0">
              <a:solidFill>
                <a:schemeClr val="tx1">
                  <a:lumMod val="75000"/>
                  <a:lumOff val="25000"/>
                </a:schemeClr>
              </a:solidFill>
              <a:cs typeface="苹方-简" panose="020B0400000000000000" pitchFamily="2" charset="-120"/>
            </a:endParaRPr>
          </a:p>
        </p:txBody>
      </p:sp>
      <p:grpSp>
        <p:nvGrpSpPr>
          <p:cNvPr id="14" name="组合 13"/>
          <p:cNvGrpSpPr/>
          <p:nvPr/>
        </p:nvGrpSpPr>
        <p:grpSpPr>
          <a:xfrm>
            <a:off x="4572871" y="2067308"/>
            <a:ext cx="6286131" cy="2492005"/>
            <a:chOff x="4280771" y="1884886"/>
            <a:chExt cx="6286131" cy="2492005"/>
          </a:xfrm>
        </p:grpSpPr>
        <p:pic>
          <p:nvPicPr>
            <p:cNvPr id="11" name="图片 10"/>
            <p:cNvPicPr>
              <a:picLocks noChangeAspect="1"/>
            </p:cNvPicPr>
            <p:nvPr/>
          </p:nvPicPr>
          <p:blipFill>
            <a:blip r:embed="rId1"/>
            <a:srcRect r="1970"/>
            <a:stretch>
              <a:fillRect/>
            </a:stretch>
          </p:blipFill>
          <p:spPr>
            <a:xfrm>
              <a:off x="4280771" y="1884886"/>
              <a:ext cx="4968240" cy="2487507"/>
            </a:xfrm>
            <a:prstGeom prst="rect">
              <a:avLst/>
            </a:prstGeom>
            <a:effectLst>
              <a:outerShdw blurRad="457200" dist="88900" dir="5400000" algn="t" rotWithShape="0">
                <a:prstClr val="black">
                  <a:alpha val="33000"/>
                </a:prstClr>
              </a:outerShdw>
            </a:effectLst>
          </p:spPr>
        </p:pic>
        <p:grpSp>
          <p:nvGrpSpPr>
            <p:cNvPr id="13" name="组合 12"/>
            <p:cNvGrpSpPr/>
            <p:nvPr/>
          </p:nvGrpSpPr>
          <p:grpSpPr>
            <a:xfrm>
              <a:off x="9315647" y="1884886"/>
              <a:ext cx="1251255" cy="2492005"/>
              <a:chOff x="9299811" y="1109926"/>
              <a:chExt cx="1916007" cy="3815928"/>
            </a:xfrm>
          </p:grpSpPr>
          <p:pic>
            <p:nvPicPr>
              <p:cNvPr id="3" name="图片 2" descr="348a4162-7ea4-489c-868c-7844cb68e0c9"/>
              <p:cNvPicPr>
                <a:picLocks noChangeAspect="1"/>
              </p:cNvPicPr>
              <p:nvPr/>
            </p:nvPicPr>
            <p:blipFill>
              <a:blip r:embed="rId2"/>
              <a:stretch>
                <a:fillRect/>
              </a:stretch>
            </p:blipFill>
            <p:spPr>
              <a:xfrm>
                <a:off x="9456445" y="1112467"/>
                <a:ext cx="1759373" cy="3813387"/>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9299811" y="1109926"/>
                <a:ext cx="1091353" cy="584968"/>
                <a:chOff x="3312598" y="965753"/>
                <a:chExt cx="1188520" cy="614454"/>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433735">
                  <a:off x="3312598" y="988953"/>
                  <a:ext cx="1188520" cy="321779"/>
                </a:xfrm>
                <a:prstGeom prst="rect">
                  <a:avLst/>
                </a:prstGeom>
                <a:noFill/>
              </p:spPr>
              <p:txBody>
                <a:bodyPr wrap="square" rtlCol="0">
                  <a:spAutoFit/>
                </a:bodyPr>
                <a:lstStyle/>
                <a:p>
                  <a:r>
                    <a:rPr lang="zh-CN" altLang="en-US" sz="7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客户得分</a:t>
                  </a:r>
                  <a:endParaRPr lang="zh-CN" altLang="en-US" sz="7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sp>
            <p:nvSpPr>
              <p:cNvPr id="5" name="矩形 4"/>
              <p:cNvSpPr/>
              <p:nvPr/>
            </p:nvSpPr>
            <p:spPr>
              <a:xfrm>
                <a:off x="9469992" y="3322857"/>
                <a:ext cx="1727999" cy="754052"/>
              </a:xfrm>
              <a:prstGeom prst="rect">
                <a:avLst/>
              </a:prstGeom>
              <a:noFill/>
              <a:ln w="25400" cap="flat">
                <a:solidFill>
                  <a:srgbClr val="FFAF28"/>
                </a:solidFill>
                <a:prstDash val="solid"/>
                <a:round/>
              </a:ln>
              <a:effectLst/>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60957" tIns="60957" rIns="60957" bIns="60957" numCol="1" spcCol="38100" rtlCol="0" anchor="ctr" forceAA="0">
                <a:spAutoFit/>
              </a:bodyPr>
              <a:lstStyle/>
              <a:p>
                <a:pPr defTabSz="609600"/>
                <a:endParaRPr lang="zh-CN" altLang="en-US" sz="2400">
                  <a:latin typeface="微软雅黑" panose="020B0503020204020204" pitchFamily="34" charset="-122"/>
                  <a:ea typeface="微软雅黑" panose="020B0503020204020204" pitchFamily="34" charset="-122"/>
                </a:endParaRPr>
              </a:p>
            </p:txBody>
          </p:sp>
        </p:grpSp>
      </p:grpSp>
      <p:grpSp>
        <p:nvGrpSpPr>
          <p:cNvPr id="10" name="组合 9"/>
          <p:cNvGrpSpPr/>
          <p:nvPr/>
        </p:nvGrpSpPr>
        <p:grpSpPr>
          <a:xfrm>
            <a:off x="1021806" y="1598170"/>
            <a:ext cx="3466397" cy="3238596"/>
            <a:chOff x="796570" y="1431437"/>
            <a:chExt cx="3466397" cy="3238596"/>
          </a:xfrm>
        </p:grpSpPr>
        <p:sp>
          <p:nvSpPr>
            <p:cNvPr id="18" name="TextBox 17"/>
            <p:cNvSpPr txBox="1"/>
            <p:nvPr/>
          </p:nvSpPr>
          <p:spPr>
            <a:xfrm>
              <a:off x="1401091" y="1431437"/>
              <a:ext cx="2739110"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客户评分</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7"/>
            <p:cNvSpPr txBox="1"/>
            <p:nvPr/>
          </p:nvSpPr>
          <p:spPr>
            <a:xfrm>
              <a:off x="1346240" y="3832336"/>
              <a:ext cx="2826559"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联系人评分</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 name="TextBox 18"/>
            <p:cNvSpPr txBox="1"/>
            <p:nvPr/>
          </p:nvSpPr>
          <p:spPr>
            <a:xfrm>
              <a:off x="1346240" y="4244083"/>
              <a:ext cx="2916727" cy="425950"/>
            </a:xfrm>
            <a:prstGeom prst="rect">
              <a:avLst/>
            </a:prstGeom>
            <a:noFill/>
          </p:spPr>
          <p:txBody>
            <a:bodyPr wrap="square" numCol="1" spcCol="0" rtlCol="0" anchor="ctr">
              <a:spAutoFit/>
            </a:bodyPr>
            <a:lstStyle/>
            <a:p>
              <a:pPr>
                <a:lnSpc>
                  <a:spcPct val="11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根据客户得分、联系人角色权重等多维度制定联系人评分规则，并随因素变化，动态得分</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p:txBody>
        </p:sp>
        <p:pic>
          <p:nvPicPr>
            <p:cNvPr id="12" name="Graphic 23" descr="Network"/>
            <p:cNvPicPr>
              <a:picLocks noChangeAspect="1"/>
            </p:cNvPicPr>
            <p:nvPr/>
          </p:nvPicPr>
          <p:blipFill>
            <a:blip r:embed="rId3"/>
            <a:stretch>
              <a:fillRect/>
            </a:stretch>
          </p:blipFill>
          <p:spPr>
            <a:xfrm>
              <a:off x="800813" y="3840553"/>
              <a:ext cx="552027" cy="552027"/>
            </a:xfrm>
            <a:prstGeom prst="rect">
              <a:avLst/>
            </a:prstGeom>
          </p:spPr>
        </p:pic>
        <p:sp>
          <p:nvSpPr>
            <p:cNvPr id="15" name="TextBox 18"/>
            <p:cNvSpPr txBox="1"/>
            <p:nvPr/>
          </p:nvSpPr>
          <p:spPr>
            <a:xfrm>
              <a:off x="1346240" y="2992185"/>
              <a:ext cx="2916727"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帮助销售团队实现快速客户分级，将有限的精力和资源聚焦投入在重点的客户关系上。</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17" name="Graphic 25" descr="Gears"/>
            <p:cNvPicPr>
              <a:picLocks noChangeAspect="1"/>
            </p:cNvPicPr>
            <p:nvPr/>
          </p:nvPicPr>
          <p:blipFill>
            <a:blip r:embed="rId4"/>
            <a:stretch>
              <a:fillRect/>
            </a:stretch>
          </p:blipFill>
          <p:spPr>
            <a:xfrm>
              <a:off x="796570" y="2693851"/>
              <a:ext cx="559647" cy="559647"/>
            </a:xfrm>
            <a:prstGeom prst="rect">
              <a:avLst/>
            </a:prstGeom>
          </p:spPr>
        </p:pic>
        <p:sp>
          <p:nvSpPr>
            <p:cNvPr id="19" name="TextBox 18"/>
            <p:cNvSpPr txBox="1"/>
            <p:nvPr/>
          </p:nvSpPr>
          <p:spPr>
            <a:xfrm>
              <a:off x="1411132" y="1805104"/>
              <a:ext cx="2851835"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通过客户级别、客户行业等多维度制定客户评分规则，并随着因素变化，动态得分</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1" name="Graphic 21" descr="Trophy"/>
            <p:cNvPicPr>
              <a:picLocks noChangeAspect="1"/>
            </p:cNvPicPr>
            <p:nvPr/>
          </p:nvPicPr>
          <p:blipFill>
            <a:blip r:embed="rId5"/>
            <a:stretch>
              <a:fillRect/>
            </a:stretch>
          </p:blipFill>
          <p:spPr>
            <a:xfrm>
              <a:off x="855836" y="1525265"/>
              <a:ext cx="460587" cy="460587"/>
            </a:xfrm>
            <a:prstGeom prst="rect">
              <a:avLst/>
            </a:prstGeom>
          </p:spPr>
        </p:pic>
        <p:sp>
          <p:nvSpPr>
            <p:cNvPr id="25" name="TextBox 17"/>
            <p:cNvSpPr txBox="1"/>
            <p:nvPr/>
          </p:nvSpPr>
          <p:spPr>
            <a:xfrm>
              <a:off x="1356216" y="2631848"/>
              <a:ext cx="2610417"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客户分级</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nvGrpSpPr>
          <p:cNvPr id="85" name="组合 84"/>
          <p:cNvGrpSpPr/>
          <p:nvPr/>
        </p:nvGrpSpPr>
        <p:grpSpPr>
          <a:xfrm>
            <a:off x="1663431" y="5794289"/>
            <a:ext cx="8882272" cy="343660"/>
            <a:chOff x="1757118" y="4324905"/>
            <a:chExt cx="8882272" cy="343660"/>
          </a:xfrm>
        </p:grpSpPr>
        <p:grpSp>
          <p:nvGrpSpPr>
            <p:cNvPr id="86" name="组合 85"/>
            <p:cNvGrpSpPr/>
            <p:nvPr/>
          </p:nvGrpSpPr>
          <p:grpSpPr>
            <a:xfrm>
              <a:off x="1757118" y="4324905"/>
              <a:ext cx="8882272" cy="343660"/>
              <a:chOff x="1479302" y="5772680"/>
              <a:chExt cx="8864294" cy="447646"/>
            </a:xfrm>
          </p:grpSpPr>
          <p:sp>
            <p:nvSpPr>
              <p:cNvPr id="95"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6" name="箭头: V 形 106"/>
              <p:cNvSpPr/>
              <p:nvPr/>
            </p:nvSpPr>
            <p:spPr>
              <a:xfrm>
                <a:off x="3673867" y="5772680"/>
                <a:ext cx="2815194"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7"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8"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7" name="矩形 86"/>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8" name="矩形 87"/>
            <p:cNvSpPr/>
            <p:nvPr/>
          </p:nvSpPr>
          <p:spPr>
            <a:xfrm>
              <a:off x="5076317"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9" name="矩形 88"/>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0" name="矩形 89"/>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91" name="图片 9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2" name="图片 9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3" name="图片 9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4" name="图片 9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9" name="组合 98"/>
          <p:cNvGrpSpPr/>
          <p:nvPr/>
        </p:nvGrpSpPr>
        <p:grpSpPr>
          <a:xfrm>
            <a:off x="1949877" y="5520686"/>
            <a:ext cx="8200250" cy="230832"/>
            <a:chOff x="2043564" y="4067093"/>
            <a:chExt cx="8200250" cy="230832"/>
          </a:xfrm>
        </p:grpSpPr>
        <p:sp>
          <p:nvSpPr>
            <p:cNvPr id="100" name="矩形 99"/>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5909069"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9" name="直接连接符 108"/>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7" name="矩形 116"/>
          <p:cNvSpPr/>
          <p:nvPr/>
        </p:nvSpPr>
        <p:spPr>
          <a:xfrm>
            <a:off x="5822356"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6"/>
          <p:cNvSpPr txBox="1"/>
          <p:nvPr/>
        </p:nvSpPr>
        <p:spPr>
          <a:xfrm>
            <a:off x="1681553" y="2296259"/>
            <a:ext cx="8940268" cy="1569660"/>
          </a:xfrm>
          <a:prstGeom prst="rect">
            <a:avLst/>
          </a:prstGeom>
          <a:noFill/>
        </p:spPr>
        <p:txBody>
          <a:bodyPr wrap="none" rtlCol="0">
            <a:spAutoFit/>
          </a:bodyPr>
          <a:lstStyle/>
          <a:p>
            <a:r>
              <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rPr>
              <a:t>Leads-To-Cash</a:t>
            </a:r>
            <a:endPar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81" name="组合 80"/>
          <p:cNvGrpSpPr/>
          <p:nvPr/>
        </p:nvGrpSpPr>
        <p:grpSpPr>
          <a:xfrm>
            <a:off x="1663431" y="39273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8"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1"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5" name="图片 9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6" name="图片 9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7" name="图片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2" name="组合 101"/>
          <p:cNvGrpSpPr/>
          <p:nvPr/>
        </p:nvGrpSpPr>
        <p:grpSpPr>
          <a:xfrm>
            <a:off x="1949877" y="3653786"/>
            <a:ext cx="8200250" cy="230832"/>
            <a:chOff x="2043564" y="4067093"/>
            <a:chExt cx="8200250" cy="230832"/>
          </a:xfrm>
        </p:grpSpPr>
        <p:sp>
          <p:nvSpPr>
            <p:cNvPr id="103" name="矩形 102"/>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681990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7586462"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8313222"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1" name="矩形 110"/>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2" name="直接连接符 111"/>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37634" y="361945"/>
            <a:ext cx="10571163" cy="676275"/>
          </a:xfrm>
        </p:spPr>
        <p:txBody>
          <a:bodyPr>
            <a:noAutofit/>
          </a:bodyPr>
          <a:lstStyle/>
          <a:p>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销售方法论最佳实践沉淀</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，标准化推进商机过程，提升销售赢率</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p:txBody>
      </p:sp>
      <p:sp>
        <p:nvSpPr>
          <p:cNvPr id="5" name="TextBox 17"/>
          <p:cNvSpPr txBox="1"/>
          <p:nvPr/>
        </p:nvSpPr>
        <p:spPr>
          <a:xfrm>
            <a:off x="991131" y="1959867"/>
            <a:ext cx="3261898" cy="523220"/>
          </a:xfrm>
          <a:prstGeom prst="rect">
            <a:avLst/>
          </a:prstGeom>
          <a:noFill/>
        </p:spPr>
        <p:txBody>
          <a:bodyPr wrap="square" numCol="1" spcCol="0" rtlCol="0" anchor="ctr">
            <a:spAutoFit/>
          </a:bodyPr>
          <a:lstStyle/>
          <a:p>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销售方法论最佳实践沉淀，标准化商机过程管理，提升赢率</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8"/>
          <p:cNvSpPr txBox="1"/>
          <p:nvPr/>
        </p:nvSpPr>
        <p:spPr>
          <a:xfrm>
            <a:off x="991132" y="2466305"/>
            <a:ext cx="3355312" cy="715581"/>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将销售方法论的最佳实践沉淀到系统中，并作为标准化动作，形成可视化的最佳销售流程，分阶段按步骤科学推进商机，提升销售赢率</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 name="TextBox 17"/>
          <p:cNvSpPr txBox="1"/>
          <p:nvPr/>
        </p:nvSpPr>
        <p:spPr>
          <a:xfrm>
            <a:off x="987936" y="3610145"/>
            <a:ext cx="3418964" cy="307777"/>
          </a:xfrm>
          <a:prstGeom prst="rect">
            <a:avLst/>
          </a:prstGeom>
          <a:noFill/>
        </p:spPr>
        <p:txBody>
          <a:bodyPr wrap="square" numCol="1" spcCol="0" rtlCol="0" anchor="ctr">
            <a:spAutoFit/>
          </a:bodyPr>
          <a:lstStyle/>
          <a:p>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实时</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销售</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目标</a:t>
            </a: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预测与分析</a:t>
            </a: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，优化销售策略</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4" name="TextBox 18"/>
          <p:cNvSpPr txBox="1"/>
          <p:nvPr/>
        </p:nvSpPr>
        <p:spPr>
          <a:xfrm>
            <a:off x="987937" y="3905611"/>
            <a:ext cx="3418964" cy="715581"/>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从销售团队到销售个人，通过销售管道、销售漏斗等视图，分析商机进展和业务的健康度，科学预测目标达成情况。</a:t>
            </a:r>
            <a:endPar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及时发现问题，追溯问题，优化策略，赋能销售，解决问题。</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26" name="Graphic 21" descr="Trophy"/>
          <p:cNvPicPr>
            <a:picLocks noChangeAspect="1"/>
          </p:cNvPicPr>
          <p:nvPr/>
        </p:nvPicPr>
        <p:blipFill>
          <a:blip r:embed="rId1"/>
          <a:stretch>
            <a:fillRect/>
          </a:stretch>
        </p:blipFill>
        <p:spPr>
          <a:xfrm>
            <a:off x="548944" y="1962334"/>
            <a:ext cx="460587" cy="460587"/>
          </a:xfrm>
          <a:prstGeom prst="rect">
            <a:avLst/>
          </a:prstGeom>
        </p:spPr>
      </p:pic>
      <p:pic>
        <p:nvPicPr>
          <p:cNvPr id="28" name="Graphic 23" descr="Network"/>
          <p:cNvPicPr>
            <a:picLocks noChangeAspect="1"/>
          </p:cNvPicPr>
          <p:nvPr/>
        </p:nvPicPr>
        <p:blipFill>
          <a:blip r:embed="rId2">
            <a:duotone>
              <a:prstClr val="black"/>
              <a:schemeClr val="accent5">
                <a:tint val="45000"/>
                <a:satMod val="400000"/>
              </a:schemeClr>
            </a:duotone>
          </a:blip>
          <a:stretch>
            <a:fillRect/>
          </a:stretch>
        </p:blipFill>
        <p:spPr>
          <a:xfrm>
            <a:off x="523200" y="3448410"/>
            <a:ext cx="552027" cy="552027"/>
          </a:xfrm>
          <a:prstGeom prst="rect">
            <a:avLst/>
          </a:prstGeom>
        </p:spPr>
      </p:pic>
      <p:grpSp>
        <p:nvGrpSpPr>
          <p:cNvPr id="10" name="组合 9"/>
          <p:cNvGrpSpPr/>
          <p:nvPr/>
        </p:nvGrpSpPr>
        <p:grpSpPr>
          <a:xfrm>
            <a:off x="4595622" y="1491365"/>
            <a:ext cx="6805853" cy="3566888"/>
            <a:chOff x="4595622" y="1152298"/>
            <a:chExt cx="6805853" cy="3566888"/>
          </a:xfrm>
        </p:grpSpPr>
        <p:pic>
          <p:nvPicPr>
            <p:cNvPr id="8" name="图片 7" descr="可视化商机管理"/>
            <p:cNvPicPr>
              <a:picLocks noChangeAspect="1"/>
            </p:cNvPicPr>
            <p:nvPr/>
          </p:nvPicPr>
          <p:blipFill>
            <a:blip r:embed="rId3"/>
            <a:stretch>
              <a:fillRect/>
            </a:stretch>
          </p:blipFill>
          <p:spPr>
            <a:xfrm>
              <a:off x="9760635" y="1164879"/>
              <a:ext cx="1640840" cy="3554307"/>
            </a:xfrm>
            <a:prstGeom prst="rect">
              <a:avLst/>
            </a:prstGeom>
            <a:effectLst>
              <a:outerShdw blurRad="457200" dist="88900" dir="5400000" algn="t" rotWithShape="0">
                <a:prstClr val="black">
                  <a:alpha val="33000"/>
                </a:prstClr>
              </a:outerShdw>
            </a:effectLst>
          </p:spPr>
        </p:pic>
        <p:pic>
          <p:nvPicPr>
            <p:cNvPr id="6" name="图片 5" descr="WeWork Helper20190902154417"/>
            <p:cNvPicPr>
              <a:picLocks noChangeAspect="1"/>
            </p:cNvPicPr>
            <p:nvPr/>
          </p:nvPicPr>
          <p:blipFill>
            <a:blip r:embed="rId4"/>
            <a:srcRect r="17359"/>
            <a:stretch>
              <a:fillRect/>
            </a:stretch>
          </p:blipFill>
          <p:spPr>
            <a:xfrm>
              <a:off x="4595622" y="1164879"/>
              <a:ext cx="3338344" cy="1855877"/>
            </a:xfrm>
            <a:prstGeom prst="rect">
              <a:avLst/>
            </a:prstGeom>
            <a:effectLst>
              <a:outerShdw blurRad="457200" dist="88900" dir="5400000" algn="t" rotWithShape="0">
                <a:prstClr val="black">
                  <a:alpha val="33000"/>
                </a:prstClr>
              </a:outerShdw>
            </a:effectLst>
          </p:spPr>
        </p:pic>
        <p:pic>
          <p:nvPicPr>
            <p:cNvPr id="11" name="图片 10" descr="商机"/>
            <p:cNvPicPr>
              <a:picLocks noChangeAspect="1"/>
            </p:cNvPicPr>
            <p:nvPr/>
          </p:nvPicPr>
          <p:blipFill>
            <a:blip r:embed="rId5"/>
            <a:stretch>
              <a:fillRect/>
            </a:stretch>
          </p:blipFill>
          <p:spPr>
            <a:xfrm>
              <a:off x="4595622" y="3106007"/>
              <a:ext cx="3338344" cy="1613179"/>
            </a:xfrm>
            <a:prstGeom prst="rect">
              <a:avLst/>
            </a:prstGeom>
            <a:effectLst>
              <a:outerShdw blurRad="457200" dist="88900" dir="5400000" algn="t" rotWithShape="0">
                <a:prstClr val="black">
                  <a:alpha val="33000"/>
                </a:prstClr>
              </a:outerShdw>
            </a:effectLst>
          </p:spPr>
        </p:pic>
        <p:grpSp>
          <p:nvGrpSpPr>
            <p:cNvPr id="2" name="组合 1"/>
            <p:cNvGrpSpPr/>
            <p:nvPr/>
          </p:nvGrpSpPr>
          <p:grpSpPr>
            <a:xfrm>
              <a:off x="7972755" y="1152298"/>
              <a:ext cx="1694465" cy="3566888"/>
              <a:chOff x="7656136" y="1025639"/>
              <a:chExt cx="1694465" cy="3566888"/>
            </a:xfrm>
            <a:effectLst/>
          </p:grpSpPr>
          <p:pic>
            <p:nvPicPr>
              <p:cNvPr id="9" name="图片 8" descr="80c3d9b7-c205-49c5-9971-05544eb7642d"/>
              <p:cNvPicPr>
                <a:picLocks noChangeAspect="1"/>
              </p:cNvPicPr>
              <p:nvPr/>
            </p:nvPicPr>
            <p:blipFill>
              <a:blip r:embed="rId6"/>
              <a:stretch>
                <a:fillRect/>
              </a:stretch>
            </p:blipFill>
            <p:spPr>
              <a:xfrm>
                <a:off x="7710762" y="1038220"/>
                <a:ext cx="1639839" cy="3554307"/>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7656136" y="1025639"/>
                <a:ext cx="1091353" cy="597549"/>
                <a:chOff x="3423379" y="952538"/>
                <a:chExt cx="1188520" cy="627669"/>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433735">
                  <a:off x="3423379" y="952538"/>
                  <a:ext cx="1188520" cy="226304"/>
                </a:xfrm>
                <a:prstGeom prst="rect">
                  <a:avLst/>
                </a:prstGeom>
                <a:noFill/>
              </p:spPr>
              <p:txBody>
                <a:bodyPr wrap="square" rtlCol="0">
                  <a:spAutoFit/>
                </a:bodyPr>
                <a:lstStyle/>
                <a:p>
                  <a:r>
                    <a:rPr lang="zh-CN" altLang="en-US" sz="8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销售预测</a:t>
                  </a:r>
                  <a:endParaRPr lang="zh-CN" altLang="en-US" sz="8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grpSp>
        <p:nvGrpSpPr>
          <p:cNvPr id="53" name="组合 52"/>
          <p:cNvGrpSpPr/>
          <p:nvPr/>
        </p:nvGrpSpPr>
        <p:grpSpPr>
          <a:xfrm>
            <a:off x="1663431" y="5794289"/>
            <a:ext cx="8882272" cy="343660"/>
            <a:chOff x="1757118" y="4324905"/>
            <a:chExt cx="8882272" cy="343660"/>
          </a:xfrm>
        </p:grpSpPr>
        <p:grpSp>
          <p:nvGrpSpPr>
            <p:cNvPr id="54" name="组合 53"/>
            <p:cNvGrpSpPr/>
            <p:nvPr/>
          </p:nvGrpSpPr>
          <p:grpSpPr>
            <a:xfrm>
              <a:off x="1757118" y="4324905"/>
              <a:ext cx="8882272" cy="343660"/>
              <a:chOff x="1479302" y="5772680"/>
              <a:chExt cx="8864294" cy="447646"/>
            </a:xfrm>
          </p:grpSpPr>
          <p:sp>
            <p:nvSpPr>
              <p:cNvPr id="63"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4"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5"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6"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55" name="矩形 54"/>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56" name="矩形 55"/>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7" name="矩形 56"/>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8" name="矩形 57"/>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59" name="图片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60" name="图片 5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61" name="图片 6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62" name="图片 6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67" name="组合 66"/>
          <p:cNvGrpSpPr/>
          <p:nvPr/>
        </p:nvGrpSpPr>
        <p:grpSpPr>
          <a:xfrm>
            <a:off x="1949877" y="5520686"/>
            <a:ext cx="8200250" cy="230832"/>
            <a:chOff x="2043564" y="4067093"/>
            <a:chExt cx="8200250" cy="230832"/>
          </a:xfrm>
        </p:grpSpPr>
        <p:sp>
          <p:nvSpPr>
            <p:cNvPr id="68" name="矩形 67"/>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9" name="矩形 68"/>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0" name="矩形 69"/>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1" name="矩形 70"/>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2" name="矩形 71"/>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3" name="矩形 72"/>
            <p:cNvSpPr/>
            <p:nvPr/>
          </p:nvSpPr>
          <p:spPr>
            <a:xfrm>
              <a:off x="681990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4" name="矩形 73"/>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5" name="矩形 74"/>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6" name="矩形 75"/>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77" name="直接连接符 76"/>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20" name="矩形 119"/>
          <p:cNvSpPr/>
          <p:nvPr/>
        </p:nvSpPr>
        <p:spPr>
          <a:xfrm>
            <a:off x="6706715"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ChangeAspect="1"/>
          </p:cNvPicPr>
          <p:nvPr/>
        </p:nvPicPr>
        <p:blipFill>
          <a:blip r:embed="rId1"/>
          <a:stretch>
            <a:fillRect/>
          </a:stretch>
        </p:blipFill>
        <p:spPr>
          <a:xfrm>
            <a:off x="4275157" y="1796462"/>
            <a:ext cx="4644813" cy="2684780"/>
          </a:xfrm>
          <a:prstGeom prst="rect">
            <a:avLst/>
          </a:prstGeom>
          <a:effectLst>
            <a:outerShdw blurRad="457200" dist="88900" dir="5400000" algn="t" rotWithShape="0">
              <a:prstClr val="black">
                <a:alpha val="33000"/>
              </a:prstClr>
            </a:outerShdw>
          </a:effectLst>
        </p:spPr>
      </p:pic>
      <p:sp>
        <p:nvSpPr>
          <p:cNvPr id="4" name="Title 1"/>
          <p:cNvSpPr>
            <a:spLocks noGrp="1"/>
          </p:cNvSpPr>
          <p:nvPr>
            <p:ph type="title"/>
          </p:nvPr>
        </p:nvSpPr>
        <p:spPr>
          <a:xfrm>
            <a:off x="567268" y="371873"/>
            <a:ext cx="5422900" cy="454025"/>
          </a:xfrm>
        </p:spPr>
        <p:txBody>
          <a:bodyPr>
            <a:noAutofit/>
          </a:bodyPr>
          <a:lstStyle/>
          <a:p>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sym typeface="+mn-ea"/>
              </a:rPr>
              <a:t>复杂决策链可视化，</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让销售策略更清晰 </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sp>
        <p:nvSpPr>
          <p:cNvPr id="6" name="Title 1"/>
          <p:cNvSpPr>
            <a:spLocks noGrp="1"/>
          </p:cNvSpPr>
          <p:nvPr/>
        </p:nvSpPr>
        <p:spPr>
          <a:xfrm>
            <a:off x="649837" y="1150693"/>
            <a:ext cx="10265907" cy="676281"/>
          </a:xfrm>
          <a:prstGeom prst="rect">
            <a:avLst/>
          </a:prstGeom>
          <a:ln w="12700">
            <a:miter lim="400000"/>
          </a:ln>
        </p:spPr>
        <p:txBody>
          <a:bodyPr lIns="60957" tIns="60957" rIns="60957" bIns="60957" anchor="ctr">
            <a:noAutofit/>
          </a:bodyPr>
          <a:lstStyle>
            <a:lvl1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endParaRPr lang="zh-CN" altLang="en-US" spc="400" dirty="0">
              <a:solidFill>
                <a:schemeClr val="bg2"/>
              </a:solidFill>
            </a:endParaRPr>
          </a:p>
        </p:txBody>
      </p:sp>
      <p:grpSp>
        <p:nvGrpSpPr>
          <p:cNvPr id="2" name="组合 1"/>
          <p:cNvGrpSpPr/>
          <p:nvPr/>
        </p:nvGrpSpPr>
        <p:grpSpPr>
          <a:xfrm>
            <a:off x="9074867" y="1100505"/>
            <a:ext cx="1872217" cy="3854168"/>
            <a:chOff x="9950507" y="2397889"/>
            <a:chExt cx="1872217" cy="3854168"/>
          </a:xfrm>
        </p:grpSpPr>
        <p:pic>
          <p:nvPicPr>
            <p:cNvPr id="5" name="Picture 386" descr="A screenshot of a social media post&#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3292" y="2397889"/>
              <a:ext cx="1779432" cy="3854168"/>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9950507" y="2397889"/>
              <a:ext cx="1091353" cy="584968"/>
              <a:chOff x="3378230" y="965753"/>
              <a:chExt cx="1188520" cy="614454"/>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8" name="文本框 30"/>
              <p:cNvSpPr txBox="1"/>
              <p:nvPr/>
            </p:nvSpPr>
            <p:spPr>
              <a:xfrm rot="19433735">
                <a:off x="3378230" y="981326"/>
                <a:ext cx="1188520" cy="258632"/>
              </a:xfrm>
              <a:prstGeom prst="rect">
                <a:avLst/>
              </a:prstGeom>
              <a:noFill/>
            </p:spPr>
            <p:txBody>
              <a:bodyPr wrap="square" rtlCol="0">
                <a:spAutoFit/>
              </a:bodyPr>
              <a:lstStyle/>
              <a:p>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商机地图</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sp>
        <p:nvSpPr>
          <p:cNvPr id="9" name="TextBox 17"/>
          <p:cNvSpPr txBox="1"/>
          <p:nvPr/>
        </p:nvSpPr>
        <p:spPr>
          <a:xfrm>
            <a:off x="1266182" y="3177107"/>
            <a:ext cx="3340100"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商机作战地图</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 name="TextBox 18"/>
          <p:cNvSpPr txBox="1"/>
          <p:nvPr/>
        </p:nvSpPr>
        <p:spPr>
          <a:xfrm>
            <a:off x="1266182" y="3601465"/>
            <a:ext cx="2870095" cy="1106457"/>
          </a:xfrm>
          <a:prstGeom prst="rect">
            <a:avLst/>
          </a:prstGeom>
          <a:noFill/>
        </p:spPr>
        <p:txBody>
          <a:bodyPr wrap="square" numCol="1" spcCol="0" rtlCol="0" anchor="ctr">
            <a:spAutoFit/>
          </a:bodyPr>
          <a:lstStyle/>
          <a:p>
            <a:pPr>
              <a:lnSpc>
                <a:spcPct val="150000"/>
              </a:lnSpc>
              <a:buFont typeface="Arial" panose="020B0604020202020204" pitchFamily="34" charset="0"/>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通过关系图的方式直观地展示客户公司所有与项目有关的人物角色，帮助销售快速、清晰地了解每位项目参与者在其中扮演的角色、态度、影响力以及相互之间的关系，甚至每个角色的权重得分，让作战策略更清晰。</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12" name="Graphic 23" descr="Network"/>
          <p:cNvPicPr>
            <a:picLocks noChangeAspect="1"/>
          </p:cNvPicPr>
          <p:nvPr/>
        </p:nvPicPr>
        <p:blipFill>
          <a:blip r:embed="rId3"/>
          <a:stretch>
            <a:fillRect/>
          </a:stretch>
        </p:blipFill>
        <p:spPr>
          <a:xfrm>
            <a:off x="693298" y="3177901"/>
            <a:ext cx="552027" cy="552027"/>
          </a:xfrm>
          <a:prstGeom prst="rect">
            <a:avLst/>
          </a:prstGeom>
        </p:spPr>
      </p:pic>
      <p:sp>
        <p:nvSpPr>
          <p:cNvPr id="18" name="TextBox 17"/>
          <p:cNvSpPr txBox="1"/>
          <p:nvPr/>
        </p:nvSpPr>
        <p:spPr>
          <a:xfrm>
            <a:off x="1266182" y="1656877"/>
            <a:ext cx="3038991" cy="429156"/>
          </a:xfrm>
          <a:prstGeom prst="rect">
            <a:avLst/>
          </a:prstGeom>
          <a:noFill/>
        </p:spPr>
        <p:txBody>
          <a:bodyPr wrap="square" numCol="1" spcCol="0" rtlCol="0" anchor="ctr">
            <a:spAutoFit/>
          </a:bodyPr>
          <a:lstStyle/>
          <a:p>
            <a:pPr defTabSz="609600">
              <a:lnSpc>
                <a:spcPct val="150000"/>
              </a:lnSpc>
              <a:defRPr sz="1600" b="1">
                <a:solidFill>
                  <a:srgbClr val="62A9F8"/>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客户联系人关系图</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9" name="TextBox 18"/>
          <p:cNvSpPr txBox="1"/>
          <p:nvPr/>
        </p:nvSpPr>
        <p:spPr>
          <a:xfrm>
            <a:off x="1266182" y="2086033"/>
            <a:ext cx="2946294" cy="690958"/>
          </a:xfrm>
          <a:prstGeom prst="rect">
            <a:avLst/>
          </a:prstGeom>
          <a:noFill/>
        </p:spPr>
        <p:txBody>
          <a:bodyPr wrap="square" numCol="1" spcCol="0" rtlCol="0" anchor="ctr">
            <a:spAutoFit/>
          </a:bodyPr>
          <a:lstStyle/>
          <a:p>
            <a:pPr defTabSz="914400" hangingPunct="1">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将客户下各联系人的关键信息以及关系、角色等以图形直观地展现出来，帮助销售了解此客户的客户关系开发的整体状况，为后续客户关系维护和突破提供支持信息</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21" name="Graphic 21" descr="Trophy"/>
          <p:cNvPicPr>
            <a:picLocks noChangeAspect="1"/>
          </p:cNvPicPr>
          <p:nvPr/>
        </p:nvPicPr>
        <p:blipFill>
          <a:blip r:embed="rId4"/>
          <a:stretch>
            <a:fillRect/>
          </a:stretch>
        </p:blipFill>
        <p:spPr>
          <a:xfrm>
            <a:off x="805595" y="1684406"/>
            <a:ext cx="460587" cy="460587"/>
          </a:xfrm>
          <a:prstGeom prst="rect">
            <a:avLst/>
          </a:prstGeom>
        </p:spPr>
      </p:pic>
      <p:grpSp>
        <p:nvGrpSpPr>
          <p:cNvPr id="51" name="组合 50"/>
          <p:cNvGrpSpPr/>
          <p:nvPr/>
        </p:nvGrpSpPr>
        <p:grpSpPr>
          <a:xfrm>
            <a:off x="1663431" y="5794289"/>
            <a:ext cx="8882272" cy="343660"/>
            <a:chOff x="1757118" y="4324905"/>
            <a:chExt cx="8882272" cy="343660"/>
          </a:xfrm>
        </p:grpSpPr>
        <p:grpSp>
          <p:nvGrpSpPr>
            <p:cNvPr id="52" name="组合 51"/>
            <p:cNvGrpSpPr/>
            <p:nvPr/>
          </p:nvGrpSpPr>
          <p:grpSpPr>
            <a:xfrm>
              <a:off x="1757118" y="4324905"/>
              <a:ext cx="8882272" cy="343660"/>
              <a:chOff x="1479302" y="5772680"/>
              <a:chExt cx="8864294" cy="447646"/>
            </a:xfrm>
          </p:grpSpPr>
          <p:sp>
            <p:nvSpPr>
              <p:cNvPr id="61"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2"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3"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4"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53" name="矩形 5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54" name="矩形 5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5" name="矩形 54"/>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56" name="矩形 5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57" name="图片 5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58" name="图片 5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59" name="图片 5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60" name="图片 5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65" name="组合 64"/>
          <p:cNvGrpSpPr/>
          <p:nvPr/>
        </p:nvGrpSpPr>
        <p:grpSpPr>
          <a:xfrm>
            <a:off x="1949877" y="5520686"/>
            <a:ext cx="8200250" cy="230832"/>
            <a:chOff x="2043564" y="4067093"/>
            <a:chExt cx="8200250" cy="230832"/>
          </a:xfrm>
        </p:grpSpPr>
        <p:sp>
          <p:nvSpPr>
            <p:cNvPr id="66" name="矩形 65"/>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7" name="矩形 66"/>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8" name="矩形 67"/>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69" name="矩形 68"/>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0" name="矩形 69"/>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1" name="矩形 70"/>
            <p:cNvSpPr/>
            <p:nvPr/>
          </p:nvSpPr>
          <p:spPr>
            <a:xfrm>
              <a:off x="681990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2" name="矩形 71"/>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3" name="矩形 72"/>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4" name="矩形 73"/>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75" name="直接连接符 74"/>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8" name="矩形 117"/>
          <p:cNvSpPr/>
          <p:nvPr/>
        </p:nvSpPr>
        <p:spPr>
          <a:xfrm>
            <a:off x="6706715"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71500" y="392912"/>
            <a:ext cx="11185525" cy="676275"/>
          </a:xfrm>
        </p:spPr>
        <p:txBody>
          <a:bodyPr>
            <a:noAutofit/>
          </a:bodyPr>
          <a:lstStyle/>
          <a:p>
            <a:r>
              <a:rPr lang="en-US" altLang="zh-CN"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CPQ</a:t>
            </a: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解决方案，</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复杂产品多层多阶灵活组合快速报价，洞察产品营收</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10" name="组合 9"/>
          <p:cNvGrpSpPr/>
          <p:nvPr/>
        </p:nvGrpSpPr>
        <p:grpSpPr>
          <a:xfrm>
            <a:off x="9442458" y="1438513"/>
            <a:ext cx="1676932" cy="3523673"/>
            <a:chOff x="7808677" y="1581914"/>
            <a:chExt cx="1864228" cy="3917231"/>
          </a:xfrm>
        </p:grpSpPr>
        <p:pic>
          <p:nvPicPr>
            <p:cNvPr id="12" name="图片 11"/>
            <p:cNvPicPr>
              <a:picLocks noChangeAspect="1"/>
            </p:cNvPicPr>
            <p:nvPr/>
          </p:nvPicPr>
          <p:blipFill rotWithShape="1">
            <a:blip r:embed="rId1"/>
            <a:srcRect l="1047" r="778"/>
            <a:stretch>
              <a:fillRect/>
            </a:stretch>
          </p:blipFill>
          <p:spPr>
            <a:xfrm>
              <a:off x="7882467" y="1603632"/>
              <a:ext cx="1790438" cy="3895513"/>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7808677" y="1581914"/>
              <a:ext cx="1091353" cy="605838"/>
              <a:chOff x="3391246" y="943831"/>
              <a:chExt cx="1188520" cy="636376"/>
            </a:xfrm>
          </p:grpSpPr>
          <p:sp>
            <p:nvSpPr>
              <p:cNvPr id="40" name="斜纹 10"/>
              <p:cNvSpPr/>
              <p:nvPr/>
            </p:nvSpPr>
            <p:spPr>
              <a:xfrm>
                <a:off x="3470270" y="965753"/>
                <a:ext cx="877790"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433735">
                <a:off x="3391246" y="943831"/>
                <a:ext cx="1188520" cy="287518"/>
              </a:xfrm>
              <a:prstGeom prst="rect">
                <a:avLst/>
              </a:prstGeom>
              <a:noFill/>
            </p:spPr>
            <p:txBody>
              <a:bodyPr wrap="square" rtlCol="0">
                <a:spAutoFit/>
              </a:bodyPr>
              <a:lstStyle/>
              <a:p>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配置价格</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nvGrpSpPr>
          <p:cNvPr id="15" name="组合 14"/>
          <p:cNvGrpSpPr/>
          <p:nvPr/>
        </p:nvGrpSpPr>
        <p:grpSpPr>
          <a:xfrm>
            <a:off x="869144" y="1504496"/>
            <a:ext cx="3933317" cy="3517017"/>
            <a:chOff x="878482" y="1394060"/>
            <a:chExt cx="3933317" cy="3517017"/>
          </a:xfrm>
        </p:grpSpPr>
        <p:sp>
          <p:nvSpPr>
            <p:cNvPr id="5" name="TextBox 17"/>
            <p:cNvSpPr txBox="1"/>
            <p:nvPr/>
          </p:nvSpPr>
          <p:spPr>
            <a:xfrm>
              <a:off x="1430510" y="2374805"/>
              <a:ext cx="3038991"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产品定价</a:t>
              </a:r>
              <a:r>
                <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(Price)</a:t>
              </a:r>
              <a:endPar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8"/>
            <p:cNvSpPr txBox="1"/>
            <p:nvPr/>
          </p:nvSpPr>
          <p:spPr>
            <a:xfrm>
              <a:off x="1430509" y="2739610"/>
              <a:ext cx="3381290" cy="302840"/>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根据业务模式，通过价格引擎，动态定义产品价格及折扣</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3" name="TextBox 17"/>
            <p:cNvSpPr txBox="1"/>
            <p:nvPr/>
          </p:nvSpPr>
          <p:spPr>
            <a:xfrm>
              <a:off x="1430510" y="3194269"/>
              <a:ext cx="3340100" cy="460375"/>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产品报价（</a:t>
              </a:r>
              <a:r>
                <a:rPr lang="en-US" altLang="zh-CN" sz="1600" b="1" dirty="0" err="1">
                  <a:solidFill>
                    <a:srgbClr val="1C69D4"/>
                  </a:solidFill>
                  <a:latin typeface="微软雅黑" panose="020B0503020204020204" pitchFamily="34" charset="-122"/>
                  <a:ea typeface="微软雅黑" panose="020B0503020204020204" pitchFamily="34" charset="-122"/>
                  <a:cs typeface="苹方-简" panose="020B0400000000000000" pitchFamily="2" charset="-120"/>
                </a:rPr>
                <a:t>Quote</a:t>
              </a: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4" name="TextBox 18"/>
            <p:cNvSpPr txBox="1"/>
            <p:nvPr/>
          </p:nvSpPr>
          <p:spPr>
            <a:xfrm>
              <a:off x="1430510" y="3574278"/>
              <a:ext cx="3373967" cy="302840"/>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根据需求进行灵活折扣调整，自动实时生产报价单</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sp>
          <p:nvSpPr>
            <p:cNvPr id="22" name="TextBox 17"/>
            <p:cNvSpPr txBox="1"/>
            <p:nvPr/>
          </p:nvSpPr>
          <p:spPr>
            <a:xfrm>
              <a:off x="1430510" y="1394060"/>
              <a:ext cx="3340100" cy="429156"/>
            </a:xfrm>
            <a:prstGeom prst="rect">
              <a:avLst/>
            </a:prstGeom>
            <a:noFill/>
          </p:spPr>
          <p:txBody>
            <a:bodyPr wrap="square" numCol="1" spcCol="0" rtlCol="0" anchor="ctr">
              <a:spAutoFit/>
            </a:bodyPr>
            <a:lstStyle/>
            <a:p>
              <a:pPr>
                <a:lnSpc>
                  <a:spcPct val="150000"/>
                </a:lnSpc>
              </a:pP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产品配置（</a:t>
              </a:r>
              <a:r>
                <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Configure</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a:t>
              </a:r>
              <a:endPar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4" name="TextBox 18"/>
            <p:cNvSpPr txBox="1"/>
            <p:nvPr/>
          </p:nvSpPr>
          <p:spPr>
            <a:xfrm>
              <a:off x="1430509" y="1762632"/>
              <a:ext cx="3339253"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通过产品目录，产品功能和产品选项灵活定义多层级组合产品</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6" name="Graphic 21" descr="Trophy"/>
            <p:cNvPicPr>
              <a:picLocks noChangeAspect="1"/>
            </p:cNvPicPr>
            <p:nvPr/>
          </p:nvPicPr>
          <p:blipFill>
            <a:blip r:embed="rId2"/>
            <a:stretch>
              <a:fillRect/>
            </a:stretch>
          </p:blipFill>
          <p:spPr>
            <a:xfrm>
              <a:off x="878482" y="2447259"/>
              <a:ext cx="460587" cy="460587"/>
            </a:xfrm>
            <a:prstGeom prst="rect">
              <a:avLst/>
            </a:prstGeom>
          </p:spPr>
        </p:pic>
        <p:pic>
          <p:nvPicPr>
            <p:cNvPr id="28" name="Graphic 23" descr="Network"/>
            <p:cNvPicPr>
              <a:picLocks noChangeAspect="1"/>
            </p:cNvPicPr>
            <p:nvPr/>
          </p:nvPicPr>
          <p:blipFill>
            <a:blip r:embed="rId3"/>
            <a:stretch>
              <a:fillRect/>
            </a:stretch>
          </p:blipFill>
          <p:spPr>
            <a:xfrm>
              <a:off x="878482" y="3214452"/>
              <a:ext cx="552027" cy="552027"/>
            </a:xfrm>
            <a:prstGeom prst="rect">
              <a:avLst/>
            </a:prstGeom>
          </p:spPr>
        </p:pic>
        <p:pic>
          <p:nvPicPr>
            <p:cNvPr id="29" name="Graphic 25" descr="Gears"/>
            <p:cNvPicPr>
              <a:picLocks noChangeAspect="1"/>
            </p:cNvPicPr>
            <p:nvPr/>
          </p:nvPicPr>
          <p:blipFill>
            <a:blip r:embed="rId4"/>
            <a:stretch>
              <a:fillRect/>
            </a:stretch>
          </p:blipFill>
          <p:spPr>
            <a:xfrm>
              <a:off x="878483" y="1420254"/>
              <a:ext cx="559647" cy="559647"/>
            </a:xfrm>
            <a:prstGeom prst="rect">
              <a:avLst/>
            </a:prstGeom>
          </p:spPr>
        </p:pic>
        <p:sp>
          <p:nvSpPr>
            <p:cNvPr id="2" name="TextBox 17"/>
            <p:cNvSpPr txBox="1"/>
            <p:nvPr/>
          </p:nvSpPr>
          <p:spPr>
            <a:xfrm>
              <a:off x="1430510" y="3986336"/>
              <a:ext cx="3340100"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产品营收洞察</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3" name="TextBox 18"/>
            <p:cNvSpPr txBox="1"/>
            <p:nvPr/>
          </p:nvSpPr>
          <p:spPr>
            <a:xfrm>
              <a:off x="1430509" y="4377405"/>
              <a:ext cx="3373120" cy="533672"/>
            </a:xfrm>
            <a:prstGeom prst="rect">
              <a:avLst/>
            </a:prstGeom>
            <a:noFill/>
          </p:spPr>
          <p:txBody>
            <a:bodyPr wrap="square" numCol="1" spcCol="0" rtlCol="0" anchor="ctr">
              <a:spAutoFit/>
            </a:bodyPr>
            <a:lstStyle/>
            <a:p>
              <a:pPr>
                <a:lnSpc>
                  <a:spcPct val="150000"/>
                </a:lnSpc>
              </a:pPr>
              <a:r>
                <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全面追踪产品或配件的订单数量，深入洞察各产品线的营收情况</a:t>
              </a:r>
              <a:endParaRPr lang="zh-CN" altLang="en-US" sz="10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8" name="图片 7" descr="fenxi2"/>
            <p:cNvPicPr>
              <a:picLocks noChangeAspect="1"/>
            </p:cNvPicPr>
            <p:nvPr/>
          </p:nvPicPr>
          <p:blipFill>
            <a:blip r:embed="rId5"/>
            <a:stretch>
              <a:fillRect/>
            </a:stretch>
          </p:blipFill>
          <p:spPr>
            <a:xfrm>
              <a:off x="989397" y="4073085"/>
              <a:ext cx="349673" cy="349673"/>
            </a:xfrm>
            <a:prstGeom prst="rect">
              <a:avLst/>
            </a:prstGeom>
          </p:spPr>
        </p:pic>
      </p:grpSp>
      <p:pic>
        <p:nvPicPr>
          <p:cNvPr id="6" name="图片 5" descr="CPQ-报价单"/>
          <p:cNvPicPr>
            <a:picLocks noChangeAspect="1"/>
          </p:cNvPicPr>
          <p:nvPr/>
        </p:nvPicPr>
        <p:blipFill>
          <a:blip r:embed="rId6"/>
          <a:stretch>
            <a:fillRect/>
          </a:stretch>
        </p:blipFill>
        <p:spPr>
          <a:xfrm>
            <a:off x="4823158" y="2038854"/>
            <a:ext cx="4528820" cy="2348653"/>
          </a:xfrm>
          <a:prstGeom prst="rect">
            <a:avLst/>
          </a:prstGeom>
          <a:effectLst>
            <a:outerShdw blurRad="457200" dist="88900" dir="5400000" algn="t" rotWithShape="0">
              <a:prstClr val="black">
                <a:alpha val="33000"/>
              </a:prstClr>
            </a:outerShdw>
          </a:effectLst>
        </p:spPr>
      </p:pic>
      <p:grpSp>
        <p:nvGrpSpPr>
          <p:cNvPr id="87" name="组合 86"/>
          <p:cNvGrpSpPr/>
          <p:nvPr/>
        </p:nvGrpSpPr>
        <p:grpSpPr>
          <a:xfrm>
            <a:off x="1663431" y="5794289"/>
            <a:ext cx="8882272" cy="343660"/>
            <a:chOff x="1757118" y="4324905"/>
            <a:chExt cx="8882272" cy="343660"/>
          </a:xfrm>
        </p:grpSpPr>
        <p:grpSp>
          <p:nvGrpSpPr>
            <p:cNvPr id="88" name="组合 87"/>
            <p:cNvGrpSpPr/>
            <p:nvPr/>
          </p:nvGrpSpPr>
          <p:grpSpPr>
            <a:xfrm>
              <a:off x="1757118" y="4324905"/>
              <a:ext cx="8882272" cy="343660"/>
              <a:chOff x="1479302" y="5772680"/>
              <a:chExt cx="8864294" cy="447646"/>
            </a:xfrm>
          </p:grpSpPr>
          <p:sp>
            <p:nvSpPr>
              <p:cNvPr id="97"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8"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9" name="矩形 88"/>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90" name="矩形 89"/>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1" name="矩形 90"/>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2" name="矩形 91"/>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93" name="图片 9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4" name="图片 9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5" name="图片 9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6" name="图片 9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1" name="组合 100"/>
          <p:cNvGrpSpPr/>
          <p:nvPr/>
        </p:nvGrpSpPr>
        <p:grpSpPr>
          <a:xfrm>
            <a:off x="1949877" y="5520686"/>
            <a:ext cx="8200250" cy="230832"/>
            <a:chOff x="2043564" y="4067093"/>
            <a:chExt cx="8200250" cy="230832"/>
          </a:xfrm>
        </p:grpSpPr>
        <p:sp>
          <p:nvSpPr>
            <p:cNvPr id="102" name="矩形 101"/>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6819905"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1" name="直接连接符 110"/>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9" name="矩形 118"/>
          <p:cNvSpPr/>
          <p:nvPr/>
        </p:nvSpPr>
        <p:spPr>
          <a:xfrm>
            <a:off x="6706715"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1"/>
          <a:srcRect l="229" t="598" r="8772" b="1010"/>
          <a:stretch>
            <a:fillRect/>
          </a:stretch>
        </p:blipFill>
        <p:spPr>
          <a:xfrm>
            <a:off x="4655821" y="1843726"/>
            <a:ext cx="4541095" cy="2371726"/>
          </a:xfrm>
          <a:prstGeom prst="rect">
            <a:avLst/>
          </a:prstGeom>
          <a:effectLst>
            <a:outerShdw blurRad="457200" dist="88900" dir="5400000" algn="t" rotWithShape="0">
              <a:prstClr val="black">
                <a:alpha val="33000"/>
              </a:prstClr>
            </a:outerShdw>
          </a:effectLst>
        </p:spPr>
      </p:pic>
      <p:sp>
        <p:nvSpPr>
          <p:cNvPr id="4" name="Title 1"/>
          <p:cNvSpPr>
            <a:spLocks noGrp="1"/>
          </p:cNvSpPr>
          <p:nvPr>
            <p:ph type="title"/>
          </p:nvPr>
        </p:nvSpPr>
        <p:spPr>
          <a:xfrm>
            <a:off x="571563" y="370270"/>
            <a:ext cx="8479367" cy="676275"/>
          </a:xfrm>
        </p:spPr>
        <p:txBody>
          <a:bodyPr>
            <a:noAutofit/>
          </a:bodyPr>
          <a:lstStyle/>
          <a:p>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合同与订单管理，</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以客户需求为中心，精细化管理生产与研发</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3" name="组合 2"/>
          <p:cNvGrpSpPr/>
          <p:nvPr/>
        </p:nvGrpSpPr>
        <p:grpSpPr>
          <a:xfrm>
            <a:off x="899754" y="1803044"/>
            <a:ext cx="3652477" cy="2811199"/>
            <a:chOff x="1003344" y="1591230"/>
            <a:chExt cx="3652477" cy="2811199"/>
          </a:xfrm>
        </p:grpSpPr>
        <p:sp>
          <p:nvSpPr>
            <p:cNvPr id="5" name="TextBox 17"/>
            <p:cNvSpPr txBox="1"/>
            <p:nvPr/>
          </p:nvSpPr>
          <p:spPr>
            <a:xfrm>
              <a:off x="1519768" y="3347803"/>
              <a:ext cx="3136053" cy="584775"/>
            </a:xfrm>
            <a:prstGeom prst="rect">
              <a:avLst/>
            </a:prstGeom>
            <a:noFill/>
          </p:spPr>
          <p:txBody>
            <a:bodyPr wrap="square" numCol="1" spcCol="0" rtlCol="0" anchor="ctr">
              <a:spAutoFit/>
            </a:bodyPr>
            <a:lstStyle/>
            <a:p>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订单管理延伸</a:t>
              </a:r>
              <a:r>
                <a:rPr lang="en-US" altLang="zh-CN"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CRM</a:t>
              </a:r>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价值，实现创新生产</a:t>
              </a:r>
              <a:endPar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7" name="TextBox 18"/>
            <p:cNvSpPr txBox="1"/>
            <p:nvPr/>
          </p:nvSpPr>
          <p:spPr>
            <a:xfrm>
              <a:off x="1519768" y="3919220"/>
              <a:ext cx="3006512" cy="483209"/>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通过</a:t>
              </a:r>
              <a:r>
                <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API</a:t>
              </a: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实现订单与</a:t>
              </a:r>
              <a:r>
                <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ERP</a:t>
              </a: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的对接，确保销售、生产信息的打通与精准无误</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2" name="TextBox 17"/>
            <p:cNvSpPr txBox="1"/>
            <p:nvPr/>
          </p:nvSpPr>
          <p:spPr>
            <a:xfrm>
              <a:off x="1519768" y="1591230"/>
              <a:ext cx="3036543" cy="584775"/>
            </a:xfrm>
            <a:prstGeom prst="rect">
              <a:avLst/>
            </a:prstGeom>
            <a:noFill/>
          </p:spPr>
          <p:txBody>
            <a:bodyPr wrap="square" numCol="1" spcCol="0" rtlCol="0" anchor="ctr">
              <a:spAutoFit/>
            </a:bodyPr>
            <a:lstStyle/>
            <a:p>
              <a:r>
                <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覆盖合同管理全生命周期，健全风险防控体系</a:t>
              </a:r>
              <a:endParaRPr lang="zh-CN" altLang="en-US"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24" name="TextBox 18"/>
            <p:cNvSpPr txBox="1"/>
            <p:nvPr/>
          </p:nvSpPr>
          <p:spPr>
            <a:xfrm>
              <a:off x="1519768" y="2194057"/>
              <a:ext cx="3059852" cy="898708"/>
            </a:xfrm>
            <a:prstGeom prst="rect">
              <a:avLst/>
            </a:prstGeom>
            <a:noFill/>
          </p:spPr>
          <p:txBody>
            <a:bodyPr wrap="square" numCol="1" spcCol="0" rtlCol="0" anchor="ctr">
              <a:spAutoFit/>
            </a:bodyPr>
            <a:lstStyle/>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支持多层级、跨组织的风险评估流程，快速响应、高效处理合同审批；</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a:p>
              <a:pPr>
                <a:lnSpc>
                  <a:spcPct val="15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实时掌握合同执行、跟踪、变更等全流程，有效控制与管理合同的分批次履行与进程</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26" name="Graphic 21" descr="Trophy"/>
            <p:cNvPicPr>
              <a:picLocks noChangeAspect="1"/>
            </p:cNvPicPr>
            <p:nvPr/>
          </p:nvPicPr>
          <p:blipFill>
            <a:blip r:embed="rId2"/>
            <a:stretch>
              <a:fillRect/>
            </a:stretch>
          </p:blipFill>
          <p:spPr>
            <a:xfrm>
              <a:off x="1052873" y="3383592"/>
              <a:ext cx="460587" cy="460587"/>
            </a:xfrm>
            <a:prstGeom prst="rect">
              <a:avLst/>
            </a:prstGeom>
          </p:spPr>
        </p:pic>
        <p:pic>
          <p:nvPicPr>
            <p:cNvPr id="29" name="Graphic 25" descr="Gears"/>
            <p:cNvPicPr>
              <a:picLocks noChangeAspect="1"/>
            </p:cNvPicPr>
            <p:nvPr/>
          </p:nvPicPr>
          <p:blipFill>
            <a:blip r:embed="rId3"/>
            <a:stretch>
              <a:fillRect/>
            </a:stretch>
          </p:blipFill>
          <p:spPr>
            <a:xfrm>
              <a:off x="1003344" y="1591268"/>
              <a:ext cx="559647" cy="559647"/>
            </a:xfrm>
            <a:prstGeom prst="rect">
              <a:avLst/>
            </a:prstGeom>
          </p:spPr>
        </p:pic>
      </p:grpSp>
      <p:grpSp>
        <p:nvGrpSpPr>
          <p:cNvPr id="2" name="组合 1"/>
          <p:cNvGrpSpPr/>
          <p:nvPr/>
        </p:nvGrpSpPr>
        <p:grpSpPr>
          <a:xfrm>
            <a:off x="9314066" y="1482561"/>
            <a:ext cx="1594754" cy="3261439"/>
            <a:chOff x="9894649" y="2406227"/>
            <a:chExt cx="1880791" cy="3846407"/>
          </a:xfrm>
        </p:grpSpPr>
        <p:pic>
          <p:nvPicPr>
            <p:cNvPr id="17" name="图片 16" descr="790847be-6594-4c84-a3da-daefd7c6e9ab"/>
            <p:cNvPicPr>
              <a:picLocks noChangeAspect="1"/>
            </p:cNvPicPr>
            <p:nvPr/>
          </p:nvPicPr>
          <p:blipFill>
            <a:blip r:embed="rId4"/>
            <a:stretch>
              <a:fillRect/>
            </a:stretch>
          </p:blipFill>
          <p:spPr>
            <a:xfrm>
              <a:off x="10000827" y="2406227"/>
              <a:ext cx="1774613" cy="3846407"/>
            </a:xfrm>
            <a:prstGeom prst="rect">
              <a:avLst/>
            </a:prstGeom>
            <a:effectLst>
              <a:outerShdw blurRad="457200" dist="88900" dir="5400000" algn="t" rotWithShape="0">
                <a:prstClr val="black">
                  <a:alpha val="33000"/>
                </a:prstClr>
              </a:outerShdw>
            </a:effectLst>
          </p:spPr>
        </p:pic>
        <p:grpSp>
          <p:nvGrpSpPr>
            <p:cNvPr id="39" name="Group 16"/>
            <p:cNvGrpSpPr/>
            <p:nvPr/>
          </p:nvGrpSpPr>
          <p:grpSpPr>
            <a:xfrm>
              <a:off x="9894649" y="2406227"/>
              <a:ext cx="1091353" cy="584968"/>
              <a:chOff x="3335268" y="965753"/>
              <a:chExt cx="1188519" cy="614454"/>
            </a:xfrm>
          </p:grpSpPr>
          <p:sp>
            <p:nvSpPr>
              <p:cNvPr id="40" name="斜纹 10"/>
              <p:cNvSpPr/>
              <p:nvPr/>
            </p:nvSpPr>
            <p:spPr>
              <a:xfrm>
                <a:off x="3453959" y="965753"/>
                <a:ext cx="877791" cy="614454"/>
              </a:xfrm>
              <a:prstGeom prst="diagStripe">
                <a:avLst/>
              </a:prstGeom>
              <a:solidFill>
                <a:srgbClr val="FFB24D"/>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20">
                  <a:latin typeface="微软雅黑" panose="020B0503020204020204" pitchFamily="34" charset="-122"/>
                  <a:ea typeface="微软雅黑" panose="020B0503020204020204" pitchFamily="34" charset="-122"/>
                </a:endParaRPr>
              </a:p>
            </p:txBody>
          </p:sp>
          <p:sp>
            <p:nvSpPr>
              <p:cNvPr id="41" name="文本框 30"/>
              <p:cNvSpPr txBox="1"/>
              <p:nvPr/>
            </p:nvSpPr>
            <p:spPr>
              <a:xfrm rot="19433735">
                <a:off x="3335268" y="973175"/>
                <a:ext cx="1188519" cy="285956"/>
              </a:xfrm>
              <a:prstGeom prst="rect">
                <a:avLst/>
              </a:prstGeom>
              <a:noFill/>
            </p:spPr>
            <p:txBody>
              <a:bodyPr wrap="square" rtlCol="0">
                <a:spAutoFit/>
              </a:bodyPr>
              <a:lstStyle/>
              <a:p>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订单详情</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grpSp>
      <p:grpSp>
        <p:nvGrpSpPr>
          <p:cNvPr id="81" name="组合 80"/>
          <p:cNvGrpSpPr/>
          <p:nvPr/>
        </p:nvGrpSpPr>
        <p:grpSpPr>
          <a:xfrm>
            <a:off x="1663431" y="57942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1"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2"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3"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4"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8" name="图片 8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89" name="图片 8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0" name="图片 8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5" name="组合 94"/>
          <p:cNvGrpSpPr/>
          <p:nvPr/>
        </p:nvGrpSpPr>
        <p:grpSpPr>
          <a:xfrm>
            <a:off x="1949877" y="5520686"/>
            <a:ext cx="8200250" cy="230832"/>
            <a:chOff x="2043564" y="4067093"/>
            <a:chExt cx="8200250" cy="230832"/>
          </a:xfrm>
        </p:grpSpPr>
        <p:sp>
          <p:nvSpPr>
            <p:cNvPr id="96" name="矩形 95"/>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7" name="矩形 96"/>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8" name="矩形 97"/>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9" name="矩形 98"/>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7586462"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5" name="直接连接符 104"/>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3" name="矩形 112"/>
          <p:cNvSpPr/>
          <p:nvPr/>
        </p:nvSpPr>
        <p:spPr>
          <a:xfrm>
            <a:off x="7500940"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43038" y="378157"/>
            <a:ext cx="8482430" cy="325811"/>
          </a:xfrm>
        </p:spPr>
        <p:txBody>
          <a:bodyPr>
            <a:noAutofit/>
          </a:bodyPr>
          <a:lstStyle/>
          <a:p>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发票与回款管理，</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打造正逆向业务闭环，快速实现订单到回款</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11" name="组合 10"/>
          <p:cNvGrpSpPr/>
          <p:nvPr/>
        </p:nvGrpSpPr>
        <p:grpSpPr>
          <a:xfrm>
            <a:off x="624291" y="1401522"/>
            <a:ext cx="9902137" cy="1393045"/>
            <a:chOff x="624291" y="1011906"/>
            <a:chExt cx="9902137" cy="1393045"/>
          </a:xfrm>
        </p:grpSpPr>
        <p:sp>
          <p:nvSpPr>
            <p:cNvPr id="8" name="TextBox 17"/>
            <p:cNvSpPr txBox="1"/>
            <p:nvPr/>
          </p:nvSpPr>
          <p:spPr>
            <a:xfrm>
              <a:off x="4323878" y="1060010"/>
              <a:ext cx="1128920" cy="377411"/>
            </a:xfrm>
            <a:prstGeom prst="rect">
              <a:avLst/>
            </a:prstGeom>
            <a:noFill/>
          </p:spPr>
          <p:txBody>
            <a:bodyPr wrap="square" numCol="1" spcCol="0" rtlCol="0" anchor="ctr">
              <a:spAutoFit/>
            </a:bodyPr>
            <a:lstStyle/>
            <a:p>
              <a:pPr>
                <a:lnSpc>
                  <a:spcPct val="150000"/>
                </a:lnSpc>
              </a:pP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变更管理</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 name="TextBox 18"/>
            <p:cNvSpPr txBox="1"/>
            <p:nvPr/>
          </p:nvSpPr>
          <p:spPr>
            <a:xfrm>
              <a:off x="4331307" y="1391147"/>
              <a:ext cx="2205208" cy="489173"/>
            </a:xfrm>
            <a:prstGeom prst="rect">
              <a:avLst/>
            </a:prstGeom>
            <a:noFill/>
          </p:spPr>
          <p:txBody>
            <a:bodyPr wrap="square" numCol="1" spcCol="0" rtlCol="0" anchor="ctr">
              <a:spAutoFit/>
            </a:bodyPr>
            <a:lstStyle/>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根据业务变动，及时变更订单，做应收变更与退款</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自动核销应收变更金额，历史变更信息可追溯</a:t>
              </a:r>
              <a:endPar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sp>
          <p:nvSpPr>
            <p:cNvPr id="12" name="TextBox 17"/>
            <p:cNvSpPr txBox="1"/>
            <p:nvPr/>
          </p:nvSpPr>
          <p:spPr>
            <a:xfrm>
              <a:off x="1152358" y="1060010"/>
              <a:ext cx="2259221" cy="377411"/>
            </a:xfrm>
            <a:prstGeom prst="rect">
              <a:avLst/>
            </a:prstGeom>
            <a:noFill/>
          </p:spPr>
          <p:txBody>
            <a:bodyPr wrap="square" numCol="1" spcCol="0" rtlCol="0" anchor="ctr">
              <a:spAutoFit/>
            </a:bodyPr>
            <a:lstStyle/>
            <a:p>
              <a:pPr>
                <a:lnSpc>
                  <a:spcPct val="150000"/>
                </a:lnSpc>
              </a:pPr>
              <a:r>
                <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应收、发票与收款管理</a:t>
              </a:r>
              <a:endParaRPr lang="zh-CN" altLang="en-US"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6" name="TextBox 18"/>
            <p:cNvSpPr txBox="1"/>
            <p:nvPr/>
          </p:nvSpPr>
          <p:spPr>
            <a:xfrm>
              <a:off x="1152358" y="1391147"/>
              <a:ext cx="2459736" cy="1013804"/>
            </a:xfrm>
            <a:prstGeom prst="rect">
              <a:avLst/>
            </a:prstGeom>
            <a:noFill/>
          </p:spPr>
          <p:txBody>
            <a:bodyPr wrap="square" numCol="1" spcCol="0" rtlCol="0" anchor="ctr">
              <a:spAutoFit/>
            </a:bodyPr>
            <a:lstStyle/>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rPr>
                <a:t>按金额或比例分批次创建收款计划；</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基于应收单，给客户开具发票</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通过邮件或系统消息通知销售预计回款与逾期回款金额，及时催款</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款项到账，创建收款单，自动核销应收余额</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endParaRPr>
            </a:p>
            <a:p>
              <a:pPr>
                <a:lnSpc>
                  <a:spcPct val="150000"/>
                </a:lnSpc>
              </a:pPr>
              <a:endParaRPr lang="zh-CN" altLang="en-US" sz="1200" dirty="0">
                <a:solidFill>
                  <a:schemeClr val="bg2"/>
                </a:solidFill>
                <a:latin typeface="微软雅黑" panose="020B0503020204020204" pitchFamily="34" charset="-122"/>
                <a:ea typeface="微软雅黑" panose="020B0503020204020204" pitchFamily="34" charset="-122"/>
                <a:cs typeface="+mn-ea"/>
              </a:endParaRPr>
            </a:p>
          </p:txBody>
        </p:sp>
        <p:pic>
          <p:nvPicPr>
            <p:cNvPr id="18" name="Graphic 21" descr="Trophy"/>
            <p:cNvPicPr>
              <a:picLocks noChangeAspect="1"/>
            </p:cNvPicPr>
            <p:nvPr/>
          </p:nvPicPr>
          <p:blipFill>
            <a:blip r:embed="rId1"/>
            <a:stretch>
              <a:fillRect/>
            </a:stretch>
          </p:blipFill>
          <p:spPr>
            <a:xfrm>
              <a:off x="3908172" y="1061437"/>
              <a:ext cx="460587" cy="460587"/>
            </a:xfrm>
            <a:prstGeom prst="rect">
              <a:avLst/>
            </a:prstGeom>
          </p:spPr>
        </p:pic>
        <p:pic>
          <p:nvPicPr>
            <p:cNvPr id="20" name="Graphic 25" descr="Gears"/>
            <p:cNvPicPr>
              <a:picLocks noChangeAspect="1"/>
            </p:cNvPicPr>
            <p:nvPr/>
          </p:nvPicPr>
          <p:blipFill>
            <a:blip r:embed="rId2"/>
            <a:stretch>
              <a:fillRect/>
            </a:stretch>
          </p:blipFill>
          <p:spPr>
            <a:xfrm>
              <a:off x="624291" y="1011906"/>
              <a:ext cx="559647" cy="559647"/>
            </a:xfrm>
            <a:prstGeom prst="rect">
              <a:avLst/>
            </a:prstGeom>
          </p:spPr>
        </p:pic>
        <p:sp>
          <p:nvSpPr>
            <p:cNvPr id="21" name="TextBox 17"/>
            <p:cNvSpPr txBox="1"/>
            <p:nvPr/>
          </p:nvSpPr>
          <p:spPr>
            <a:xfrm>
              <a:off x="7186328" y="1060010"/>
              <a:ext cx="3340100" cy="377411"/>
            </a:xfrm>
            <a:prstGeom prst="rect">
              <a:avLst/>
            </a:prstGeom>
            <a:noFill/>
          </p:spPr>
          <p:txBody>
            <a:bodyPr wrap="square" numCol="1" spcCol="0" rtlCol="0" anchor="ctr">
              <a:spAutoFit/>
            </a:bodyPr>
            <a:lstStyle/>
            <a:p>
              <a:pPr>
                <a:lnSpc>
                  <a:spcPct val="150000"/>
                </a:lnSpc>
              </a:pPr>
              <a:r>
                <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可视化交易数据分析</a:t>
              </a:r>
              <a:endParaRPr lang="zh-CN" altLang="ja-JP" sz="1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25" name="Graphic 23" descr="Network"/>
            <p:cNvPicPr>
              <a:picLocks noChangeAspect="1"/>
            </p:cNvPicPr>
            <p:nvPr/>
          </p:nvPicPr>
          <p:blipFill>
            <a:blip r:embed="rId3"/>
            <a:stretch>
              <a:fillRect/>
            </a:stretch>
          </p:blipFill>
          <p:spPr>
            <a:xfrm>
              <a:off x="6684463" y="1033753"/>
              <a:ext cx="501865" cy="501865"/>
            </a:xfrm>
            <a:prstGeom prst="rect">
              <a:avLst/>
            </a:prstGeom>
          </p:spPr>
        </p:pic>
        <p:sp>
          <p:nvSpPr>
            <p:cNvPr id="27" name="TextBox 18"/>
            <p:cNvSpPr txBox="1"/>
            <p:nvPr/>
          </p:nvSpPr>
          <p:spPr>
            <a:xfrm>
              <a:off x="7204151" y="1391147"/>
              <a:ext cx="2387286" cy="489173"/>
            </a:xfrm>
            <a:prstGeom prst="rect">
              <a:avLst/>
            </a:prstGeom>
            <a:noFill/>
          </p:spPr>
          <p:txBody>
            <a:bodyPr wrap="square" numCol="1" spcCol="0" rtlCol="0" anchor="ctr">
              <a:spAutoFit/>
            </a:bodyPr>
            <a:lstStyle/>
            <a:p>
              <a:pPr>
                <a:lnSpc>
                  <a:spcPct val="110000"/>
                </a:lnSpc>
              </a:pP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满足企业不同角色如</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CEO</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、销售管理者、销售代表以及财务人员等对订单、回款、逾期账款等交易数据的全面洞察与分析，指引相应的工作。</a:t>
              </a:r>
              <a:endPar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grpSp>
      <p:pic>
        <p:nvPicPr>
          <p:cNvPr id="76" name="图片 75" descr="交易管理-收款"/>
          <p:cNvPicPr>
            <a:picLocks noChangeAspect="1"/>
          </p:cNvPicPr>
          <p:nvPr/>
        </p:nvPicPr>
        <p:blipFill>
          <a:blip r:embed="rId4"/>
          <a:stretch>
            <a:fillRect/>
          </a:stretch>
        </p:blipFill>
        <p:spPr>
          <a:xfrm>
            <a:off x="686757" y="2759695"/>
            <a:ext cx="3930908" cy="2197949"/>
          </a:xfrm>
          <a:prstGeom prst="rect">
            <a:avLst/>
          </a:prstGeom>
          <a:effectLst>
            <a:outerShdw blurRad="457200" dist="88900" dir="5400000" algn="t" rotWithShape="0">
              <a:prstClr val="black">
                <a:alpha val="33000"/>
              </a:prstClr>
            </a:outerShdw>
          </a:effectLst>
        </p:spPr>
      </p:pic>
      <p:grpSp>
        <p:nvGrpSpPr>
          <p:cNvPr id="9" name="组合 8"/>
          <p:cNvGrpSpPr/>
          <p:nvPr/>
        </p:nvGrpSpPr>
        <p:grpSpPr>
          <a:xfrm>
            <a:off x="4775059" y="2759697"/>
            <a:ext cx="4820328" cy="2195703"/>
            <a:chOff x="4836263" y="2957728"/>
            <a:chExt cx="4189206" cy="1908221"/>
          </a:xfrm>
        </p:grpSpPr>
        <p:sp>
          <p:nvSpPr>
            <p:cNvPr id="6" name="矩形 5"/>
            <p:cNvSpPr/>
            <p:nvPr/>
          </p:nvSpPr>
          <p:spPr>
            <a:xfrm>
              <a:off x="4836263" y="2957728"/>
              <a:ext cx="4189206" cy="1908221"/>
            </a:xfrm>
            <a:prstGeom prst="rect">
              <a:avLst/>
            </a:prstGeom>
            <a:solidFill>
              <a:srgbClr val="FFFFFF"/>
            </a:solidFill>
            <a:ln>
              <a:noFill/>
            </a:ln>
            <a:effectLst>
              <a:outerShdw blurRad="457200" dist="88900" dir="54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78" name="图片 77" descr="交易管理"/>
            <p:cNvPicPr>
              <a:picLocks noChangeAspect="1"/>
            </p:cNvPicPr>
            <p:nvPr/>
          </p:nvPicPr>
          <p:blipFill>
            <a:blip r:embed="rId5"/>
            <a:stretch>
              <a:fillRect/>
            </a:stretch>
          </p:blipFill>
          <p:spPr>
            <a:xfrm>
              <a:off x="4915530" y="3043086"/>
              <a:ext cx="4087526" cy="1788805"/>
            </a:xfrm>
            <a:prstGeom prst="rect">
              <a:avLst/>
            </a:prstGeom>
          </p:spPr>
        </p:pic>
      </p:grpSp>
      <p:pic>
        <p:nvPicPr>
          <p:cNvPr id="79" name="图片 78" descr="交易管理-收款单"/>
          <p:cNvPicPr>
            <a:picLocks noChangeAspect="1"/>
          </p:cNvPicPr>
          <p:nvPr/>
        </p:nvPicPr>
        <p:blipFill>
          <a:blip r:embed="rId6"/>
          <a:stretch>
            <a:fillRect/>
          </a:stretch>
        </p:blipFill>
        <p:spPr>
          <a:xfrm>
            <a:off x="9744428" y="1416304"/>
            <a:ext cx="1632373" cy="3536527"/>
          </a:xfrm>
          <a:prstGeom prst="rect">
            <a:avLst/>
          </a:prstGeom>
          <a:effectLst>
            <a:outerShdw blurRad="457200" dist="88900" dir="5400000" algn="t" rotWithShape="0">
              <a:prstClr val="black">
                <a:alpha val="33000"/>
              </a:prstClr>
            </a:outerShdw>
          </a:effectLst>
        </p:spPr>
      </p:pic>
      <p:grpSp>
        <p:nvGrpSpPr>
          <p:cNvPr id="77" name="组合 76"/>
          <p:cNvGrpSpPr/>
          <p:nvPr/>
        </p:nvGrpSpPr>
        <p:grpSpPr>
          <a:xfrm>
            <a:off x="1663431" y="5794289"/>
            <a:ext cx="8882272" cy="343660"/>
            <a:chOff x="1757118" y="4324905"/>
            <a:chExt cx="8882272" cy="343660"/>
          </a:xfrm>
        </p:grpSpPr>
        <p:grpSp>
          <p:nvGrpSpPr>
            <p:cNvPr id="80" name="组合 79"/>
            <p:cNvGrpSpPr/>
            <p:nvPr/>
          </p:nvGrpSpPr>
          <p:grpSpPr>
            <a:xfrm>
              <a:off x="1757118" y="4324905"/>
              <a:ext cx="8882272" cy="343660"/>
              <a:chOff x="1479302" y="5772680"/>
              <a:chExt cx="8864294" cy="447646"/>
            </a:xfrm>
          </p:grpSpPr>
          <p:sp>
            <p:nvSpPr>
              <p:cNvPr id="89"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0"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1"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2"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1" name="矩形 80"/>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2" name="矩形 81"/>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3" name="矩形 82"/>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4" name="矩形 83"/>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5" name="图片 8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6" name="图片 8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87" name="图片 8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88" name="图片 8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3" name="组合 92"/>
          <p:cNvGrpSpPr/>
          <p:nvPr/>
        </p:nvGrpSpPr>
        <p:grpSpPr>
          <a:xfrm>
            <a:off x="1949877" y="5520686"/>
            <a:ext cx="8200250" cy="230832"/>
            <a:chOff x="2043564" y="4067093"/>
            <a:chExt cx="8200250" cy="230832"/>
          </a:xfrm>
        </p:grpSpPr>
        <p:sp>
          <p:nvSpPr>
            <p:cNvPr id="94" name="矩形 93"/>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5" name="矩形 94"/>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6" name="矩形 95"/>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7" name="矩形 96"/>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8" name="矩形 97"/>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9" name="矩形 98"/>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8355660" y="4067093"/>
              <a:ext cx="646331"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9366651" y="4067093"/>
              <a:ext cx="877163"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3" name="直接连接符 102"/>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1" name="矩形 110"/>
          <p:cNvSpPr/>
          <p:nvPr/>
        </p:nvSpPr>
        <p:spPr>
          <a:xfrm>
            <a:off x="8247555" y="5550821"/>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6"/>
          <p:cNvSpPr txBox="1"/>
          <p:nvPr/>
        </p:nvSpPr>
        <p:spPr>
          <a:xfrm>
            <a:off x="1681553" y="2296259"/>
            <a:ext cx="8940268" cy="1569660"/>
          </a:xfrm>
          <a:prstGeom prst="rect">
            <a:avLst/>
          </a:prstGeom>
          <a:noFill/>
        </p:spPr>
        <p:txBody>
          <a:bodyPr wrap="none" rtlCol="0">
            <a:spAutoFit/>
          </a:bodyPr>
          <a:lstStyle/>
          <a:p>
            <a:r>
              <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rPr>
              <a:t>Leads-To-Cash</a:t>
            </a:r>
            <a:endParaRPr lang="en-US" altLang="zh-CN" sz="9600" dirty="0">
              <a:solidFill>
                <a:schemeClr val="bg1">
                  <a:lumMod val="8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grpSp>
        <p:nvGrpSpPr>
          <p:cNvPr id="81" name="组合 80"/>
          <p:cNvGrpSpPr/>
          <p:nvPr/>
        </p:nvGrpSpPr>
        <p:grpSpPr>
          <a:xfrm>
            <a:off x="1663431" y="39273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8"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9"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0" name="箭头: V 形 108"/>
              <p:cNvSpPr/>
              <p:nvPr/>
            </p:nvSpPr>
            <p:spPr>
              <a:xfrm>
                <a:off x="6378951" y="5772680"/>
                <a:ext cx="2567337"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01" name="箭头: V 形 109"/>
              <p:cNvSpPr/>
              <p:nvPr/>
            </p:nvSpPr>
            <p:spPr>
              <a:xfrm>
                <a:off x="8836975" y="5772680"/>
                <a:ext cx="1506621"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95" name="图片 9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96" name="图片 9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7" name="图片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102" name="组合 101"/>
          <p:cNvGrpSpPr/>
          <p:nvPr/>
        </p:nvGrpSpPr>
        <p:grpSpPr>
          <a:xfrm>
            <a:off x="1949877" y="3653786"/>
            <a:ext cx="8200250" cy="230832"/>
            <a:chOff x="2043564" y="4067093"/>
            <a:chExt cx="8200250" cy="230832"/>
          </a:xfrm>
        </p:grpSpPr>
        <p:sp>
          <p:nvSpPr>
            <p:cNvPr id="103" name="矩形 102"/>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5" name="矩形 104"/>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6" name="矩形 105"/>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7" name="矩形 106"/>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8" name="矩形 107"/>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9" name="矩形 108"/>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0" name="矩形 109"/>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1" name="矩形 110"/>
            <p:cNvSpPr/>
            <p:nvPr/>
          </p:nvSpPr>
          <p:spPr>
            <a:xfrm>
              <a:off x="9366651" y="4067093"/>
              <a:ext cx="877163"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12" name="直接连接符 111"/>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649837" y="1150693"/>
            <a:ext cx="10265907" cy="676281"/>
          </a:xfrm>
          <a:prstGeom prst="rect">
            <a:avLst/>
          </a:prstGeom>
          <a:ln w="12700">
            <a:miter lim="400000"/>
          </a:ln>
        </p:spPr>
        <p:txBody>
          <a:bodyPr lIns="60957" tIns="60957" rIns="60957" bIns="60957" anchor="ctr">
            <a:noAutofit/>
          </a:bodyPr>
          <a:lstStyle>
            <a:lvl1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457200" rtl="0" latinLnBrk="0">
              <a:lnSpc>
                <a:spcPct val="100000"/>
              </a:lnSpc>
              <a:spcBef>
                <a:spcPts val="0"/>
              </a:spcBef>
              <a:spcAft>
                <a:spcPts val="0"/>
              </a:spcAft>
              <a:buClrTx/>
              <a:buSzTx/>
              <a:buFontTx/>
              <a:buNone/>
              <a:defRPr sz="2400" b="1" i="0" u="none" strike="noStrike" cap="none" spc="0" baseline="0">
                <a:ln>
                  <a:noFill/>
                </a:ln>
                <a:solidFill>
                  <a:srgbClr val="404040"/>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endParaRPr lang="zh-CN" altLang="en-US" spc="400" dirty="0">
              <a:solidFill>
                <a:schemeClr val="bg2"/>
              </a:solidFill>
            </a:endParaRPr>
          </a:p>
        </p:txBody>
      </p:sp>
      <p:sp>
        <p:nvSpPr>
          <p:cNvPr id="2" name="Title 1"/>
          <p:cNvSpPr>
            <a:spLocks noGrp="1"/>
          </p:cNvSpPr>
          <p:nvPr>
            <p:ph type="title"/>
          </p:nvPr>
        </p:nvSpPr>
        <p:spPr>
          <a:xfrm>
            <a:off x="554933" y="366091"/>
            <a:ext cx="10782300" cy="769937"/>
          </a:xfrm>
        </p:spPr>
        <p:txBody>
          <a:bodyPr>
            <a:no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嵌入式</a:t>
            </a:r>
            <a:r>
              <a:rPr lang="zh-CN" altLang="en-US" sz="24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数据智能分析</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，助力销售管理者更及时、更聪明地决策</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3" name="图片 2"/>
          <p:cNvPicPr>
            <a:picLocks noChangeAspect="1"/>
          </p:cNvPicPr>
          <p:nvPr/>
        </p:nvPicPr>
        <p:blipFill rotWithShape="1">
          <a:blip r:embed="rId1"/>
          <a:srcRect t="1225"/>
          <a:stretch>
            <a:fillRect/>
          </a:stretch>
        </p:blipFill>
        <p:spPr>
          <a:xfrm>
            <a:off x="4986121" y="2113072"/>
            <a:ext cx="4020467" cy="1954540"/>
          </a:xfrm>
          <a:prstGeom prst="rect">
            <a:avLst/>
          </a:prstGeom>
          <a:solidFill>
            <a:srgbClr val="FFFFFF"/>
          </a:solidFill>
          <a:ln>
            <a:noFill/>
          </a:ln>
          <a:effectLst>
            <a:outerShdw blurRad="457200" dist="88900" dir="5400000" algn="t" rotWithShape="0">
              <a:prstClr val="black">
                <a:alpha val="33000"/>
              </a:prstClr>
            </a:outerShdw>
          </a:effectLst>
        </p:spPr>
      </p:pic>
      <p:pic>
        <p:nvPicPr>
          <p:cNvPr id="9" name="图片 8"/>
          <p:cNvPicPr>
            <a:picLocks noChangeAspect="1"/>
          </p:cNvPicPr>
          <p:nvPr/>
        </p:nvPicPr>
        <p:blipFill rotWithShape="1">
          <a:blip r:embed="rId2"/>
          <a:srcRect l="9089" t="6919" r="10292" b="4946"/>
          <a:stretch>
            <a:fillRect/>
          </a:stretch>
        </p:blipFill>
        <p:spPr>
          <a:xfrm>
            <a:off x="9297355" y="1209960"/>
            <a:ext cx="1655234" cy="3590768"/>
          </a:xfrm>
          <a:prstGeom prst="rect">
            <a:avLst/>
          </a:prstGeom>
          <a:solidFill>
            <a:srgbClr val="FFFFFF"/>
          </a:solidFill>
          <a:ln>
            <a:noFill/>
          </a:ln>
          <a:effectLst>
            <a:outerShdw blurRad="457200" dist="88900" dir="5400000" algn="t" rotWithShape="0">
              <a:prstClr val="black">
                <a:alpha val="33000"/>
              </a:prstClr>
            </a:outerShdw>
          </a:effectLst>
        </p:spPr>
      </p:pic>
      <p:grpSp>
        <p:nvGrpSpPr>
          <p:cNvPr id="4" name="组合 3"/>
          <p:cNvGrpSpPr/>
          <p:nvPr/>
        </p:nvGrpSpPr>
        <p:grpSpPr>
          <a:xfrm>
            <a:off x="1179797" y="1626499"/>
            <a:ext cx="3898457" cy="3153758"/>
            <a:chOff x="554933" y="1784629"/>
            <a:chExt cx="3898457" cy="3153758"/>
          </a:xfrm>
        </p:grpSpPr>
        <p:sp>
          <p:nvSpPr>
            <p:cNvPr id="8" name="TextBox 17"/>
            <p:cNvSpPr txBox="1"/>
            <p:nvPr/>
          </p:nvSpPr>
          <p:spPr>
            <a:xfrm>
              <a:off x="1099743" y="1828422"/>
              <a:ext cx="3340100"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企业个性化的业务分析</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 name="TextBox 18"/>
            <p:cNvSpPr txBox="1"/>
            <p:nvPr/>
          </p:nvSpPr>
          <p:spPr>
            <a:xfrm>
              <a:off x="1099743" y="2285887"/>
              <a:ext cx="3186039" cy="538609"/>
            </a:xfrm>
            <a:prstGeom prst="rect">
              <a:avLst/>
            </a:prstGeom>
            <a:noFill/>
          </p:spPr>
          <p:txBody>
            <a:bodyPr wrap="square" numCol="1" spcCol="0" rtlCol="0" anchor="ctr">
              <a:spAutoFit/>
            </a:bodyPr>
            <a:lstStyle/>
            <a:p>
              <a:pPr>
                <a:lnSpc>
                  <a:spcPct val="11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根据业务特点建立强大的数据模型、多维度的查看数据，并与历史数据同步比对分析。丰富的视图、灵活的数据函数，为企业打造专属的业务分析模型</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p:txBody>
        </p:sp>
        <p:pic>
          <p:nvPicPr>
            <p:cNvPr id="12" name="Graphic 23" descr="Network"/>
            <p:cNvPicPr>
              <a:picLocks noChangeAspect="1"/>
            </p:cNvPicPr>
            <p:nvPr/>
          </p:nvPicPr>
          <p:blipFill>
            <a:blip r:embed="rId3"/>
            <a:stretch>
              <a:fillRect/>
            </a:stretch>
          </p:blipFill>
          <p:spPr>
            <a:xfrm>
              <a:off x="561263" y="1784629"/>
              <a:ext cx="552027" cy="552027"/>
            </a:xfrm>
            <a:prstGeom prst="rect">
              <a:avLst/>
            </a:prstGeom>
          </p:spPr>
        </p:pic>
        <p:sp>
          <p:nvSpPr>
            <p:cNvPr id="15" name="TextBox 18"/>
            <p:cNvSpPr txBox="1"/>
            <p:nvPr/>
          </p:nvSpPr>
          <p:spPr>
            <a:xfrm>
              <a:off x="1113290" y="3463778"/>
              <a:ext cx="3113674" cy="538609"/>
            </a:xfrm>
            <a:prstGeom prst="rect">
              <a:avLst/>
            </a:prstGeom>
            <a:noFill/>
          </p:spPr>
          <p:txBody>
            <a:bodyPr wrap="square" numCol="1" spcCol="0" rtlCol="0" anchor="ctr">
              <a:spAutoFit/>
            </a:bodyPr>
            <a:lstStyle/>
            <a:p>
              <a:pPr>
                <a:lnSpc>
                  <a:spcPct val="11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将数据分析嵌入每一个</a:t>
              </a:r>
              <a:r>
                <a:rPr lang="en-US" altLang="zh-CN"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L2C</a:t>
              </a: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的业务实体中，动态分析业务进展，客户数据，销售行为，营收状态等。通过数据透视问题，解决问题</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pic>
          <p:nvPicPr>
            <p:cNvPr id="17" name="Graphic 25" descr="Gears"/>
            <p:cNvPicPr>
              <a:picLocks noChangeAspect="1"/>
            </p:cNvPicPr>
            <p:nvPr/>
          </p:nvPicPr>
          <p:blipFill>
            <a:blip r:embed="rId4"/>
            <a:stretch>
              <a:fillRect/>
            </a:stretch>
          </p:blipFill>
          <p:spPr>
            <a:xfrm>
              <a:off x="554933" y="3076392"/>
              <a:ext cx="559647" cy="559647"/>
            </a:xfrm>
            <a:prstGeom prst="rect">
              <a:avLst/>
            </a:prstGeom>
          </p:spPr>
        </p:pic>
        <p:sp>
          <p:nvSpPr>
            <p:cNvPr id="25" name="TextBox 17"/>
            <p:cNvSpPr txBox="1"/>
            <p:nvPr/>
          </p:nvSpPr>
          <p:spPr>
            <a:xfrm>
              <a:off x="1099741" y="3088769"/>
              <a:ext cx="3340100"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嵌入式业务分析</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1" name="TextBox 18"/>
            <p:cNvSpPr txBox="1"/>
            <p:nvPr/>
          </p:nvSpPr>
          <p:spPr>
            <a:xfrm>
              <a:off x="1129454" y="4704477"/>
              <a:ext cx="3156328" cy="233910"/>
            </a:xfrm>
            <a:prstGeom prst="rect">
              <a:avLst/>
            </a:prstGeom>
            <a:noFill/>
          </p:spPr>
          <p:txBody>
            <a:bodyPr wrap="square" numCol="1" spcCol="0" rtlCol="0" anchor="ctr">
              <a:spAutoFit/>
            </a:bodyPr>
            <a:lstStyle/>
            <a:p>
              <a:pPr>
                <a:lnSpc>
                  <a:spcPct val="110000"/>
                </a:lnSpc>
              </a:pP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rPr>
                <a:t>随时随地掌握销售运营数据，更快速地进行业务决策</a:t>
              </a:r>
              <a:endPar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苹方-简" panose="020B0400000000000000" pitchFamily="2" charset="-120"/>
                <a:sym typeface="+mn-ea"/>
              </a:endParaRPr>
            </a:p>
          </p:txBody>
        </p:sp>
        <p:sp>
          <p:nvSpPr>
            <p:cNvPr id="20" name="TextBox 17"/>
            <p:cNvSpPr txBox="1"/>
            <p:nvPr/>
          </p:nvSpPr>
          <p:spPr>
            <a:xfrm>
              <a:off x="1113290" y="4341002"/>
              <a:ext cx="3340100" cy="429156"/>
            </a:xfrm>
            <a:prstGeom prst="rect">
              <a:avLst/>
            </a:prstGeom>
            <a:noFill/>
          </p:spPr>
          <p:txBody>
            <a:bodyPr wrap="square" numCol="1" spcCol="0" rtlCol="0" anchor="ctr">
              <a:spAutoFit/>
            </a:bodyPr>
            <a:lstStyle/>
            <a:p>
              <a:pPr>
                <a:lnSpc>
                  <a:spcPct val="150000"/>
                </a:lnSpc>
              </a:pPr>
              <a:r>
                <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rPr>
                <a:t>移动端数据分析</a:t>
              </a:r>
              <a:endParaRPr lang="zh-CN" altLang="ja-JP" sz="1600" b="1" dirty="0">
                <a:solidFill>
                  <a:srgbClr val="1C69D4"/>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5" name="图片 4" descr="fenxi2"/>
            <p:cNvPicPr>
              <a:picLocks noChangeAspect="1"/>
            </p:cNvPicPr>
            <p:nvPr/>
          </p:nvPicPr>
          <p:blipFill>
            <a:blip r:embed="rId5"/>
            <a:stretch>
              <a:fillRect/>
            </a:stretch>
          </p:blipFill>
          <p:spPr>
            <a:xfrm>
              <a:off x="659919" y="4440814"/>
              <a:ext cx="349673" cy="349673"/>
            </a:xfrm>
            <a:prstGeom prst="rect">
              <a:avLst/>
            </a:prstGeom>
          </p:spPr>
        </p:pic>
      </p:grpSp>
      <p:grpSp>
        <p:nvGrpSpPr>
          <p:cNvPr id="81" name="组合 80"/>
          <p:cNvGrpSpPr/>
          <p:nvPr/>
        </p:nvGrpSpPr>
        <p:grpSpPr>
          <a:xfrm>
            <a:off x="1663431" y="5794289"/>
            <a:ext cx="8882272" cy="343660"/>
            <a:chOff x="1757118" y="4324905"/>
            <a:chExt cx="8882272" cy="343660"/>
          </a:xfrm>
        </p:grpSpPr>
        <p:grpSp>
          <p:nvGrpSpPr>
            <p:cNvPr id="82" name="组合 81"/>
            <p:cNvGrpSpPr/>
            <p:nvPr/>
          </p:nvGrpSpPr>
          <p:grpSpPr>
            <a:xfrm>
              <a:off x="1757118" y="4324905"/>
              <a:ext cx="8882272" cy="343660"/>
              <a:chOff x="1479302" y="5772680"/>
              <a:chExt cx="8864294" cy="447646"/>
            </a:xfrm>
          </p:grpSpPr>
          <p:sp>
            <p:nvSpPr>
              <p:cNvPr id="91" name="箭头: V 形 9"/>
              <p:cNvSpPr/>
              <p:nvPr/>
            </p:nvSpPr>
            <p:spPr>
              <a:xfrm>
                <a:off x="1479302" y="5772680"/>
                <a:ext cx="2299612"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2" name="箭头: V 形 106"/>
              <p:cNvSpPr/>
              <p:nvPr/>
            </p:nvSpPr>
            <p:spPr>
              <a:xfrm>
                <a:off x="3673867" y="5772680"/>
                <a:ext cx="2815194"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3" name="箭头: V 形 108"/>
              <p:cNvSpPr/>
              <p:nvPr/>
            </p:nvSpPr>
            <p:spPr>
              <a:xfrm>
                <a:off x="6378951" y="5772680"/>
                <a:ext cx="2567337" cy="447646"/>
              </a:xfrm>
              <a:prstGeom prst="chevron">
                <a:avLst>
                  <a:gd name="adj" fmla="val 3693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4" name="箭头: V 形 109"/>
              <p:cNvSpPr/>
              <p:nvPr/>
            </p:nvSpPr>
            <p:spPr>
              <a:xfrm>
                <a:off x="8836975" y="5772680"/>
                <a:ext cx="1506621" cy="447646"/>
              </a:xfrm>
              <a:prstGeom prst="chevron">
                <a:avLst>
                  <a:gd name="adj" fmla="val 36938"/>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3" name="矩形 82"/>
            <p:cNvSpPr/>
            <p:nvPr/>
          </p:nvSpPr>
          <p:spPr>
            <a:xfrm>
              <a:off x="2662805" y="4383591"/>
              <a:ext cx="954107" cy="246221"/>
            </a:xfrm>
            <a:prstGeom prst="rect">
              <a:avLst/>
            </a:prstGeom>
          </p:spPr>
          <p:txBody>
            <a:bodyPr wrap="none">
              <a:spAutoFit/>
            </a:bodyPr>
            <a:lstStyle/>
            <a:p>
              <a:r>
                <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更清晰的目标</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sp>
          <p:nvSpPr>
            <p:cNvPr id="84" name="矩形 83"/>
            <p:cNvSpPr/>
            <p:nvPr/>
          </p:nvSpPr>
          <p:spPr>
            <a:xfrm>
              <a:off x="5076317"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更精准的跟进</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5" name="矩形 84"/>
            <p:cNvSpPr/>
            <p:nvPr/>
          </p:nvSpPr>
          <p:spPr>
            <a:xfrm>
              <a:off x="7620950" y="4383591"/>
              <a:ext cx="954107" cy="246221"/>
            </a:xfrm>
            <a:prstGeom prst="rect">
              <a:avLst/>
            </a:prstGeom>
          </p:spPr>
          <p:txBody>
            <a:bodyPr wrap="none">
              <a:spAutoFit/>
            </a:bodyPr>
            <a:lstStyle/>
            <a:p>
              <a:r>
                <a:rPr lang="zh-CN" altLang="en-US" sz="1000" b="1" kern="120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更快速的转化</a:t>
              </a:r>
              <a:endParaRPr lang="zh-CN" altLang="en-US" sz="1000" b="1" kern="1200"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86" name="矩形 85"/>
            <p:cNvSpPr/>
            <p:nvPr/>
          </p:nvSpPr>
          <p:spPr>
            <a:xfrm>
              <a:off x="9591596" y="4383591"/>
              <a:ext cx="954107" cy="246221"/>
            </a:xfrm>
            <a:prstGeom prst="rect">
              <a:avLst/>
            </a:prstGeom>
          </p:spPr>
          <p:txBody>
            <a:bodyPr wrap="none">
              <a:spAutoFit/>
            </a:bodyPr>
            <a:lstStyle/>
            <a:p>
              <a:r>
                <a:rPr lang="zh-CN" altLang="en-US" sz="1000" b="1" kern="1200">
                  <a:solidFill>
                    <a:schemeClr val="bg1"/>
                  </a:solidFill>
                  <a:latin typeface="微软雅黑" panose="020B0503020204020204" pitchFamily="34" charset="-122"/>
                  <a:ea typeface="微软雅黑" panose="020B0503020204020204" pitchFamily="34" charset="-122"/>
                  <a:cs typeface="苹方-简" panose="020B0400000000000000" pitchFamily="2" charset="-120"/>
                </a:rPr>
                <a:t>更聪明的决策</a:t>
              </a:r>
              <a:endParaRPr lang="zh-CN" altLang="en-US" sz="1000" b="1" kern="12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endParaRPr>
            </a:p>
          </p:txBody>
        </p:sp>
        <p:pic>
          <p:nvPicPr>
            <p:cNvPr id="87" name="图片 8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7389" y="4383245"/>
              <a:ext cx="263949" cy="244886"/>
            </a:xfrm>
            <a:prstGeom prst="rect">
              <a:avLst/>
            </a:prstGeom>
          </p:spPr>
        </p:pic>
        <p:pic>
          <p:nvPicPr>
            <p:cNvPr id="88" name="图片 8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65549" y="4354258"/>
              <a:ext cx="300530" cy="279595"/>
            </a:xfrm>
            <a:prstGeom prst="rect">
              <a:avLst/>
            </a:prstGeom>
          </p:spPr>
        </p:pic>
        <p:pic>
          <p:nvPicPr>
            <p:cNvPr id="89" name="图片 8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833143" y="4376179"/>
              <a:ext cx="244930" cy="225954"/>
            </a:xfrm>
            <a:prstGeom prst="rect">
              <a:avLst/>
            </a:prstGeom>
          </p:spPr>
        </p:pic>
        <p:pic>
          <p:nvPicPr>
            <p:cNvPr id="90" name="图片 8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14528" y="4348566"/>
              <a:ext cx="311095" cy="303260"/>
            </a:xfrm>
            <a:prstGeom prst="rect">
              <a:avLst/>
            </a:prstGeom>
          </p:spPr>
        </p:pic>
      </p:grpSp>
      <p:grpSp>
        <p:nvGrpSpPr>
          <p:cNvPr id="95" name="组合 94"/>
          <p:cNvGrpSpPr/>
          <p:nvPr/>
        </p:nvGrpSpPr>
        <p:grpSpPr>
          <a:xfrm>
            <a:off x="1949877" y="5520686"/>
            <a:ext cx="8200250" cy="230832"/>
            <a:chOff x="2043564" y="4067093"/>
            <a:chExt cx="8200250" cy="230832"/>
          </a:xfrm>
        </p:grpSpPr>
        <p:sp>
          <p:nvSpPr>
            <p:cNvPr id="96" name="矩形 95"/>
            <p:cNvSpPr/>
            <p:nvPr/>
          </p:nvSpPr>
          <p:spPr>
            <a:xfrm>
              <a:off x="2043564"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多维目标管理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7" name="矩形 96"/>
            <p:cNvSpPr/>
            <p:nvPr/>
          </p:nvSpPr>
          <p:spPr>
            <a:xfrm>
              <a:off x="315546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区域管理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8" name="矩形 97"/>
            <p:cNvSpPr/>
            <p:nvPr/>
          </p:nvSpPr>
          <p:spPr>
            <a:xfrm>
              <a:off x="4042327" y="4067093"/>
              <a:ext cx="877163" cy="230832"/>
            </a:xfrm>
            <a:prstGeom prst="rect">
              <a:avLst/>
            </a:prstGeom>
            <a:scene3d>
              <a:camera prst="orthographicFront"/>
              <a:lightRig rig="threePt" dir="t"/>
            </a:scene3d>
            <a:sp3d>
              <a:bevelT prst="slope"/>
            </a:sp3d>
          </p:spPr>
          <p:txBody>
            <a:bodyPr wrap="none">
              <a:spAutoFit/>
            </a:bodyPr>
            <a:lstStyle/>
            <a:p>
              <a:pPr algn="ctr" defTabSz="609600"/>
              <a:r>
                <a:rPr lang="zh-CN" altLang="en-US" sz="90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市场活动管理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99" name="矩形 98"/>
            <p:cNvSpPr/>
            <p:nvPr/>
          </p:nvSpPr>
          <p:spPr>
            <a:xfrm>
              <a:off x="5091114"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线索管理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0" name="矩形 99"/>
            <p:cNvSpPr/>
            <p:nvPr/>
          </p:nvSpPr>
          <p:spPr>
            <a:xfrm>
              <a:off x="5909069"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客户管理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1" name="矩形 100"/>
            <p:cNvSpPr/>
            <p:nvPr/>
          </p:nvSpPr>
          <p:spPr>
            <a:xfrm>
              <a:off x="6819905"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商机管理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2" name="矩形 101"/>
            <p:cNvSpPr/>
            <p:nvPr/>
          </p:nvSpPr>
          <p:spPr>
            <a:xfrm>
              <a:off x="758646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订单管理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3" name="矩形 102"/>
            <p:cNvSpPr/>
            <p:nvPr/>
          </p:nvSpPr>
          <p:spPr>
            <a:xfrm>
              <a:off x="8313222" y="4067093"/>
              <a:ext cx="646331" cy="230832"/>
            </a:xfrm>
            <a:prstGeom prst="rect">
              <a:avLst/>
            </a:prstGeom>
          </p:spPr>
          <p:txBody>
            <a:bodyPr wrap="none">
              <a:spAutoFit/>
            </a:bodyPr>
            <a:lstStyle/>
            <a:p>
              <a:pPr algn="ctr" defTabSz="609600"/>
              <a:r>
                <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rPr>
                <a:t>回款管理</a:t>
              </a:r>
              <a:endParaRPr lang="zh-CN" altLang="en-US" sz="900" dirty="0">
                <a:solidFill>
                  <a:schemeClr val="bg1">
                    <a:lumMod val="7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sp>
          <p:nvSpPr>
            <p:cNvPr id="104" name="矩形 103"/>
            <p:cNvSpPr/>
            <p:nvPr/>
          </p:nvSpPr>
          <p:spPr>
            <a:xfrm>
              <a:off x="9366651" y="4067093"/>
              <a:ext cx="877163" cy="230832"/>
            </a:xfrm>
            <a:prstGeom prst="rect">
              <a:avLst/>
            </a:prstGeom>
          </p:spPr>
          <p:txBody>
            <a:bodyPr wrap="none">
              <a:spAutoFit/>
            </a:bodyPr>
            <a:lstStyle/>
            <a:p>
              <a:pPr algn="ctr" defTabSz="609600"/>
              <a:r>
                <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rPr>
                <a:t>智能数据分析</a:t>
              </a:r>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cs typeface="苹方-简" panose="020B0400000000000000" pitchFamily="2" charset="-120"/>
              </a:endParaRPr>
            </a:p>
          </p:txBody>
        </p:sp>
        <p:cxnSp>
          <p:nvCxnSpPr>
            <p:cNvPr id="105" name="直接连接符 104"/>
            <p:cNvCxnSpPr/>
            <p:nvPr/>
          </p:nvCxnSpPr>
          <p:spPr>
            <a:xfrm>
              <a:off x="305321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4982025"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5862514"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3954996"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6666704"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9129713" y="4076382"/>
              <a:ext cx="0" cy="212254"/>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7544250"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8277102" y="4076382"/>
              <a:ext cx="0" cy="2122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3" name="矩形 112"/>
          <p:cNvSpPr/>
          <p:nvPr/>
        </p:nvSpPr>
        <p:spPr>
          <a:xfrm>
            <a:off x="9272964" y="5546963"/>
            <a:ext cx="69850" cy="16256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5" name="Straight Connector 18"/>
          <p:cNvSpPr/>
          <p:nvPr/>
        </p:nvSpPr>
        <p:spPr>
          <a:xfrm>
            <a:off x="519033" y="4484370"/>
            <a:ext cx="5502519" cy="0"/>
          </a:xfrm>
          <a:prstGeom prst="line">
            <a:avLst/>
          </a:prstGeom>
          <a:ln w="6350">
            <a:solidFill>
              <a:srgbClr val="1C69D4"/>
            </a:solidFill>
            <a:prstDash val="solid"/>
            <a:miter/>
          </a:ln>
        </p:spPr>
        <p:txBody>
          <a:bodyPr lIns="45719" rIns="45719"/>
          <a:lstStyle/>
          <a:p>
            <a:pPr>
              <a:defRPr>
                <a:latin typeface="Arial" panose="020B0604020202020204"/>
                <a:ea typeface="Arial" panose="020B0604020202020204"/>
                <a:cs typeface="Arial" panose="020B0604020202020204"/>
                <a:sym typeface="Arial" panose="020B0604020202020204"/>
              </a:defRPr>
            </a:pPr>
            <a:endParaRPr dirty="0"/>
          </a:p>
        </p:txBody>
      </p:sp>
      <p:sp>
        <p:nvSpPr>
          <p:cNvPr id="7" name="Straight Connector 18"/>
          <p:cNvSpPr/>
          <p:nvPr/>
        </p:nvSpPr>
        <p:spPr>
          <a:xfrm>
            <a:off x="519033" y="2441637"/>
            <a:ext cx="5502519" cy="0"/>
          </a:xfrm>
          <a:prstGeom prst="line">
            <a:avLst/>
          </a:prstGeom>
          <a:ln w="6350">
            <a:solidFill>
              <a:srgbClr val="1C69D4"/>
            </a:solidFill>
            <a:prstDash val="solid"/>
            <a:miter/>
          </a:ln>
        </p:spPr>
        <p:txBody>
          <a:bodyPr lIns="45719" rIns="45719"/>
          <a:lstStyle/>
          <a:p>
            <a:pPr>
              <a:defRPr>
                <a:latin typeface="Arial" panose="020B0604020202020204"/>
                <a:ea typeface="Arial" panose="020B0604020202020204"/>
                <a:cs typeface="Arial" panose="020B0604020202020204"/>
                <a:sym typeface="Arial" panose="020B0604020202020204"/>
              </a:defRPr>
            </a:pPr>
            <a:endParaRPr dirty="0"/>
          </a:p>
        </p:txBody>
      </p:sp>
      <p:sp>
        <p:nvSpPr>
          <p:cNvPr id="17" name="矩形 16"/>
          <p:cNvSpPr/>
          <p:nvPr/>
        </p:nvSpPr>
        <p:spPr>
          <a:xfrm>
            <a:off x="0" y="2441637"/>
            <a:ext cx="400050" cy="2042733"/>
          </a:xfrm>
          <a:prstGeom prst="rect">
            <a:avLst/>
          </a:prstGeom>
          <a:solidFill>
            <a:srgbClr val="1C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465405" y="2841087"/>
            <a:ext cx="4949915" cy="1640613"/>
            <a:chOff x="465405" y="2841087"/>
            <a:chExt cx="4949915" cy="1640613"/>
          </a:xfrm>
        </p:grpSpPr>
        <p:sp>
          <p:nvSpPr>
            <p:cNvPr id="6567" name="文本框 15"/>
            <p:cNvSpPr txBox="1"/>
            <p:nvPr/>
          </p:nvSpPr>
          <p:spPr>
            <a:xfrm>
              <a:off x="1302494" y="2914520"/>
              <a:ext cx="1611630" cy="1567180"/>
            </a:xfrm>
            <a:prstGeom prst="rect">
              <a:avLst/>
            </a:prstGeom>
            <a:ln w="12700">
              <a:miter lim="400000"/>
            </a:ln>
          </p:spPr>
          <p:txBody>
            <a:bodyPr wrap="none" lIns="45718" tIns="45718" rIns="45718" bIns="45718">
              <a:spAutoFit/>
            </a:bodyPr>
            <a:lstStyle/>
            <a:p>
              <a:pPr>
                <a:defRPr sz="5000">
                  <a:solidFill>
                    <a:schemeClr val="accent1">
                      <a:satOff val="-33150"/>
                      <a:lumOff val="-12647"/>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9600" dirty="0">
                  <a:solidFill>
                    <a:srgbClr val="1C69D4"/>
                  </a:solidFill>
                  <a:latin typeface="微软雅黑" panose="020B0503020204020204" pitchFamily="34" charset="-122"/>
                  <a:ea typeface="微软雅黑" panose="020B0503020204020204" pitchFamily="34" charset="-122"/>
                  <a:cs typeface=".苹方-简" panose="02000000000000000000" pitchFamily="2" charset="-120"/>
                </a:rPr>
                <a:t>0</a:t>
              </a:r>
              <a:r>
                <a:rPr lang="en-US" sz="9600" dirty="0">
                  <a:solidFill>
                    <a:srgbClr val="1C69D4"/>
                  </a:solidFill>
                  <a:latin typeface="微软雅黑" panose="020B0503020204020204" pitchFamily="34" charset="-122"/>
                  <a:ea typeface="微软雅黑" panose="020B0503020204020204" pitchFamily="34" charset="-122"/>
                  <a:cs typeface=".苹方-简" panose="02000000000000000000" pitchFamily="2" charset="-120"/>
                </a:rPr>
                <a:t>3</a:t>
              </a:r>
              <a:endParaRPr lang="en-US" sz="9600" dirty="0">
                <a:solidFill>
                  <a:srgbClr val="1C69D4"/>
                </a:solidFill>
                <a:latin typeface="微软雅黑" panose="020B0503020204020204" pitchFamily="34" charset="-122"/>
                <a:ea typeface="微软雅黑" panose="020B0503020204020204" pitchFamily="34" charset="-122"/>
                <a:cs typeface=".苹方-简" panose="02000000000000000000" pitchFamily="2" charset="-120"/>
              </a:endParaRPr>
            </a:p>
          </p:txBody>
        </p:sp>
        <p:sp>
          <p:nvSpPr>
            <p:cNvPr id="11" name="矩形 10"/>
            <p:cNvSpPr/>
            <p:nvPr/>
          </p:nvSpPr>
          <p:spPr>
            <a:xfrm>
              <a:off x="465405" y="3806660"/>
              <a:ext cx="837089" cy="400110"/>
            </a:xfrm>
            <a:prstGeom prst="rect">
              <a:avLst/>
            </a:prstGeom>
          </p:spPr>
          <p:txBody>
            <a:bodyPr wrap="none">
              <a:spAutoFit/>
            </a:bodyPr>
            <a:lstStyle/>
            <a:p>
              <a:pPr>
                <a:defRPr sz="5000">
                  <a:solidFill>
                    <a:schemeClr val="accent1">
                      <a:satOff val="-33150"/>
                      <a:lumOff val="-12647"/>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2000" dirty="0">
                  <a:solidFill>
                    <a:srgbClr val="1C69D4"/>
                  </a:solidFill>
                  <a:latin typeface="微软雅黑" panose="020B0503020204020204" pitchFamily="34" charset="-122"/>
                  <a:ea typeface="微软雅黑" panose="020B0503020204020204" pitchFamily="34" charset="-122"/>
                  <a:cs typeface=".苹方-简" panose="02000000000000000000" pitchFamily="2" charset="-120"/>
                </a:rPr>
                <a:t>PART</a:t>
              </a:r>
              <a:endParaRPr lang="en-US" altLang="zh-CN" sz="2000" dirty="0">
                <a:solidFill>
                  <a:srgbClr val="1C69D4"/>
                </a:solidFill>
                <a:latin typeface="微软雅黑" panose="020B0503020204020204" pitchFamily="34" charset="-122"/>
                <a:ea typeface="微软雅黑" panose="020B0503020204020204" pitchFamily="34" charset="-122"/>
                <a:cs typeface=".苹方-简" panose="02000000000000000000" pitchFamily="2" charset="-120"/>
              </a:endParaRPr>
            </a:p>
          </p:txBody>
        </p:sp>
        <p:sp>
          <p:nvSpPr>
            <p:cNvPr id="18" name="矩形 17"/>
            <p:cNvSpPr/>
            <p:nvPr/>
          </p:nvSpPr>
          <p:spPr>
            <a:xfrm>
              <a:off x="575467" y="3760941"/>
              <a:ext cx="514350" cy="45719"/>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842300" y="2841087"/>
              <a:ext cx="2573020" cy="1445260"/>
            </a:xfrm>
            <a:prstGeom prst="rect">
              <a:avLst/>
            </a:prstGeom>
          </p:spPr>
          <p:txBody>
            <a:bodyPr wrap="none">
              <a:spAutoFit/>
            </a:bodyPr>
            <a:lstStyle/>
            <a:p>
              <a:endParaRPr lang="en-US" altLang="zh-CN" sz="4400" b="1" spc="300">
                <a:solidFill>
                  <a:srgbClr val="1C69D4"/>
                </a:solidFill>
                <a:latin typeface="微软雅黑" panose="020B0503020204020204" pitchFamily="34" charset="-122"/>
                <a:ea typeface="微软雅黑" panose="020B0503020204020204" pitchFamily="34" charset="-122"/>
                <a:cs typeface=".苹方-简" panose="02000000000000000000" pitchFamily="2" charset="-120"/>
                <a:sym typeface="+mn-ea"/>
              </a:endParaRPr>
            </a:p>
            <a:p>
              <a:r>
                <a:rPr lang="zh-CN" altLang="en-US" sz="4400" b="1" spc="300">
                  <a:solidFill>
                    <a:srgbClr val="1C69D4"/>
                  </a:solidFill>
                  <a:latin typeface="微软雅黑" panose="020B0503020204020204" pitchFamily="34" charset="-122"/>
                  <a:ea typeface="微软雅黑" panose="020B0503020204020204" pitchFamily="34" charset="-122"/>
                  <a:cs typeface=".苹方-简" panose="02000000000000000000" pitchFamily="2" charset="-120"/>
                  <a:sym typeface="+mn-ea"/>
                </a:rPr>
                <a:t>行业案例</a:t>
              </a:r>
              <a:endParaRPr lang="zh-CN" altLang="en-US" sz="4400" b="1" spc="300">
                <a:solidFill>
                  <a:srgbClr val="1C69D4"/>
                </a:solidFill>
                <a:latin typeface="微软雅黑" panose="020B0503020204020204" pitchFamily="34" charset="-122"/>
                <a:ea typeface="微软雅黑" panose="020B0503020204020204" pitchFamily="34" charset="-122"/>
                <a:cs typeface=".苹方-简" panose="02000000000000000000" pitchFamily="2" charset="-120"/>
                <a:sym typeface="+mn-ea"/>
              </a:endParaRPr>
            </a:p>
          </p:txBody>
        </p:sp>
      </p:grpSp>
      <p:sp>
        <p:nvSpPr>
          <p:cNvPr id="12" name="矩形 11"/>
          <p:cNvSpPr/>
          <p:nvPr/>
        </p:nvSpPr>
        <p:spPr>
          <a:xfrm>
            <a:off x="6123554" y="2441637"/>
            <a:ext cx="6068446" cy="2042539"/>
          </a:xfrm>
          <a:prstGeom prst="rect">
            <a:avLst/>
          </a:prstGeom>
          <a:solidFill>
            <a:srgbClr val="1C69D4">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9019"/>
          <a:stretch>
            <a:fillRect/>
          </a:stretch>
        </p:blipFill>
        <p:spPr>
          <a:xfrm>
            <a:off x="6121793" y="2441638"/>
            <a:ext cx="6070205" cy="2042538"/>
          </a:xfrm>
          <a:prstGeom prst="rect">
            <a:avLst/>
          </a:prstGeom>
        </p:spPr>
      </p:pic>
      <p:pic>
        <p:nvPicPr>
          <p:cNvPr id="6" name="图片 5"/>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10127361" y="3323493"/>
            <a:ext cx="1524290" cy="34448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advTm="1000"/>
    </mc:Choice>
    <mc:Fallback>
      <p:transition advClick="0" advTm="1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6081818" y="1865451"/>
            <a:ext cx="5993819" cy="2159079"/>
            <a:chOff x="6056261" y="2225853"/>
            <a:chExt cx="6019375" cy="2159080"/>
          </a:xfrm>
        </p:grpSpPr>
        <p:sp>
          <p:nvSpPr>
            <p:cNvPr id="7" name="矩形 6"/>
            <p:cNvSpPr/>
            <p:nvPr/>
          </p:nvSpPr>
          <p:spPr>
            <a:xfrm>
              <a:off x="6070505" y="2755822"/>
              <a:ext cx="6005131" cy="1629111"/>
            </a:xfrm>
            <a:prstGeom prst="rect">
              <a:avLst/>
            </a:prstGeom>
            <a:solidFill>
              <a:schemeClr val="bg1"/>
            </a:solidFill>
            <a:ln w="28575">
              <a:solidFill>
                <a:srgbClr val="4C96FD"/>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n"/>
                <a:defRPr/>
              </a:pP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业务人员缺乏便捷</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APP</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移动工具支持日常客户拓展、记录工作，人员效能无法客观评估，影响市场拓展效率</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n"/>
                <a:defRPr/>
              </a:pP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客户需求信息多维且复杂，记录分散未能统一规范记录管理，影响内部团队协作及信息共享；</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n"/>
                <a:defRPr/>
              </a:pP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原来通过线下表格定期收集汇总商机项目跟进信息反馈，人工统计分析耗时费力，且反馈滞后，不能及时支持管理数据分析需求</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n"/>
                <a:defRPr/>
              </a:pP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1" name="圆角矩形 10"/>
            <p:cNvSpPr/>
            <p:nvPr/>
          </p:nvSpPr>
          <p:spPr>
            <a:xfrm>
              <a:off x="6056261" y="2225853"/>
              <a:ext cx="1257526" cy="285890"/>
            </a:xfrm>
            <a:prstGeom prst="roundRect">
              <a:avLst>
                <a:gd name="adj" fmla="val 50000"/>
              </a:avLst>
            </a:prstGeom>
            <a:solidFill>
              <a:srgbClr val="12589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业务痛点     </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40" name="组合 39"/>
          <p:cNvGrpSpPr/>
          <p:nvPr/>
        </p:nvGrpSpPr>
        <p:grpSpPr>
          <a:xfrm>
            <a:off x="6096001" y="4165186"/>
            <a:ext cx="5984978" cy="2398186"/>
            <a:chOff x="6090658" y="4351164"/>
            <a:chExt cx="5984978" cy="2365258"/>
          </a:xfrm>
        </p:grpSpPr>
        <p:sp>
          <p:nvSpPr>
            <p:cNvPr id="3" name="矩形 2"/>
            <p:cNvSpPr/>
            <p:nvPr/>
          </p:nvSpPr>
          <p:spPr>
            <a:xfrm>
              <a:off x="6096001" y="4732515"/>
              <a:ext cx="5979635" cy="1983907"/>
            </a:xfrm>
            <a:prstGeom prst="rect">
              <a:avLst/>
            </a:prstGeom>
            <a:solidFill>
              <a:schemeClr val="bg1">
                <a:alpha val="96000"/>
              </a:schemeClr>
            </a:solidFill>
            <a:ln w="28575">
              <a:solidFill>
                <a:srgbClr val="4C96FD"/>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kumimoji="0" lang="zh-CN" altLang="en-US" sz="11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建立流程规范：</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构建从销售线索到回款的</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L2C</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销售流程自动化、规范管理</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kumimoji="0" lang="zh-CN" altLang="en-US" sz="11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销售工具赋能：</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移动端的</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CRM</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赋能销售人员随时随地工作，及时记录客户拜访信息，与内部高效协作，同步信息</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kumimoji="0" lang="zh-CN" altLang="en-US" sz="11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业务过程可视化：</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通过智能分析云</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BI</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工具，实现客户、销售行为及过程的可视化分析，辅助业务对客户及人员的管理</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2" name="圆角矩形 11"/>
            <p:cNvSpPr/>
            <p:nvPr/>
          </p:nvSpPr>
          <p:spPr>
            <a:xfrm>
              <a:off x="6090658" y="4351164"/>
              <a:ext cx="1257527" cy="285889"/>
            </a:xfrm>
            <a:prstGeom prst="roundRect">
              <a:avLst>
                <a:gd name="adj" fmla="val 50000"/>
              </a:avLst>
            </a:prstGeom>
            <a:solidFill>
              <a:srgbClr val="12589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实现价值     </a:t>
              </a:r>
              <a:r>
                <a:rPr kumimoji="1" lang="en-US" altLang="zh-CN"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41" name="直线连接符 40"/>
          <p:cNvCxnSpPr/>
          <p:nvPr/>
        </p:nvCxnSpPr>
        <p:spPr>
          <a:xfrm>
            <a:off x="333897" y="1732246"/>
            <a:ext cx="11495840" cy="0"/>
          </a:xfrm>
          <a:prstGeom prst="line">
            <a:avLst/>
          </a:prstGeom>
          <a:ln w="19050">
            <a:solidFill>
              <a:srgbClr val="9D2722"/>
            </a:solidFill>
            <a:prstDash val="dash"/>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318518" y="1865451"/>
            <a:ext cx="4888914" cy="2711586"/>
            <a:chOff x="360440" y="4973931"/>
            <a:chExt cx="5085190" cy="2711586"/>
          </a:xfrm>
        </p:grpSpPr>
        <p:sp>
          <p:nvSpPr>
            <p:cNvPr id="45" name="圆角矩形 44"/>
            <p:cNvSpPr/>
            <p:nvPr/>
          </p:nvSpPr>
          <p:spPr>
            <a:xfrm>
              <a:off x="360440" y="4973931"/>
              <a:ext cx="1257526" cy="285890"/>
            </a:xfrm>
            <a:prstGeom prst="roundRect">
              <a:avLst>
                <a:gd name="adj" fmla="val 50000"/>
              </a:avLst>
            </a:prstGeom>
            <a:solidFill>
              <a:srgbClr val="12589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产品服务</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6" name="矩形 45"/>
            <p:cNvSpPr/>
            <p:nvPr/>
          </p:nvSpPr>
          <p:spPr>
            <a:xfrm>
              <a:off x="426277" y="5455646"/>
              <a:ext cx="5019353" cy="22298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50000"/>
                </a:lnSpc>
                <a:spcBef>
                  <a:spcPts val="0"/>
                </a:spcBef>
                <a:spcAft>
                  <a:spcPts val="0"/>
                </a:spcAft>
                <a:buClrTx/>
                <a:buSzTx/>
                <a:buFontTx/>
                <a:buNone/>
                <a:defRPr/>
              </a:pPr>
              <a:r>
                <a:rPr kumimoji="1" lang="zh-CN" altLang="en-US" sz="1100" b="0" i="0" u="none" strike="noStrike" kern="1200" cap="none" spc="0" normalizeH="0" baseline="0" noProof="0" dirty="0">
                  <a:ln>
                    <a:noFill/>
                  </a:ln>
                  <a:solidFill>
                    <a:srgbClr val="4C96FD"/>
                  </a:solidFill>
                  <a:effectLst/>
                  <a:uLnTx/>
                  <a:uFillTx/>
                  <a:latin typeface="微软雅黑" panose="020B0503020204020204" pitchFamily="34" charset="-122"/>
                  <a:ea typeface="微软雅黑" panose="020B0503020204020204" pitchFamily="34" charset="-122"/>
                  <a:cs typeface="+mn-cs"/>
                </a:rPr>
                <a:t>应用物流数据分析和网络化分仓管理运输、快递资源，</a:t>
              </a:r>
              <a:r>
                <a:rPr kumimoji="1" lang="zh-CN" altLang="en-US" sz="1100" b="1" i="0" u="none" strike="noStrike" kern="1200" cap="none" spc="0" normalizeH="0" baseline="0" noProof="0" dirty="0">
                  <a:ln>
                    <a:noFill/>
                  </a:ln>
                  <a:solidFill>
                    <a:srgbClr val="4C96FD"/>
                  </a:solidFill>
                  <a:effectLst/>
                  <a:uLnTx/>
                  <a:uFillTx/>
                  <a:latin typeface="微软雅黑" panose="020B0503020204020204" pitchFamily="34" charset="-122"/>
                  <a:ea typeface="微软雅黑" panose="020B0503020204020204" pitchFamily="34" charset="-122"/>
                  <a:cs typeface="+mn-cs"/>
                </a:rPr>
                <a:t>为品牌企业提供的仓配一体化的物流外包服务：</a:t>
              </a:r>
              <a:endParaRPr kumimoji="1" lang="en-US" altLang="zh-CN" sz="1100" b="0" i="0" u="none" strike="noStrike" kern="1200" cap="none" spc="0" normalizeH="0" baseline="0" noProof="0" dirty="0">
                <a:ln>
                  <a:noFill/>
                </a:ln>
                <a:solidFill>
                  <a:srgbClr val="4C96FD"/>
                </a:solidFill>
                <a:effectLst/>
                <a:uLnTx/>
                <a:uFillTx/>
                <a:latin typeface="微软雅黑" panose="020B0503020204020204" pitchFamily="34" charset="-122"/>
                <a:ea typeface="微软雅黑" panose="020B0503020204020204" pitchFamily="34" charset="-122"/>
                <a:cs typeface="+mn-cs"/>
              </a:endParaRPr>
            </a:p>
          </p:txBody>
        </p:sp>
      </p:grpSp>
      <p:sp>
        <p:nvSpPr>
          <p:cNvPr id="47" name="圆角矩形 46"/>
          <p:cNvSpPr/>
          <p:nvPr/>
        </p:nvSpPr>
        <p:spPr>
          <a:xfrm>
            <a:off x="218523" y="4165184"/>
            <a:ext cx="1308983" cy="285891"/>
          </a:xfrm>
          <a:prstGeom prst="roundRect">
            <a:avLst>
              <a:gd name="adj" fmla="val 50000"/>
            </a:avLst>
          </a:prstGeom>
          <a:solidFill>
            <a:srgbClr val="12589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解决方案</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48" name="组合 47"/>
          <p:cNvGrpSpPr/>
          <p:nvPr/>
        </p:nvGrpSpPr>
        <p:grpSpPr>
          <a:xfrm>
            <a:off x="343660" y="4602781"/>
            <a:ext cx="5623187" cy="1960591"/>
            <a:chOff x="515296" y="5590094"/>
            <a:chExt cx="2474684" cy="1218582"/>
          </a:xfrm>
          <a:solidFill>
            <a:srgbClr val="4C96FD"/>
          </a:solidFill>
        </p:grpSpPr>
        <p:sp>
          <p:nvSpPr>
            <p:cNvPr id="49" name="矩形 48"/>
            <p:cNvSpPr/>
            <p:nvPr/>
          </p:nvSpPr>
          <p:spPr>
            <a:xfrm>
              <a:off x="519591" y="5590096"/>
              <a:ext cx="1216899" cy="602181"/>
            </a:xfrm>
            <a:prstGeom prst="rect">
              <a:avLst/>
            </a:prstGeom>
            <a:solidFill>
              <a:srgbClr val="3878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rPr>
                <a:t>精密设备物流</a:t>
              </a:r>
              <a:endParaRPr kumimoji="1" lang="en-US" altLang="zh-CN"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针对新型显示、半导体、航空航天和医疗健康行业不同精密程度的设备提供量身定制的物流解决方案</a:t>
              </a:r>
              <a:endParaRPr kumimoji="1"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0" name="矩形 49"/>
            <p:cNvSpPr/>
            <p:nvPr/>
          </p:nvSpPr>
          <p:spPr>
            <a:xfrm>
              <a:off x="1773081" y="5590094"/>
              <a:ext cx="1216899" cy="602182"/>
            </a:xfrm>
            <a:prstGeom prst="rect">
              <a:avLst/>
            </a:prstGeom>
            <a:solidFill>
              <a:srgbClr val="3878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rPr>
                <a:t>全程冷链物流</a:t>
              </a:r>
              <a:endParaRPr kumimoji="1" lang="en-US" altLang="zh-CN"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为医疗健康、生鲜食品、工业原材料等产品提供灵活定制化的温控方案，确保全程稳定的温控质量</a:t>
              </a:r>
              <a:endParaRPr kumimoji="1"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3" name="矩形 52"/>
            <p:cNvSpPr/>
            <p:nvPr/>
          </p:nvSpPr>
          <p:spPr>
            <a:xfrm>
              <a:off x="515296" y="6244913"/>
              <a:ext cx="1216899" cy="563763"/>
            </a:xfrm>
            <a:prstGeom prst="rect">
              <a:avLst/>
            </a:prstGeom>
            <a:solidFill>
              <a:srgbClr val="3878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rPr>
                <a:t>特种货物物流</a:t>
              </a:r>
              <a:endParaRPr kumimoji="1" lang="en-US" altLang="zh-CN"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为大件设备、珍品文物、活体动物、危险品等特殊货物提供端到端全程空运解决方案</a:t>
              </a:r>
              <a:endParaRPr kumimoji="1"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54" name="矩形 53"/>
            <p:cNvSpPr/>
            <p:nvPr/>
          </p:nvSpPr>
          <p:spPr>
            <a:xfrm>
              <a:off x="1768087" y="6260646"/>
              <a:ext cx="1216899" cy="548030"/>
            </a:xfrm>
            <a:prstGeom prst="rect">
              <a:avLst/>
            </a:prstGeom>
            <a:solidFill>
              <a:srgbClr val="3878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rPr>
                <a:t>跨境电商物流</a:t>
              </a:r>
              <a:endParaRPr kumimoji="1" lang="en-US" altLang="zh-CN" sz="1200" b="1" i="0" u="none" strike="noStrike" kern="1200" cap="none" spc="0" normalizeH="0" baseline="0" noProof="0" dirty="0">
                <a:ln>
                  <a:noFill/>
                </a:ln>
                <a:solidFill>
                  <a:srgbClr val="FFC7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针对跨境电商卖家提供直发模式、海外仓模式等多种物流服务</a:t>
              </a:r>
              <a:endParaRPr kumimoji="1" lang="zh-CN" altLang="en-US" sz="11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5" name="组合 49"/>
          <p:cNvGrpSpPr/>
          <p:nvPr/>
        </p:nvGrpSpPr>
        <p:grpSpPr bwMode="auto">
          <a:xfrm>
            <a:off x="8189971" y="1026732"/>
            <a:ext cx="1984375" cy="600229"/>
            <a:chOff x="603077" y="1605236"/>
            <a:chExt cx="2086772" cy="686362"/>
          </a:xfrm>
        </p:grpSpPr>
        <p:sp>
          <p:nvSpPr>
            <p:cNvPr id="10" name="椭圆 9"/>
            <p:cNvSpPr/>
            <p:nvPr/>
          </p:nvSpPr>
          <p:spPr>
            <a:xfrm>
              <a:off x="603077" y="1668771"/>
              <a:ext cx="622944" cy="622650"/>
            </a:xfrm>
            <a:prstGeom prst="ellipse">
              <a:avLst/>
            </a:prstGeom>
            <a:solidFill>
              <a:srgbClr val="12589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矩形 12"/>
            <p:cNvSpPr/>
            <p:nvPr/>
          </p:nvSpPr>
          <p:spPr>
            <a:xfrm>
              <a:off x="1289587" y="1605236"/>
              <a:ext cx="1400262" cy="686362"/>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开始合作时间</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2019</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8</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月</a:t>
              </a:r>
              <a:endPar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16" name="组合 27"/>
          <p:cNvGrpSpPr/>
          <p:nvPr/>
        </p:nvGrpSpPr>
        <p:grpSpPr bwMode="auto">
          <a:xfrm>
            <a:off x="4916819" y="1023780"/>
            <a:ext cx="1984375" cy="600229"/>
            <a:chOff x="3914695" y="1549989"/>
            <a:chExt cx="1823987" cy="599929"/>
          </a:xfrm>
        </p:grpSpPr>
        <p:grpSp>
          <p:nvGrpSpPr>
            <p:cNvPr id="17" name="组合 49"/>
            <p:cNvGrpSpPr/>
            <p:nvPr/>
          </p:nvGrpSpPr>
          <p:grpSpPr bwMode="auto">
            <a:xfrm>
              <a:off x="3914695" y="1549989"/>
              <a:ext cx="1823987" cy="599929"/>
              <a:chOff x="603077" y="1605236"/>
              <a:chExt cx="2086772" cy="686362"/>
            </a:xfrm>
          </p:grpSpPr>
          <p:sp>
            <p:nvSpPr>
              <p:cNvPr id="19" name="椭圆 18"/>
              <p:cNvSpPr/>
              <p:nvPr/>
            </p:nvSpPr>
            <p:spPr>
              <a:xfrm>
                <a:off x="603077" y="1668771"/>
                <a:ext cx="622944" cy="622650"/>
              </a:xfrm>
              <a:prstGeom prst="ellipse">
                <a:avLst/>
              </a:prstGeom>
              <a:solidFill>
                <a:srgbClr val="12589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矩形 19"/>
              <p:cNvSpPr/>
              <p:nvPr/>
            </p:nvSpPr>
            <p:spPr>
              <a:xfrm>
                <a:off x="1289587" y="1605236"/>
                <a:ext cx="1400262" cy="686362"/>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项目规摸</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10+</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用户</a:t>
                </a:r>
                <a:endPar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grpSp>
        <p:pic>
          <p:nvPicPr>
            <p:cNvPr id="18" name="图形 3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050742" y="1727790"/>
              <a:ext cx="275335" cy="27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椭圆 20"/>
          <p:cNvSpPr/>
          <p:nvPr/>
        </p:nvSpPr>
        <p:spPr bwMode="auto">
          <a:xfrm>
            <a:off x="1527506" y="1095218"/>
            <a:ext cx="544513" cy="542925"/>
          </a:xfrm>
          <a:prstGeom prst="ellipse">
            <a:avLst/>
          </a:prstGeom>
          <a:solidFill>
            <a:srgbClr val="12589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3" name="矩形 32"/>
          <p:cNvSpPr/>
          <p:nvPr/>
        </p:nvSpPr>
        <p:spPr bwMode="auto">
          <a:xfrm>
            <a:off x="2121892" y="1056979"/>
            <a:ext cx="2214880" cy="600229"/>
          </a:xfrm>
          <a:prstGeom prst="rect">
            <a:avLst/>
          </a:prstGeom>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销售易应用</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销售云</a:t>
            </a: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智能分析云</a:t>
            </a:r>
            <a:endParaRPr kumimoji="0"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34" name="图片 5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0806" y="1201671"/>
            <a:ext cx="271607" cy="27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图片 34" descr="fenxi2"/>
          <p:cNvPicPr>
            <a:picLocks noChangeAspect="1"/>
          </p:cNvPicPr>
          <p:nvPr/>
        </p:nvPicPr>
        <p:blipFill>
          <a:blip r:embed="rId3">
            <a:biLevel thresh="50000"/>
          </a:blip>
          <a:stretch>
            <a:fillRect/>
          </a:stretch>
        </p:blipFill>
        <p:spPr>
          <a:xfrm>
            <a:off x="8325295" y="1185369"/>
            <a:ext cx="297377" cy="335127"/>
          </a:xfrm>
          <a:prstGeom prst="rect">
            <a:avLst/>
          </a:prstGeom>
        </p:spPr>
      </p:pic>
      <p:sp>
        <p:nvSpPr>
          <p:cNvPr id="8" name="TextBox 5"/>
          <p:cNvSpPr txBox="1"/>
          <p:nvPr/>
        </p:nvSpPr>
        <p:spPr>
          <a:xfrm>
            <a:off x="1042563" y="604796"/>
            <a:ext cx="10414075" cy="40011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中外运跨境电商物流有限公司成立于</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2018 </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年</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4 </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月</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23 </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日，总部设立于北京临空经济核心区，是招商局集团旗下物流板块从事空运业务的专业公司，是中国外运股份有限公司（</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00598.HK</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a:t>
            </a:r>
            <a:r>
              <a:rPr kumimoji="0" lang="en-US" altLang="zh-CN"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601598.SH</a:t>
            </a:r>
            <a:r>
              <a:rPr kumimoji="0" lang="zh-CN" altLang="en-US" sz="10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）下属全资子公司。公司聚焦核心空运业务，致力于提升空运业务的核心竞争能力。</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2" name="图片 1"/>
          <p:cNvPicPr>
            <a:picLocks noChangeAspect="1"/>
          </p:cNvPicPr>
          <p:nvPr/>
        </p:nvPicPr>
        <p:blipFill>
          <a:blip r:embed="rId4"/>
          <a:stretch>
            <a:fillRect/>
          </a:stretch>
        </p:blipFill>
        <p:spPr>
          <a:xfrm>
            <a:off x="4171348" y="145234"/>
            <a:ext cx="3275587" cy="390571"/>
          </a:xfrm>
          <a:prstGeom prst="rect">
            <a:avLst/>
          </a:prstGeom>
        </p:spPr>
      </p:pic>
      <p:pic>
        <p:nvPicPr>
          <p:cNvPr id="23" name="图片 22"/>
          <p:cNvPicPr>
            <a:picLocks noChangeAspect="1"/>
          </p:cNvPicPr>
          <p:nvPr/>
        </p:nvPicPr>
        <p:blipFill rotWithShape="1">
          <a:blip r:embed="rId5"/>
          <a:srcRect l="1799"/>
          <a:stretch>
            <a:fillRect/>
          </a:stretch>
        </p:blipFill>
        <p:spPr>
          <a:xfrm>
            <a:off x="318518" y="2211406"/>
            <a:ext cx="5636981" cy="18722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6081818" y="1790501"/>
            <a:ext cx="5993819" cy="1691663"/>
            <a:chOff x="6056261" y="2225853"/>
            <a:chExt cx="6019375" cy="1691664"/>
          </a:xfrm>
        </p:grpSpPr>
        <p:sp>
          <p:nvSpPr>
            <p:cNvPr id="7" name="矩形 6"/>
            <p:cNvSpPr/>
            <p:nvPr/>
          </p:nvSpPr>
          <p:spPr>
            <a:xfrm>
              <a:off x="6070505" y="2608533"/>
              <a:ext cx="6005131" cy="1308984"/>
            </a:xfrm>
            <a:prstGeom prst="rect">
              <a:avLst/>
            </a:prstGeom>
            <a:solidFill>
              <a:schemeClr val="bg1"/>
            </a:solidFill>
            <a:ln w="28575">
              <a:solidFill>
                <a:srgbClr val="4C96FD"/>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171450" indent="-171450" algn="just">
                <a:lnSpc>
                  <a:spcPct val="150000"/>
                </a:lnSpc>
                <a:buClr>
                  <a:srgbClr val="0153A6"/>
                </a:buClr>
                <a:buFont typeface="Wingdings" panose="05000000000000000000" pitchFamily="2" charset="2"/>
                <a:buChar char="n"/>
                <a:defRPr/>
              </a:pP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随着万邑通的业务快速拓张和客户逐渐增多，原来自研的</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CRM</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系统与外部云表格、内部</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TOM</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系统之间数据割裂，不仅增加了人工管理的成本，影响了业务开展的效率，还给内部合规经营带来了挑战；</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indent="-171450" algn="just">
                <a:lnSpc>
                  <a:spcPct val="150000"/>
                </a:lnSpc>
                <a:buClr>
                  <a:srgbClr val="0153A6"/>
                </a:buClr>
                <a:buFont typeface="Wingdings" panose="05000000000000000000" pitchFamily="2" charset="2"/>
                <a:buChar char="n"/>
                <a:defRPr/>
              </a:pPr>
              <a:r>
                <a:rPr lang="zh-CN" altLang="en-US" sz="1100" dirty="0">
                  <a:solidFill>
                    <a:prstClr val="white">
                      <a:lumMod val="50000"/>
                    </a:prstClr>
                  </a:solidFill>
                  <a:latin typeface="微软雅黑" panose="020B0503020204020204" pitchFamily="34" charset="-122"/>
                  <a:ea typeface="微软雅黑" panose="020B0503020204020204" pitchFamily="34" charset="-122"/>
                </a:rPr>
                <a:t>海外仓增多，客户对于服务个性化需求也越来越多，对万邑通的销售服务提出了更高的要求，但原来系统建设无法让市场、销售、客服团队快速了解客户全貌，影响销售服务效率。</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1" name="圆角矩形 10"/>
            <p:cNvSpPr/>
            <p:nvPr/>
          </p:nvSpPr>
          <p:spPr>
            <a:xfrm>
              <a:off x="6056261" y="2225853"/>
              <a:ext cx="1257526" cy="285890"/>
            </a:xfrm>
            <a:prstGeom prst="roundRect">
              <a:avLst>
                <a:gd name="adj" fmla="val 50000"/>
              </a:avLst>
            </a:prstGeom>
            <a:solidFill>
              <a:srgbClr val="2B416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业务痛点     </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nvGrpSpPr>
          <p:cNvPr id="40" name="组合 39"/>
          <p:cNvGrpSpPr/>
          <p:nvPr/>
        </p:nvGrpSpPr>
        <p:grpSpPr>
          <a:xfrm>
            <a:off x="6162675" y="3575415"/>
            <a:ext cx="5984978" cy="2871567"/>
            <a:chOff x="6090658" y="4351164"/>
            <a:chExt cx="5984978" cy="2663868"/>
          </a:xfrm>
        </p:grpSpPr>
        <p:sp>
          <p:nvSpPr>
            <p:cNvPr id="3" name="矩形 2"/>
            <p:cNvSpPr/>
            <p:nvPr/>
          </p:nvSpPr>
          <p:spPr>
            <a:xfrm>
              <a:off x="6096001" y="4732516"/>
              <a:ext cx="5979635" cy="2282516"/>
            </a:xfrm>
            <a:prstGeom prst="rect">
              <a:avLst/>
            </a:prstGeom>
            <a:solidFill>
              <a:schemeClr val="bg1">
                <a:alpha val="96000"/>
              </a:schemeClr>
            </a:solidFill>
            <a:ln w="28575">
              <a:solidFill>
                <a:srgbClr val="4C96FD"/>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lang="zh-CN" altLang="en-US" sz="1100" b="1" dirty="0">
                  <a:solidFill>
                    <a:prstClr val="white">
                      <a:lumMod val="50000"/>
                    </a:prstClr>
                  </a:solidFill>
                  <a:latin typeface="微软雅黑" panose="020B0503020204020204" pitchFamily="34" charset="-122"/>
                  <a:ea typeface="微软雅黑" panose="020B0503020204020204" pitchFamily="34" charset="-122"/>
                </a:rPr>
                <a:t>建立</a:t>
              </a:r>
              <a:r>
                <a:rPr lang="en-US" altLang="zh-CN" sz="1100" b="1" dirty="0">
                  <a:solidFill>
                    <a:prstClr val="white">
                      <a:lumMod val="50000"/>
                    </a:prstClr>
                  </a:solidFill>
                  <a:latin typeface="微软雅黑" panose="020B0503020204020204" pitchFamily="34" charset="-122"/>
                  <a:ea typeface="微软雅黑" panose="020B0503020204020204" pitchFamily="34" charset="-122"/>
                </a:rPr>
                <a:t>L2O</a:t>
              </a:r>
              <a:r>
                <a:rPr lang="zh-CN" altLang="en-US" sz="1100" b="1" dirty="0">
                  <a:solidFill>
                    <a:prstClr val="white">
                      <a:lumMod val="50000"/>
                    </a:prstClr>
                  </a:solidFill>
                  <a:latin typeface="微软雅黑" panose="020B0503020204020204" pitchFamily="34" charset="-122"/>
                  <a:ea typeface="微软雅黑" panose="020B0503020204020204" pitchFamily="34" charset="-122"/>
                </a:rPr>
                <a:t>流程规范：</a:t>
              </a:r>
              <a:r>
                <a:rPr lang="zh-CN" altLang="en-US" sz="1100" dirty="0">
                  <a:solidFill>
                    <a:prstClr val="white">
                      <a:lumMod val="50000"/>
                    </a:prstClr>
                  </a:solidFill>
                  <a:latin typeface="微软雅黑" panose="020B0503020204020204" pitchFamily="34" charset="-122"/>
                  <a:ea typeface="微软雅黑" panose="020B0503020204020204" pitchFamily="34" charset="-122"/>
                </a:rPr>
                <a:t>构建</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从销售线索到</a:t>
              </a:r>
              <a:r>
                <a:rPr lang="zh-CN" altLang="en-US" sz="1100" dirty="0">
                  <a:solidFill>
                    <a:prstClr val="white">
                      <a:lumMod val="50000"/>
                    </a:prstClr>
                  </a:solidFill>
                  <a:latin typeface="微软雅黑" panose="020B0503020204020204" pitchFamily="34" charset="-122"/>
                  <a:ea typeface="微软雅黑" panose="020B0503020204020204" pitchFamily="34" charset="-122"/>
                </a:rPr>
                <a:t>商机</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的</a:t>
              </a:r>
              <a:r>
                <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L2O</a:t>
              </a:r>
              <a:r>
                <a:rPr kumimoji="0" lang="zh-CN" altLang="en-US"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销售流程自动化管理</a:t>
              </a:r>
              <a:r>
                <a:rPr lang="zh-CN" altLang="en-US" sz="1100" dirty="0">
                  <a:solidFill>
                    <a:prstClr val="white">
                      <a:lumMod val="50000"/>
                    </a:prstClr>
                  </a:solidFill>
                  <a:latin typeface="微软雅黑" panose="020B0503020204020204" pitchFamily="34" charset="-122"/>
                  <a:ea typeface="微软雅黑" panose="020B0503020204020204" pitchFamily="34" charset="-122"/>
                </a:rPr>
                <a:t>，支持线上（官网、飞兵平台）</a:t>
              </a:r>
              <a:r>
                <a:rPr lang="en-US" altLang="zh-CN" sz="1100" dirty="0">
                  <a:solidFill>
                    <a:prstClr val="white">
                      <a:lumMod val="50000"/>
                    </a:prstClr>
                  </a:solidFill>
                  <a:latin typeface="微软雅黑" panose="020B0503020204020204" pitchFamily="34" charset="-122"/>
                  <a:ea typeface="微软雅黑" panose="020B0503020204020204" pitchFamily="34" charset="-122"/>
                </a:rPr>
                <a:t>/</a:t>
              </a:r>
              <a:r>
                <a:rPr lang="zh-CN" altLang="en-US" sz="1100" dirty="0">
                  <a:solidFill>
                    <a:prstClr val="white">
                      <a:lumMod val="50000"/>
                    </a:prstClr>
                  </a:solidFill>
                  <a:latin typeface="微软雅黑" panose="020B0503020204020204" pitchFamily="34" charset="-122"/>
                  <a:ea typeface="微软雅黑" panose="020B0503020204020204" pitchFamily="34" charset="-122"/>
                </a:rPr>
                <a:t>线下活动多渠道来源的线索统一接入、分配及跟进转化闭环管理，提升市场与销售高效协作流程</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lang="zh-CN" altLang="en-US" sz="1100" b="1" dirty="0">
                  <a:solidFill>
                    <a:prstClr val="white">
                      <a:lumMod val="50000"/>
                    </a:prstClr>
                  </a:solidFill>
                  <a:latin typeface="微软雅黑" panose="020B0503020204020204" pitchFamily="34" charset="-122"/>
                  <a:ea typeface="微软雅黑" panose="020B0503020204020204" pitchFamily="34" charset="-122"/>
                </a:rPr>
                <a:t>构建客户</a:t>
              </a:r>
              <a:r>
                <a:rPr lang="en-US" altLang="zh-CN" sz="1100" b="1" dirty="0">
                  <a:solidFill>
                    <a:prstClr val="white">
                      <a:lumMod val="50000"/>
                    </a:prstClr>
                  </a:solidFill>
                  <a:latin typeface="微软雅黑" panose="020B0503020204020204" pitchFamily="34" charset="-122"/>
                  <a:ea typeface="微软雅黑" panose="020B0503020204020204" pitchFamily="34" charset="-122"/>
                </a:rPr>
                <a:t>360</a:t>
              </a:r>
              <a:r>
                <a:rPr lang="zh-CN" altLang="en-US" sz="1100" b="1" dirty="0">
                  <a:solidFill>
                    <a:prstClr val="white">
                      <a:lumMod val="50000"/>
                    </a:prstClr>
                  </a:solidFill>
                  <a:latin typeface="微软雅黑" panose="020B0503020204020204" pitchFamily="34" charset="-122"/>
                  <a:ea typeface="微软雅黑" panose="020B0503020204020204" pitchFamily="34" charset="-122"/>
                </a:rPr>
                <a:t>画像：</a:t>
              </a:r>
              <a:r>
                <a:rPr lang="zh-CN" altLang="en-US" sz="1100" dirty="0">
                  <a:solidFill>
                    <a:prstClr val="white">
                      <a:lumMod val="50000"/>
                    </a:prstClr>
                  </a:solidFill>
                  <a:latin typeface="微软雅黑" panose="020B0503020204020204" pitchFamily="34" charset="-122"/>
                  <a:ea typeface="微软雅黑" panose="020B0503020204020204" pitchFamily="34" charset="-122"/>
                </a:rPr>
                <a:t>划分不同的客户类型（企业</a:t>
              </a:r>
              <a:r>
                <a:rPr lang="en-US" altLang="zh-CN" sz="1100" dirty="0">
                  <a:solidFill>
                    <a:prstClr val="white">
                      <a:lumMod val="50000"/>
                    </a:prstClr>
                  </a:solidFill>
                  <a:latin typeface="微软雅黑" panose="020B0503020204020204" pitchFamily="34" charset="-122"/>
                  <a:ea typeface="微软雅黑" panose="020B0503020204020204" pitchFamily="34" charset="-122"/>
                </a:rPr>
                <a:t>/</a:t>
              </a:r>
              <a:r>
                <a:rPr lang="zh-CN" altLang="en-US" sz="1100" dirty="0">
                  <a:solidFill>
                    <a:prstClr val="white">
                      <a:lumMod val="50000"/>
                    </a:prstClr>
                  </a:solidFill>
                  <a:latin typeface="微软雅黑" panose="020B0503020204020204" pitchFamily="34" charset="-122"/>
                  <a:ea typeface="微软雅黑" panose="020B0503020204020204" pitchFamily="34" charset="-122"/>
                </a:rPr>
                <a:t>个人）精细化管理，构建多维客户画像（联系人、销售机会、拜访跟进记录、合同协议、服务、审核材料、折扣方案、钱包信息、客户消费标签、头程下单、客户收入、海外仓库存及出库统计等）赋能客户经营，提升销售服务提效率</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微软雅黑" panose="020B0503020204020204" pitchFamily="34" charset="-122"/>
                <a:buChar char="█"/>
                <a:defRPr/>
              </a:pPr>
              <a:r>
                <a:rPr lang="zh-CN" altLang="en-US" sz="1100" b="1" dirty="0">
                  <a:solidFill>
                    <a:prstClr val="white">
                      <a:lumMod val="50000"/>
                    </a:prstClr>
                  </a:solidFill>
                  <a:latin typeface="微软雅黑" panose="020B0503020204020204" pitchFamily="34" charset="-122"/>
                  <a:ea typeface="微软雅黑" panose="020B0503020204020204" pitchFamily="34" charset="-122"/>
                </a:rPr>
                <a:t>支持销售过程管理：</a:t>
              </a:r>
              <a:r>
                <a:rPr lang="zh-CN" altLang="en-US" sz="1100" dirty="0">
                  <a:solidFill>
                    <a:prstClr val="white">
                      <a:lumMod val="50000"/>
                    </a:prstClr>
                  </a:solidFill>
                  <a:latin typeface="微软雅黑" panose="020B0503020204020204" pitchFamily="34" charset="-122"/>
                  <a:ea typeface="微软雅黑" panose="020B0503020204020204" pitchFamily="34" charset="-122"/>
                </a:rPr>
                <a:t>移动端</a:t>
              </a:r>
              <a:r>
                <a:rPr lang="en-US" altLang="zh-CN" sz="1100" dirty="0">
                  <a:solidFill>
                    <a:prstClr val="white">
                      <a:lumMod val="50000"/>
                    </a:prstClr>
                  </a:solidFill>
                  <a:latin typeface="微软雅黑" panose="020B0503020204020204" pitchFamily="34" charset="-122"/>
                  <a:ea typeface="微软雅黑" panose="020B0503020204020204" pitchFamily="34" charset="-122"/>
                </a:rPr>
                <a:t>APP</a:t>
              </a:r>
              <a:r>
                <a:rPr lang="zh-CN" altLang="en-US" sz="1100" dirty="0">
                  <a:solidFill>
                    <a:prstClr val="white">
                      <a:lumMod val="50000"/>
                    </a:prstClr>
                  </a:solidFill>
                  <a:latin typeface="微软雅黑" panose="020B0503020204020204" pitchFamily="34" charset="-122"/>
                  <a:ea typeface="微软雅黑" panose="020B0503020204020204" pitchFamily="34" charset="-122"/>
                </a:rPr>
                <a:t>赋能销售人员随时随地记录和查询客户信息；实现商机跟进过程阶段、销售预测（客户发运时间、产品分仓货量预估）及目标完成率可视化</a:t>
              </a:r>
              <a:endParaRPr kumimoji="0" lang="en-US"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2" name="圆角矩形 11"/>
            <p:cNvSpPr/>
            <p:nvPr/>
          </p:nvSpPr>
          <p:spPr>
            <a:xfrm>
              <a:off x="6090658" y="4351164"/>
              <a:ext cx="1257527" cy="285889"/>
            </a:xfrm>
            <a:prstGeom prst="roundRect">
              <a:avLst>
                <a:gd name="adj" fmla="val 50000"/>
              </a:avLst>
            </a:prstGeom>
            <a:solidFill>
              <a:srgbClr val="12589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实现价值     </a:t>
              </a:r>
              <a:r>
                <a:rPr kumimoji="1" lang="en-US" altLang="zh-CN"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3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cxnSp>
        <p:nvCxnSpPr>
          <p:cNvPr id="41" name="直线连接符 40"/>
          <p:cNvCxnSpPr/>
          <p:nvPr/>
        </p:nvCxnSpPr>
        <p:spPr>
          <a:xfrm>
            <a:off x="333897" y="1657296"/>
            <a:ext cx="11495840" cy="0"/>
          </a:xfrm>
          <a:prstGeom prst="line">
            <a:avLst/>
          </a:prstGeom>
          <a:ln w="19050">
            <a:solidFill>
              <a:srgbClr val="9D2722"/>
            </a:solidFill>
            <a:prstDash val="dash"/>
          </a:ln>
        </p:spPr>
        <p:style>
          <a:lnRef idx="1">
            <a:schemeClr val="accent1"/>
          </a:lnRef>
          <a:fillRef idx="0">
            <a:schemeClr val="accent1"/>
          </a:fillRef>
          <a:effectRef idx="0">
            <a:schemeClr val="accent1"/>
          </a:effectRef>
          <a:fontRef idx="minor">
            <a:schemeClr val="tx1"/>
          </a:fontRef>
        </p:style>
      </p:cxnSp>
      <p:sp>
        <p:nvSpPr>
          <p:cNvPr id="45" name="圆角矩形 44"/>
          <p:cNvSpPr/>
          <p:nvPr/>
        </p:nvSpPr>
        <p:spPr>
          <a:xfrm>
            <a:off x="318518" y="1790501"/>
            <a:ext cx="1208989" cy="285890"/>
          </a:xfrm>
          <a:prstGeom prst="roundRect">
            <a:avLst>
              <a:gd name="adj" fmla="val 50000"/>
            </a:avLst>
          </a:prstGeom>
          <a:solidFill>
            <a:srgbClr val="2B416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产品服务</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7" name="圆角矩形 46"/>
          <p:cNvSpPr/>
          <p:nvPr/>
        </p:nvSpPr>
        <p:spPr>
          <a:xfrm>
            <a:off x="268520" y="3460546"/>
            <a:ext cx="1308983" cy="285891"/>
          </a:xfrm>
          <a:prstGeom prst="roundRect">
            <a:avLst>
              <a:gd name="adj" fmla="val 50000"/>
            </a:avLst>
          </a:prstGeom>
          <a:solidFill>
            <a:srgbClr val="2B416A"/>
          </a:solidFill>
          <a:ln>
            <a:noFill/>
          </a:ln>
          <a:effectLst>
            <a:outerShdw blurRad="50800" dist="381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解决方案</a:t>
            </a:r>
            <a:r>
              <a:rPr kumimoji="1"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&gt;</a:t>
            </a:r>
            <a:endParaRPr kumimoji="1"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5" name="组合 49"/>
          <p:cNvGrpSpPr/>
          <p:nvPr/>
        </p:nvGrpSpPr>
        <p:grpSpPr bwMode="auto">
          <a:xfrm>
            <a:off x="8189971" y="966772"/>
            <a:ext cx="1984375" cy="600229"/>
            <a:chOff x="603077" y="1605236"/>
            <a:chExt cx="2086772" cy="686362"/>
          </a:xfrm>
        </p:grpSpPr>
        <p:sp>
          <p:nvSpPr>
            <p:cNvPr id="10" name="椭圆 9"/>
            <p:cNvSpPr/>
            <p:nvPr/>
          </p:nvSpPr>
          <p:spPr>
            <a:xfrm>
              <a:off x="603077" y="1668771"/>
              <a:ext cx="622944" cy="622650"/>
            </a:xfrm>
            <a:prstGeom prst="ellipse">
              <a:avLst/>
            </a:prstGeom>
            <a:solidFill>
              <a:srgbClr val="2B41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矩形 12"/>
            <p:cNvSpPr/>
            <p:nvPr/>
          </p:nvSpPr>
          <p:spPr>
            <a:xfrm>
              <a:off x="1289587" y="1605236"/>
              <a:ext cx="1400262" cy="686362"/>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lang="zh-CN" altLang="en-US" sz="1400" dirty="0">
                  <a:solidFill>
                    <a:srgbClr val="D6151F"/>
                  </a:solidFill>
                  <a:latin typeface="微软雅黑" panose="020B0503020204020204" pitchFamily="34" charset="-122"/>
                  <a:ea typeface="微软雅黑" panose="020B0503020204020204" pitchFamily="34" charset="-122"/>
                </a:rPr>
                <a:t>开始合作</a:t>
              </a: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时间</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2020</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1</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月</a:t>
              </a:r>
              <a:endPar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16" name="组合 27"/>
          <p:cNvGrpSpPr/>
          <p:nvPr/>
        </p:nvGrpSpPr>
        <p:grpSpPr bwMode="auto">
          <a:xfrm>
            <a:off x="4916819" y="963820"/>
            <a:ext cx="3085851" cy="600229"/>
            <a:chOff x="3914695" y="1549989"/>
            <a:chExt cx="2836436" cy="599929"/>
          </a:xfrm>
        </p:grpSpPr>
        <p:grpSp>
          <p:nvGrpSpPr>
            <p:cNvPr id="17" name="组合 49"/>
            <p:cNvGrpSpPr/>
            <p:nvPr/>
          </p:nvGrpSpPr>
          <p:grpSpPr bwMode="auto">
            <a:xfrm>
              <a:off x="3914695" y="1549989"/>
              <a:ext cx="2836436" cy="599929"/>
              <a:chOff x="603077" y="1605236"/>
              <a:chExt cx="3245086" cy="686362"/>
            </a:xfrm>
          </p:grpSpPr>
          <p:sp>
            <p:nvSpPr>
              <p:cNvPr id="19" name="椭圆 18"/>
              <p:cNvSpPr/>
              <p:nvPr/>
            </p:nvSpPr>
            <p:spPr>
              <a:xfrm>
                <a:off x="603077" y="1668771"/>
                <a:ext cx="622944" cy="622650"/>
              </a:xfrm>
              <a:prstGeom prst="ellipse">
                <a:avLst/>
              </a:prstGeom>
              <a:solidFill>
                <a:srgbClr val="2B41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0" name="矩形 19"/>
              <p:cNvSpPr/>
              <p:nvPr/>
            </p:nvSpPr>
            <p:spPr>
              <a:xfrm>
                <a:off x="1289586" y="1605236"/>
                <a:ext cx="2558577" cy="686362"/>
              </a:xfrm>
              <a:prstGeom prst="rect">
                <a:avLst/>
              </a:prstGeom>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项目规摸</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lang="en-US" altLang="zh-CN" sz="1200" b="1" dirty="0">
                    <a:solidFill>
                      <a:srgbClr val="12589A"/>
                    </a:solidFill>
                    <a:latin typeface="微软雅黑" panose="020B0503020204020204" pitchFamily="34" charset="-122"/>
                    <a:ea typeface="微软雅黑" panose="020B0503020204020204" pitchFamily="34" charset="-122"/>
                    <a:sym typeface="+mn-ea"/>
                  </a:rPr>
                  <a:t>80</a:t>
                </a: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用户（市场、销售、客服部）</a:t>
                </a:r>
                <a:endPar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grpSp>
        <p:pic>
          <p:nvPicPr>
            <p:cNvPr id="18" name="图形 3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050742" y="1727790"/>
              <a:ext cx="275335" cy="27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 name="椭圆 20"/>
          <p:cNvSpPr/>
          <p:nvPr/>
        </p:nvSpPr>
        <p:spPr bwMode="auto">
          <a:xfrm>
            <a:off x="1527506" y="1035258"/>
            <a:ext cx="544513" cy="542925"/>
          </a:xfrm>
          <a:prstGeom prst="ellipse">
            <a:avLst/>
          </a:prstGeom>
          <a:solidFill>
            <a:srgbClr val="2B416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3" name="矩形 32"/>
          <p:cNvSpPr/>
          <p:nvPr/>
        </p:nvSpPr>
        <p:spPr bwMode="auto">
          <a:xfrm>
            <a:off x="2121892" y="997019"/>
            <a:ext cx="2214880" cy="600229"/>
          </a:xfrm>
          <a:prstGeom prst="rect">
            <a:avLst/>
          </a:prstGeom>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rPr>
              <a:t>销售易应用</a:t>
            </a:r>
            <a:endParaRPr kumimoji="0" lang="en-US" altLang="zh-CN" sz="1400" b="0" i="0" u="none" strike="noStrike" kern="1200" cap="none" spc="0" normalizeH="0" baseline="0" noProof="0" dirty="0">
              <a:ln>
                <a:noFill/>
              </a:ln>
              <a:solidFill>
                <a:srgbClr val="D6151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销售云</a:t>
            </a:r>
            <a:r>
              <a:rPr kumimoji="0" lang="en-US" altLang="zh-CN"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rPr>
              <a:t>智能分析云</a:t>
            </a:r>
            <a:endParaRPr kumimoji="0" sz="1200" b="1" i="0" u="none" strike="noStrike" kern="1200" cap="none" spc="0" normalizeH="0" baseline="0" noProof="0" dirty="0">
              <a:ln>
                <a:noFill/>
              </a:ln>
              <a:solidFill>
                <a:srgbClr val="12589A"/>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34" name="图片 5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0806" y="1141711"/>
            <a:ext cx="271607" cy="27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图片 34" descr="fenxi2"/>
          <p:cNvPicPr>
            <a:picLocks noChangeAspect="1"/>
          </p:cNvPicPr>
          <p:nvPr/>
        </p:nvPicPr>
        <p:blipFill>
          <a:blip r:embed="rId3">
            <a:biLevel thresh="50000"/>
          </a:blip>
          <a:stretch>
            <a:fillRect/>
          </a:stretch>
        </p:blipFill>
        <p:spPr>
          <a:xfrm>
            <a:off x="8325295" y="1125409"/>
            <a:ext cx="297377" cy="335127"/>
          </a:xfrm>
          <a:prstGeom prst="rect">
            <a:avLst/>
          </a:prstGeom>
        </p:spPr>
      </p:pic>
      <p:sp>
        <p:nvSpPr>
          <p:cNvPr id="8" name="TextBox 5"/>
          <p:cNvSpPr txBox="1"/>
          <p:nvPr/>
        </p:nvSpPr>
        <p:spPr>
          <a:xfrm>
            <a:off x="695325" y="604796"/>
            <a:ext cx="10934700" cy="400110"/>
          </a:xfrm>
          <a:prstGeom prst="rect">
            <a:avLst/>
          </a:prstGeom>
          <a:noFill/>
        </p:spPr>
        <p:txBody>
          <a:bodyPr wrap="square" rtlCol="0">
            <a:spAutoFit/>
          </a:bodyPr>
          <a:lstStyle/>
          <a:p>
            <a:pPr algn="l"/>
            <a:r>
              <a:rPr lang="zh-CN" altLang="en-US" sz="1000" b="1" i="0" dirty="0">
                <a:solidFill>
                  <a:srgbClr val="555555"/>
                </a:solidFill>
                <a:effectLst/>
                <a:latin typeface="微软雅黑" panose="020B0503020204020204" pitchFamily="34" charset="-122"/>
                <a:ea typeface="微软雅黑" panose="020B0503020204020204" pitchFamily="34" charset="-122"/>
              </a:rPr>
              <a:t>万邑通（上海）信息科技有限公司，</a:t>
            </a:r>
            <a:r>
              <a:rPr lang="en-US" altLang="zh-CN" sz="1000" b="1" i="0" dirty="0">
                <a:solidFill>
                  <a:srgbClr val="555555"/>
                </a:solidFill>
                <a:effectLst/>
                <a:latin typeface="微软雅黑" panose="020B0503020204020204" pitchFamily="34" charset="-122"/>
                <a:ea typeface="微软雅黑" panose="020B0503020204020204" pitchFamily="34" charset="-122"/>
              </a:rPr>
              <a:t>2012</a:t>
            </a:r>
            <a:r>
              <a:rPr lang="zh-CN" altLang="en-US" sz="1000" b="1" i="0" dirty="0">
                <a:solidFill>
                  <a:srgbClr val="555555"/>
                </a:solidFill>
                <a:effectLst/>
                <a:latin typeface="微软雅黑" panose="020B0503020204020204" pitchFamily="34" charset="-122"/>
                <a:ea typeface="微软雅黑" panose="020B0503020204020204" pitchFamily="34" charset="-122"/>
              </a:rPr>
              <a:t>年在上海注册成立， 定位为中立开放的跨境电商产业支持平台，为全球客户提供跨境售后物流服务体系，基于供应链管理，通过互联网实现，有效降低库存、提高库存周转率和资金回报率，为跨境电商提供端到端的全面、透明稳定、合法合规、成本优化、基于客户体验的整体供应链解决方案。</a:t>
            </a:r>
            <a:endParaRPr lang="zh-CN" altLang="en-US" sz="1000" b="1" i="0" dirty="0">
              <a:solidFill>
                <a:srgbClr val="555555"/>
              </a:solidFill>
              <a:effectLst/>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4"/>
          <a:stretch>
            <a:fillRect/>
          </a:stretch>
        </p:blipFill>
        <p:spPr>
          <a:xfrm>
            <a:off x="4479026" y="3508"/>
            <a:ext cx="2463071" cy="548998"/>
          </a:xfrm>
          <a:prstGeom prst="rect">
            <a:avLst/>
          </a:prstGeom>
        </p:spPr>
      </p:pic>
      <p:pic>
        <p:nvPicPr>
          <p:cNvPr id="23" name="图片 22"/>
          <p:cNvPicPr>
            <a:picLocks noChangeAspect="1"/>
          </p:cNvPicPr>
          <p:nvPr/>
        </p:nvPicPr>
        <p:blipFill rotWithShape="1">
          <a:blip r:embed="rId5"/>
          <a:srcRect r="54710"/>
          <a:stretch>
            <a:fillRect/>
          </a:stretch>
        </p:blipFill>
        <p:spPr>
          <a:xfrm>
            <a:off x="333897" y="2345935"/>
            <a:ext cx="2828408" cy="988013"/>
          </a:xfrm>
          <a:prstGeom prst="rect">
            <a:avLst/>
          </a:prstGeom>
        </p:spPr>
      </p:pic>
      <p:pic>
        <p:nvPicPr>
          <p:cNvPr id="24" name="图片 23"/>
          <p:cNvPicPr>
            <a:picLocks noChangeAspect="1"/>
          </p:cNvPicPr>
          <p:nvPr/>
        </p:nvPicPr>
        <p:blipFill rotWithShape="1">
          <a:blip r:embed="rId5"/>
          <a:srcRect l="56173" b="3286"/>
          <a:stretch>
            <a:fillRect/>
          </a:stretch>
        </p:blipFill>
        <p:spPr>
          <a:xfrm>
            <a:off x="3164852" y="2345934"/>
            <a:ext cx="2726597" cy="951897"/>
          </a:xfrm>
          <a:prstGeom prst="rect">
            <a:avLst/>
          </a:prstGeom>
        </p:spPr>
      </p:pic>
      <p:pic>
        <p:nvPicPr>
          <p:cNvPr id="26" name="图片 25"/>
          <p:cNvPicPr>
            <a:picLocks noChangeAspect="1"/>
          </p:cNvPicPr>
          <p:nvPr/>
        </p:nvPicPr>
        <p:blipFill>
          <a:blip r:embed="rId6"/>
          <a:stretch>
            <a:fillRect/>
          </a:stretch>
        </p:blipFill>
        <p:spPr>
          <a:xfrm>
            <a:off x="318518" y="3873036"/>
            <a:ext cx="5695528" cy="264256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5"/>
          <p:cNvSpPr txBox="1"/>
          <p:nvPr/>
        </p:nvSpPr>
        <p:spPr>
          <a:xfrm>
            <a:off x="809008" y="616439"/>
            <a:ext cx="10785026" cy="461665"/>
          </a:xfrm>
          <a:prstGeom prst="rect">
            <a:avLst/>
          </a:prstGeom>
          <a:noFill/>
        </p:spPr>
        <p:txBody>
          <a:bodyPr wrap="square" rtlCol="0">
            <a:spAutoFit/>
          </a:bodyPr>
          <a:lstStyle/>
          <a:p>
            <a:r>
              <a:rPr lang="zh-CN" altLang="en-US" sz="1200" b="1" i="0" dirty="0">
                <a:solidFill>
                  <a:srgbClr val="333333"/>
                </a:solidFill>
                <a:effectLst/>
                <a:latin typeface="微软雅黑" panose="020B0503020204020204" pitchFamily="34" charset="-122"/>
                <a:ea typeface="微软雅黑" panose="020B0503020204020204" pitchFamily="34" charset="-122"/>
              </a:rPr>
              <a:t>上海畅联国际物流股份有限公司于</a:t>
            </a:r>
            <a:r>
              <a:rPr lang="en-US" altLang="zh-CN" sz="1200" b="1" i="0" dirty="0">
                <a:solidFill>
                  <a:srgbClr val="333333"/>
                </a:solidFill>
                <a:effectLst/>
                <a:latin typeface="微软雅黑" panose="020B0503020204020204" pitchFamily="34" charset="-122"/>
                <a:ea typeface="微软雅黑" panose="020B0503020204020204" pitchFamily="34" charset="-122"/>
              </a:rPr>
              <a:t>2017</a:t>
            </a:r>
            <a:r>
              <a:rPr lang="zh-CN" altLang="en-US" sz="1200" b="1" i="0" dirty="0">
                <a:solidFill>
                  <a:srgbClr val="333333"/>
                </a:solidFill>
                <a:effectLst/>
                <a:latin typeface="微软雅黑" panose="020B0503020204020204" pitchFamily="34" charset="-122"/>
                <a:ea typeface="微软雅黑" panose="020B0503020204020204" pitchFamily="34" charset="-122"/>
              </a:rPr>
              <a:t>年</a:t>
            </a:r>
            <a:r>
              <a:rPr lang="en-US" altLang="zh-CN" sz="1200" b="1" i="0" dirty="0">
                <a:solidFill>
                  <a:srgbClr val="333333"/>
                </a:solidFill>
                <a:effectLst/>
                <a:latin typeface="微软雅黑" panose="020B0503020204020204" pitchFamily="34" charset="-122"/>
                <a:ea typeface="微软雅黑" panose="020B0503020204020204" pitchFamily="34" charset="-122"/>
              </a:rPr>
              <a:t>9</a:t>
            </a:r>
            <a:r>
              <a:rPr lang="zh-CN" altLang="en-US" sz="1200" b="1" i="0" dirty="0">
                <a:solidFill>
                  <a:srgbClr val="333333"/>
                </a:solidFill>
                <a:effectLst/>
                <a:latin typeface="微软雅黑" panose="020B0503020204020204" pitchFamily="34" charset="-122"/>
                <a:ea typeface="微软雅黑" panose="020B0503020204020204" pitchFamily="34" charset="-122"/>
              </a:rPr>
              <a:t>月上市（畅联股份：</a:t>
            </a:r>
            <a:r>
              <a:rPr lang="en-US" altLang="zh-CN" sz="1200" b="1" i="0" dirty="0">
                <a:solidFill>
                  <a:srgbClr val="3F3F3F"/>
                </a:solidFill>
                <a:effectLst/>
                <a:latin typeface="PingFang SC"/>
              </a:rPr>
              <a:t>603648</a:t>
            </a:r>
            <a:r>
              <a:rPr lang="zh-CN" altLang="en-US" sz="1200" b="1" i="0" dirty="0">
                <a:solidFill>
                  <a:srgbClr val="333333"/>
                </a:solidFill>
                <a:effectLst/>
                <a:latin typeface="微软雅黑" panose="020B0503020204020204" pitchFamily="34" charset="-122"/>
                <a:ea typeface="微软雅黑" panose="020B0503020204020204" pitchFamily="34" charset="-122"/>
              </a:rPr>
              <a:t>），是一家国有控股企业，专注于为高科技电子、医疗器械和试剂、机械装备部件、进口食品和服饰等高端消费品、精益制造领域的国际跨国企业提供一体化综合物流服务。</a:t>
            </a:r>
            <a:endParaRPr lang="en-US" altLang="zh-CN" sz="1200" b="1" i="0" dirty="0">
              <a:solidFill>
                <a:srgbClr val="333333"/>
              </a:solidFill>
              <a:effectLst/>
              <a:latin typeface="微软雅黑" panose="020B0503020204020204" pitchFamily="34" charset="-122"/>
              <a:ea typeface="微软雅黑" panose="020B0503020204020204" pitchFamily="34" charset="-122"/>
            </a:endParaRPr>
          </a:p>
        </p:txBody>
      </p:sp>
      <p:sp>
        <p:nvSpPr>
          <p:cNvPr id="17" name="矩形 16"/>
          <p:cNvSpPr/>
          <p:nvPr/>
        </p:nvSpPr>
        <p:spPr>
          <a:xfrm>
            <a:off x="7287181" y="1256143"/>
            <a:ext cx="2775840" cy="33855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rPr>
              <a:t>项目背景与目标</a:t>
            </a:r>
            <a:endParaRPr kumimoji="0" lang="en-US" altLang="zh-CN"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7297186" y="3975964"/>
            <a:ext cx="2138808" cy="33855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rPr>
              <a:t>价值及亮点</a:t>
            </a:r>
            <a:endParaRPr kumimoji="0" lang="en-US" altLang="zh-CN"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7297185" y="4403753"/>
            <a:ext cx="4645923" cy="2064424"/>
          </a:xfrm>
          <a:prstGeom prst="rect">
            <a:avLst/>
          </a:prstGeom>
          <a:noFill/>
          <a:ln w="28575">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Ø"/>
              <a:defRPr/>
            </a:pPr>
            <a:r>
              <a:rPr kumimoji="0" lang="zh-CN" altLang="en-US" sz="12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实现大客户</a:t>
            </a:r>
            <a:r>
              <a:rPr lang="zh-CN" altLang="en-US" sz="1200" b="1" dirty="0">
                <a:solidFill>
                  <a:prstClr val="white">
                    <a:lumMod val="50000"/>
                  </a:prstClr>
                </a:solidFill>
                <a:latin typeface="微软雅黑" panose="020B0503020204020204" pitchFamily="34" charset="-122"/>
                <a:ea typeface="微软雅黑" panose="020B0503020204020204" pitchFamily="34" charset="-122"/>
              </a:rPr>
              <a:t>统一</a:t>
            </a:r>
            <a:r>
              <a:rPr kumimoji="0" lang="zh-CN" altLang="en-US" sz="12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管理：</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将个人客户关系转化为组织性客户关系，从集团管理层面上统一大客户信息数字化、可视化管理；</a:t>
            </a: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indent="-171450" algn="just">
              <a:lnSpc>
                <a:spcPct val="150000"/>
              </a:lnSpc>
              <a:buClr>
                <a:srgbClr val="0153A6"/>
              </a:buClr>
              <a:buFont typeface="Wingdings" panose="05000000000000000000" pitchFamily="2" charset="2"/>
              <a:buChar char="Ø"/>
              <a:defRPr/>
            </a:pPr>
            <a:r>
              <a:rPr lang="zh-CN" altLang="en-US" sz="1200" b="1" dirty="0">
                <a:solidFill>
                  <a:prstClr val="white">
                    <a:lumMod val="50000"/>
                  </a:prstClr>
                </a:solidFill>
                <a:latin typeface="微软雅黑" panose="020B0503020204020204" pitchFamily="34" charset="-122"/>
                <a:ea typeface="微软雅黑" panose="020B0503020204020204" pitchFamily="34" charset="-122"/>
              </a:rPr>
              <a:t>实现销售过程管理：</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构建集团从立项询价、项目跟进、方案报价、招投标，中标</a:t>
            </a:r>
            <a:r>
              <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丢标的销售流程规范和销售漏斗管理</a:t>
            </a: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indent="-171450" algn="just">
              <a:lnSpc>
                <a:spcPct val="150000"/>
              </a:lnSpc>
              <a:buClr>
                <a:srgbClr val="0153A6"/>
              </a:buClr>
              <a:buFont typeface="Wingdings" panose="05000000000000000000" pitchFamily="2" charset="2"/>
              <a:buChar char="Ø"/>
              <a:defRPr/>
            </a:pPr>
            <a:r>
              <a:rPr kumimoji="0" lang="zh-CN" altLang="en-US" sz="12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提升前后团队协作效率：</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建立前端</a:t>
            </a:r>
            <a:r>
              <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KAM/</a:t>
            </a:r>
            <a:r>
              <a:rPr lang="zh-CN" altLang="en-US" sz="1200" dirty="0">
                <a:solidFill>
                  <a:prstClr val="white">
                    <a:lumMod val="50000"/>
                  </a:prstClr>
                </a:solidFill>
                <a:latin typeface="微软雅黑" panose="020B0503020204020204" pitchFamily="34" charset="-122"/>
                <a:ea typeface="微软雅黑" panose="020B0503020204020204" pitchFamily="34" charset="-122"/>
              </a:rPr>
              <a:t>商务团队和后端运营客服团队协作平台，沉淀沟通协作记录，系统支持信息及时同步和提醒，帮助快速响应客户需求，提升客户服务体验及满意度</a:t>
            </a: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7297185" y="1747482"/>
            <a:ext cx="4645923" cy="2064424"/>
          </a:xfrm>
          <a:prstGeom prst="rect">
            <a:avLst/>
          </a:prstGeom>
          <a:noFill/>
          <a:ln w="28575">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Ø"/>
              <a:defRPr/>
            </a:pPr>
            <a:r>
              <a:rPr kumimoji="0" lang="zh-CN" altLang="en-US" sz="12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背景：</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以跨国集团大客户为主，收入贡献较高，但客户信息分散在集团</a:t>
            </a:r>
            <a:r>
              <a:rPr lang="en-US" altLang="zh-CN" sz="1200" dirty="0">
                <a:solidFill>
                  <a:prstClr val="white">
                    <a:lumMod val="50000"/>
                  </a:prstClr>
                </a:solidFill>
                <a:latin typeface="微软雅黑" panose="020B0503020204020204" pitchFamily="34" charset="-122"/>
                <a:ea typeface="微软雅黑" panose="020B0503020204020204" pitchFamily="34" charset="-122"/>
              </a:rPr>
              <a:t>KAM</a:t>
            </a:r>
            <a:r>
              <a:rPr lang="zh-CN" altLang="en-US" sz="1200" dirty="0">
                <a:solidFill>
                  <a:prstClr val="white">
                    <a:lumMod val="50000"/>
                  </a:prstClr>
                </a:solidFill>
                <a:latin typeface="微软雅黑" panose="020B0503020204020204" pitchFamily="34" charset="-122"/>
                <a:ea typeface="微软雅黑" panose="020B0503020204020204" pitchFamily="34" charset="-122"/>
              </a:rPr>
              <a:t>人员手中，一旦人员</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异动容易产生客户关系及数据资产损失，为了更好地持续为大客户服务，提升客户粘性及满意度集团副总裁发起</a:t>
            </a:r>
            <a:r>
              <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CRM</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项目</a:t>
            </a: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a:p>
            <a:pPr marL="171450" marR="0" lvl="0" indent="-171450" algn="just" defTabSz="914400" rtl="0" eaLnBrk="1" fontAlgn="auto" latinLnBrk="0" hangingPunct="1">
              <a:lnSpc>
                <a:spcPct val="150000"/>
              </a:lnSpc>
              <a:spcBef>
                <a:spcPts val="0"/>
              </a:spcBef>
              <a:spcAft>
                <a:spcPts val="0"/>
              </a:spcAft>
              <a:buClr>
                <a:srgbClr val="0153A6"/>
              </a:buClr>
              <a:buSzTx/>
              <a:buFont typeface="Wingdings" panose="05000000000000000000" pitchFamily="2" charset="2"/>
              <a:buChar char="Ø"/>
              <a:defRPr/>
            </a:pPr>
            <a:r>
              <a:rPr kumimoji="0" lang="zh-CN" altLang="en-US" sz="1200" b="1"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目标：</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通过系统沉淀大客户信息，并规范大客户经营管理过程，通过系统加强前端</a:t>
            </a:r>
            <a:r>
              <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KAM/</a:t>
            </a:r>
            <a:r>
              <a:rPr kumimoji="0" lang="zh-CN" altLang="en-US"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rPr>
              <a:t>商务团队与后端运营客服团队协作，提升客户服务效率，提升客户满意度，助力业绩增长。</a:t>
            </a: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a:xfrm>
            <a:off x="378993" y="2880518"/>
            <a:ext cx="2138809" cy="33855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rPr>
              <a:t>销售易解决方案</a:t>
            </a:r>
            <a:endParaRPr kumimoji="0" lang="en-US" altLang="zh-CN"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399584" y="3219073"/>
            <a:ext cx="6595856" cy="3249104"/>
          </a:xfrm>
          <a:prstGeom prst="rect">
            <a:avLst/>
          </a:prstGeom>
          <a:noFill/>
          <a:ln w="28575">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500"/>
              </a:lnSpc>
            </a:pPr>
            <a:endParaRPr kumimoji="0" lang="zh-CN" altLang="en-US" sz="1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Segoe UI" panose="020B0502040204020203" pitchFamily="34" charset="0"/>
            </a:endParaRPr>
          </a:p>
        </p:txBody>
      </p:sp>
      <p:sp>
        <p:nvSpPr>
          <p:cNvPr id="31" name="矩形 30"/>
          <p:cNvSpPr/>
          <p:nvPr/>
        </p:nvSpPr>
        <p:spPr>
          <a:xfrm>
            <a:off x="378993" y="1267365"/>
            <a:ext cx="1895831" cy="33855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defRPr/>
            </a:pPr>
            <a:r>
              <a:rPr lang="zh-CN" altLang="en-US" sz="1600" b="1" dirty="0">
                <a:solidFill>
                  <a:srgbClr val="4472C4"/>
                </a:solidFill>
                <a:latin typeface="微软雅黑" panose="020B0503020204020204" pitchFamily="34" charset="-122"/>
                <a:ea typeface="微软雅黑" panose="020B0503020204020204" pitchFamily="34" charset="-122"/>
              </a:rPr>
              <a:t>合作概况</a:t>
            </a:r>
            <a:endParaRPr kumimoji="0" lang="en-US" altLang="zh-CN" sz="1600" b="1" i="0" u="none" strike="noStrike" kern="1200" cap="none" spc="0" normalizeH="0" baseline="0" noProof="0" dirty="0">
              <a:ln>
                <a:noFill/>
              </a:ln>
              <a:solidFill>
                <a:srgbClr val="4472C4"/>
              </a:solidFill>
              <a:effectLst/>
              <a:uLnTx/>
              <a:uFillTx/>
              <a:latin typeface="微软雅黑" panose="020B0503020204020204" pitchFamily="34" charset="-122"/>
              <a:ea typeface="微软雅黑" panose="020B0503020204020204" pitchFamily="34" charset="-122"/>
              <a:cs typeface="+mn-cs"/>
            </a:endParaRPr>
          </a:p>
        </p:txBody>
      </p:sp>
      <p:sp>
        <p:nvSpPr>
          <p:cNvPr id="32" name="矩形 31"/>
          <p:cNvSpPr/>
          <p:nvPr/>
        </p:nvSpPr>
        <p:spPr>
          <a:xfrm>
            <a:off x="399582" y="1657697"/>
            <a:ext cx="6595856" cy="969866"/>
          </a:xfrm>
          <a:prstGeom prst="rect">
            <a:avLst/>
          </a:prstGeom>
          <a:noFill/>
          <a:ln w="28575">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ct val="0"/>
              </a:spcBef>
            </a:pPr>
            <a:endParaRPr lang="zh-CN" altLang="en-US" sz="1400" spc="100" dirty="0">
              <a:solidFill>
                <a:schemeClr val="tx1"/>
              </a:solidFill>
              <a:latin typeface="微软雅黑" panose="020B0503020204020204" pitchFamily="34" charset="-122"/>
              <a:ea typeface="微软雅黑" panose="020B0503020204020204" pitchFamily="34" charset="-122"/>
            </a:endParaRPr>
          </a:p>
        </p:txBody>
      </p:sp>
      <p:grpSp>
        <p:nvGrpSpPr>
          <p:cNvPr id="37" name="组合 49"/>
          <p:cNvGrpSpPr/>
          <p:nvPr/>
        </p:nvGrpSpPr>
        <p:grpSpPr bwMode="auto">
          <a:xfrm>
            <a:off x="5011063" y="1801101"/>
            <a:ext cx="1984375" cy="600229"/>
            <a:chOff x="603077" y="1605236"/>
            <a:chExt cx="2086772" cy="686361"/>
          </a:xfrm>
        </p:grpSpPr>
        <p:sp>
          <p:nvSpPr>
            <p:cNvPr id="38" name="椭圆 37"/>
            <p:cNvSpPr/>
            <p:nvPr/>
          </p:nvSpPr>
          <p:spPr>
            <a:xfrm>
              <a:off x="603077" y="1668771"/>
              <a:ext cx="622944" cy="622650"/>
            </a:xfrm>
            <a:prstGeom prst="ellipse">
              <a:avLst/>
            </a:prstGeom>
            <a:solidFill>
              <a:srgbClr val="0065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9" name="矩形 38"/>
            <p:cNvSpPr/>
            <p:nvPr/>
          </p:nvSpPr>
          <p:spPr>
            <a:xfrm>
              <a:off x="1289587" y="1605236"/>
              <a:ext cx="1400262" cy="686361"/>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rPr>
                <a:t>上线时间</a:t>
              </a:r>
              <a:endParaRPr kumimoji="0" lang="en-US" altLang="zh-CN"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2021</a:t>
              </a:r>
              <a:r>
                <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年</a:t>
              </a:r>
              <a:r>
                <a:rPr lang="en-US" altLang="zh-CN" sz="1200" b="1" dirty="0">
                  <a:solidFill>
                    <a:srgbClr val="1C69D4"/>
                  </a:solidFill>
                  <a:latin typeface="微软雅黑" panose="020B0503020204020204" pitchFamily="34" charset="-122"/>
                  <a:ea typeface="微软雅黑" panose="020B0503020204020204" pitchFamily="34" charset="-122"/>
                  <a:sym typeface="+mn-ea"/>
                </a:rPr>
                <a:t>12</a:t>
              </a:r>
              <a:r>
                <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月</a:t>
              </a:r>
              <a:endPar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40" name="组合 27"/>
          <p:cNvGrpSpPr/>
          <p:nvPr/>
        </p:nvGrpSpPr>
        <p:grpSpPr bwMode="auto">
          <a:xfrm>
            <a:off x="2854050" y="1824442"/>
            <a:ext cx="1984375" cy="600229"/>
            <a:chOff x="3914695" y="1549988"/>
            <a:chExt cx="1823987" cy="599928"/>
          </a:xfrm>
        </p:grpSpPr>
        <p:grpSp>
          <p:nvGrpSpPr>
            <p:cNvPr id="41" name="组合 49"/>
            <p:cNvGrpSpPr/>
            <p:nvPr/>
          </p:nvGrpSpPr>
          <p:grpSpPr bwMode="auto">
            <a:xfrm>
              <a:off x="3914695" y="1549988"/>
              <a:ext cx="1823987" cy="599928"/>
              <a:chOff x="603077" y="1605236"/>
              <a:chExt cx="2086772" cy="686361"/>
            </a:xfrm>
          </p:grpSpPr>
          <p:sp>
            <p:nvSpPr>
              <p:cNvPr id="43" name="椭圆 42"/>
              <p:cNvSpPr/>
              <p:nvPr/>
            </p:nvSpPr>
            <p:spPr>
              <a:xfrm>
                <a:off x="603077" y="1668771"/>
                <a:ext cx="622944" cy="622650"/>
              </a:xfrm>
              <a:prstGeom prst="ellipse">
                <a:avLst/>
              </a:prstGeom>
              <a:solidFill>
                <a:srgbClr val="0065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4" name="矩形 43"/>
              <p:cNvSpPr/>
              <p:nvPr/>
            </p:nvSpPr>
            <p:spPr>
              <a:xfrm>
                <a:off x="1289587" y="1605236"/>
                <a:ext cx="1400262" cy="686361"/>
              </a:xfrm>
              <a:prstGeom prst="rect">
                <a:avLst/>
              </a:prstGeom>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rPr>
                  <a:t>项目规摸</a:t>
                </a:r>
                <a:endParaRPr kumimoji="0" lang="en-US" altLang="zh-CN"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50+</a:t>
                </a:r>
                <a:r>
                  <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用户</a:t>
                </a:r>
                <a:endPar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endParaRPr>
              </a:p>
            </p:txBody>
          </p:sp>
        </p:grpSp>
        <p:pic>
          <p:nvPicPr>
            <p:cNvPr id="42" name="图形 3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050742" y="1727790"/>
              <a:ext cx="275335" cy="275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椭圆 44"/>
          <p:cNvSpPr/>
          <p:nvPr/>
        </p:nvSpPr>
        <p:spPr bwMode="auto">
          <a:xfrm>
            <a:off x="655707" y="1853095"/>
            <a:ext cx="544513" cy="542925"/>
          </a:xfrm>
          <a:prstGeom prst="ellipse">
            <a:avLst/>
          </a:prstGeom>
          <a:solidFill>
            <a:srgbClr val="0065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6" name="矩形 45"/>
          <p:cNvSpPr/>
          <p:nvPr/>
        </p:nvSpPr>
        <p:spPr bwMode="auto">
          <a:xfrm>
            <a:off x="1250095" y="1814856"/>
            <a:ext cx="2214880" cy="600229"/>
          </a:xfrm>
          <a:prstGeom prst="rect">
            <a:avLst/>
          </a:prstGeom>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rPr>
              <a:t>销售易应用</a:t>
            </a:r>
            <a:endParaRPr kumimoji="0" lang="en-US" altLang="zh-CN" sz="1400" b="0" i="0" u="none" strike="noStrike" kern="1200" cap="none" spc="0" normalizeH="0" baseline="0" noProof="0" dirty="0">
              <a:ln>
                <a:noFill/>
              </a:ln>
              <a:solidFill>
                <a:srgbClr val="AFABAB"/>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ts val="21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rPr>
              <a:t>销售云</a:t>
            </a:r>
            <a:endParaRPr kumimoji="0" sz="1200" b="1" i="0" u="none" strike="noStrike" kern="1200" cap="none" spc="0" normalizeH="0" baseline="0" noProof="0" dirty="0">
              <a:ln>
                <a:noFill/>
              </a:ln>
              <a:solidFill>
                <a:srgbClr val="1C69D4"/>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47" name="图片 5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9008" y="1959548"/>
            <a:ext cx="271606" cy="27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图片 47" descr="fenxi2"/>
          <p:cNvPicPr>
            <a:picLocks noChangeAspect="1"/>
          </p:cNvPicPr>
          <p:nvPr/>
        </p:nvPicPr>
        <p:blipFill>
          <a:blip r:embed="rId3">
            <a:biLevel thresh="50000"/>
          </a:blip>
          <a:stretch>
            <a:fillRect/>
          </a:stretch>
        </p:blipFill>
        <p:spPr>
          <a:xfrm>
            <a:off x="5146387" y="1959738"/>
            <a:ext cx="297377" cy="335127"/>
          </a:xfrm>
          <a:prstGeom prst="rect">
            <a:avLst/>
          </a:prstGeom>
        </p:spPr>
      </p:pic>
      <p:pic>
        <p:nvPicPr>
          <p:cNvPr id="4" name="图片 3" descr="徽标&#10;&#10;中度可信度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9932" y="42592"/>
            <a:ext cx="1227482" cy="531410"/>
          </a:xfrm>
          <a:prstGeom prst="rect">
            <a:avLst/>
          </a:prstGeom>
        </p:spPr>
      </p:pic>
      <p:pic>
        <p:nvPicPr>
          <p:cNvPr id="6" name="图片 5"/>
          <p:cNvPicPr>
            <a:picLocks noChangeAspect="1"/>
          </p:cNvPicPr>
          <p:nvPr/>
        </p:nvPicPr>
        <p:blipFill>
          <a:blip r:embed="rId5"/>
          <a:stretch>
            <a:fillRect/>
          </a:stretch>
        </p:blipFill>
        <p:spPr>
          <a:xfrm>
            <a:off x="514040" y="3249707"/>
            <a:ext cx="6383374" cy="31713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p:cNvPicPr>
            <a:picLocks noChangeAspect="1"/>
          </p:cNvPicPr>
          <p:nvPr/>
        </p:nvPicPr>
        <p:blipFill rotWithShape="1">
          <a:blip r:embed="rId1"/>
          <a:srcRect t="22368" b="22368"/>
          <a:stretch>
            <a:fillRect/>
          </a:stretch>
        </p:blipFill>
        <p:spPr>
          <a:xfrm>
            <a:off x="-1" y="1969478"/>
            <a:ext cx="12192000" cy="2660198"/>
          </a:xfrm>
          <a:prstGeom prst="rect">
            <a:avLst/>
          </a:prstGeom>
        </p:spPr>
      </p:pic>
      <p:pic>
        <p:nvPicPr>
          <p:cNvPr id="39" name="图片 38"/>
          <p:cNvPicPr>
            <a:picLocks noChangeAspect="1"/>
          </p:cNvPicPr>
          <p:nvPr/>
        </p:nvPicPr>
        <p:blipFill rotWithShape="1">
          <a:blip r:embed="rId2"/>
          <a:srcRect t="33138" b="23810"/>
          <a:stretch>
            <a:fillRect/>
          </a:stretch>
        </p:blipFill>
        <p:spPr>
          <a:xfrm>
            <a:off x="0" y="1969478"/>
            <a:ext cx="12192000" cy="2660198"/>
          </a:xfrm>
          <a:prstGeom prst="rect">
            <a:avLst/>
          </a:prstGeom>
        </p:spPr>
      </p:pic>
      <p:sp>
        <p:nvSpPr>
          <p:cNvPr id="98" name="矩形 97"/>
          <p:cNvSpPr/>
          <p:nvPr/>
        </p:nvSpPr>
        <p:spPr>
          <a:xfrm>
            <a:off x="0" y="1969478"/>
            <a:ext cx="12192000" cy="2660198"/>
          </a:xfrm>
          <a:prstGeom prst="rect">
            <a:avLst/>
          </a:prstGeom>
          <a:solidFill>
            <a:srgbClr val="1C69D4">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3"/>
          <p:cNvSpPr txBox="1"/>
          <p:nvPr/>
        </p:nvSpPr>
        <p:spPr>
          <a:xfrm>
            <a:off x="4034366" y="2921121"/>
            <a:ext cx="4123267" cy="769441"/>
          </a:xfrm>
          <a:prstGeom prst="rect">
            <a:avLst/>
          </a:prstGeom>
          <a:ln w="12700">
            <a:miter lim="400000"/>
          </a:ln>
        </p:spPr>
        <p:txBody>
          <a:bodyPr wrap="square" lIns="45719" rIns="45719">
            <a:spAutoFit/>
          </a:bodyPr>
          <a:lstStyle/>
          <a:p>
            <a:pPr algn="ctr">
              <a:defRPr sz="5900" b="1">
                <a:solidFill>
                  <a:srgbClr val="F7F2D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lang="en-US" altLang="zh-CN" sz="44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rPr>
              <a:t>Thank you </a:t>
            </a:r>
            <a:endParaRPr lang="en-US" altLang="zh-CN" sz="4400" dirty="0">
              <a:solidFill>
                <a:schemeClr val="bg1"/>
              </a:solidFill>
              <a:latin typeface="微软雅黑" panose="020B0503020204020204" pitchFamily="34" charset="-122"/>
              <a:ea typeface="微软雅黑" panose="020B0503020204020204" pitchFamily="34" charset="-122"/>
              <a:cs typeface="苹方-简" panose="020B0400000000000000" pitchFamily="2" charset="-120"/>
              <a:sym typeface="微软雅黑" panose="020B0503020204020204" pitchFamily="34" charset="-122"/>
            </a:endParaRPr>
          </a:p>
        </p:txBody>
      </p:sp>
      <p:pic>
        <p:nvPicPr>
          <p:cNvPr id="105" name="图片 10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5533" y="2695229"/>
            <a:ext cx="2886467" cy="1990667"/>
          </a:xfrm>
          <a:prstGeom prst="rect">
            <a:avLst/>
          </a:prstGeom>
        </p:spPr>
      </p:pic>
      <p:pic>
        <p:nvPicPr>
          <p:cNvPr id="7" name="图片 1" descr="图片 1"/>
          <p:cNvPicPr>
            <a:picLocks noChangeAspect="1"/>
          </p:cNvPicPr>
          <p:nvPr/>
        </p:nvPicPr>
        <p:blipFill>
          <a:blip r:embed="rId4"/>
          <a:stretch>
            <a:fillRect/>
          </a:stretch>
        </p:blipFill>
        <p:spPr>
          <a:xfrm>
            <a:off x="5384339" y="584008"/>
            <a:ext cx="1070950" cy="1077816"/>
          </a:xfrm>
          <a:prstGeom prst="rect">
            <a:avLst/>
          </a:prstGeom>
          <a:ln w="12700">
            <a:miter lim="400000"/>
            <a:headEnd/>
            <a:tailEnd/>
          </a:ln>
        </p:spPr>
      </p:pic>
      <p:sp>
        <p:nvSpPr>
          <p:cNvPr id="8" name="文本框 4"/>
          <p:cNvSpPr txBox="1"/>
          <p:nvPr/>
        </p:nvSpPr>
        <p:spPr>
          <a:xfrm>
            <a:off x="3269543" y="5070311"/>
            <a:ext cx="5179967" cy="492436"/>
          </a:xfrm>
          <a:prstGeom prst="rect">
            <a:avLst/>
          </a:prstGeom>
          <a:ln w="12700">
            <a:miter lim="400000"/>
          </a:ln>
        </p:spPr>
        <p:txBody>
          <a:bodyPr wrap="square" lIns="60957" tIns="60957" rIns="60957" bIns="60957">
            <a:spAutoFit/>
          </a:bodyPr>
          <a:lstStyle/>
          <a:p>
            <a:pPr algn="ctr" defTabSz="609600">
              <a:defRPr sz="1300">
                <a:solidFill>
                  <a:srgbClr val="808080"/>
                </a:solidFill>
                <a:latin typeface="Heiti SC Light" panose="02000000000000000000" charset="-122"/>
                <a:ea typeface="Heiti SC Light" panose="02000000000000000000" charset="-122"/>
                <a:cs typeface="Heiti SC Light" panose="02000000000000000000" charset="-122"/>
                <a:sym typeface="Heiti SC Light" panose="02000000000000000000" charset="-122"/>
              </a:defRPr>
            </a:pPr>
            <a:r>
              <a:rPr sz="1200" spc="400" dirty="0">
                <a:latin typeface="微软雅黑" panose="020B0503020204020204" pitchFamily="34" charset="-122"/>
                <a:ea typeface="微软雅黑" panose="020B0503020204020204" pitchFamily="34" charset="-122"/>
                <a:sym typeface="Heiti SC Light" panose="02000000000000000000" charset="-122"/>
              </a:rPr>
              <a:t>400-050-0907</a:t>
            </a:r>
            <a:endParaRPr sz="1200" spc="400" dirty="0">
              <a:latin typeface="微软雅黑" panose="020B0503020204020204" pitchFamily="34" charset="-122"/>
              <a:ea typeface="微软雅黑" panose="020B0503020204020204" pitchFamily="34" charset="-122"/>
              <a:sym typeface="Heiti SC Light" panose="02000000000000000000" charset="-122"/>
            </a:endParaRPr>
          </a:p>
          <a:p>
            <a:pPr algn="ctr" defTabSz="609600">
              <a:defRPr sz="1300">
                <a:solidFill>
                  <a:srgbClr val="80808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sz="1200" spc="400" dirty="0">
                <a:latin typeface="微软雅黑" panose="020B0503020204020204" pitchFamily="34" charset="-122"/>
                <a:ea typeface="微软雅黑" panose="020B0503020204020204" pitchFamily="34" charset="-122"/>
                <a:sym typeface="微软雅黑" panose="020B0503020204020204" pitchFamily="34" charset="-122"/>
              </a:rPr>
              <a:t>www.</a:t>
            </a:r>
            <a:r>
              <a:rPr lang="en-US" altLang="zh-CN" sz="1200" spc="400" dirty="0">
                <a:latin typeface="微软雅黑" panose="020B0503020204020204" pitchFamily="34" charset="-122"/>
                <a:ea typeface="微软雅黑" panose="020B0503020204020204" pitchFamily="34" charset="-122"/>
                <a:sym typeface="微软雅黑" panose="020B0503020204020204" pitchFamily="34" charset="-122"/>
              </a:rPr>
              <a:t>neocrm</a:t>
            </a:r>
            <a:r>
              <a:rPr sz="1200" spc="400" dirty="0">
                <a:latin typeface="微软雅黑" panose="020B0503020204020204" pitchFamily="34" charset="-122"/>
                <a:ea typeface="微软雅黑" panose="020B0503020204020204" pitchFamily="34" charset="-122"/>
                <a:sym typeface="微软雅黑" panose="020B0503020204020204" pitchFamily="34" charset="-122"/>
              </a:rPr>
              <a:t>.com</a:t>
            </a:r>
            <a:endParaRPr sz="1200" spc="400" dirty="0">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MM_SLIDE_TYPE" val="6"/>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MM_SLIDE_TYPE" val="6"/>
</p:tagLst>
</file>

<file path=ppt/tags/tag4.xml><?xml version="1.0" encoding="utf-8"?>
<p:tagLst xmlns:p="http://schemas.openxmlformats.org/presentationml/2006/main">
  <p:tag name="MM_SLIDE_TYPE" val="6"/>
</p:tagLst>
</file>

<file path=ppt/tags/tag5.xml><?xml version="1.0" encoding="utf-8"?>
<p:tagLst xmlns:p="http://schemas.openxmlformats.org/presentationml/2006/main">
  <p:tag name="KSO_WM_UNIT_PLACING_PICTURE_USER_VIEWPORT" val="{&quot;height&quot;:6712.577952755905,&quot;width&quot;:14508.214173228347}"/>
</p:tagLst>
</file>

<file path=ppt/tags/tag6.xml><?xml version="1.0" encoding="utf-8"?>
<p:tagLst xmlns:p="http://schemas.openxmlformats.org/presentationml/2006/main">
  <p:tag name="KSO_WM_UNIT_HIGHLIGHT" val="0"/>
  <p:tag name="KSO_WM_UNIT_COMPATIBLE" val="0"/>
  <p:tag name="KSO_WM_DIAGRAM_GROUP_CODE" val="n1-1"/>
  <p:tag name="KSO_WM_UNIT_TYPE" val="n_i"/>
  <p:tag name="KSO_WM_UNIT_INDEX" val="1_1"/>
  <p:tag name="KSO_WM_UNIT_ID" val="diagram20187638_5*n_i*1_1"/>
  <p:tag name="KSO_WM_TEMPLATE_CATEGORY" val="diagram"/>
  <p:tag name="KSO_WM_TEMPLATE_INDEX" val="20187638"/>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3_1"/>
  <p:tag name="KSO_WM_UNIT_ID" val="diagram20187638_5*n_h_h_i*1_2_3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8"/>
  <p:tag name="KSO_WM_UNIT_FILL_TYPE" val="1"/>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1_1"/>
  <p:tag name="KSO_WM_UNIT_ID" val="diagram20187638_5*n_h_h_i*1_2_1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4_1"/>
  <p:tag name="KSO_WM_UNIT_ID" val="diagram20187638_5*n_h_h_i*1_2_4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9"/>
  <p:tag name="KSO_WM_UNIT_FILL_TYPE" val="1"/>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2_1"/>
  <p:tag name="KSO_WM_UNIT_ID" val="diagram20187638_5*n_h_h_i*1_2_2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5_1"/>
  <p:tag name="KSO_WM_UNIT_ID" val="diagram20187638_5*n_h_h_i*1_2_5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10"/>
  <p:tag name="KSO_WM_UNIT_FILL_TYPE" val="1"/>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DIAGRAM_GROUP_CODE" val="n1-1"/>
  <p:tag name="KSO_WM_UNIT_TYPE" val="n_h_h_i"/>
  <p:tag name="KSO_WM_UNIT_INDEX" val="1_2_6_1"/>
  <p:tag name="KSO_WM_UNIT_ID" val="diagram20187638_5*n_h_h_i*1_2_6_1"/>
  <p:tag name="KSO_WM_TEMPLATE_CATEGORY" val="diagram"/>
  <p:tag name="KSO_WM_TEMPLATE_INDEX" val="20187638"/>
  <p:tag name="KSO_WM_UNIT_LAYERLEVEL" val="1_1_1_1"/>
  <p:tag name="KSO_WM_TAG_VERSION" val="1.0"/>
  <p:tag name="KSO_WM_BEAUTIFY_FLAG" val="#wm#"/>
  <p:tag name="KSO_WM_UNIT_DIAGRAM_ISNUMVISUAL" val="0"/>
  <p:tag name="KSO_WM_UNIT_DIAGRAM_ISREFERUNIT" val="0"/>
  <p:tag name="KSO_WM_UNIT_FILL_FORE_SCHEMECOLOR_INDEX" val="7"/>
  <p:tag name="KSO_WM_UNIT_FILL_TYPE" val="1"/>
  <p:tag name="KSO_WM_UNIT_TEXT_FILL_FORE_SCHEMECOLOR_INDEX" val="2"/>
  <p:tag name="KSO_WM_UNIT_TEXT_FILL_TYPE" val="1"/>
  <p:tag name="KSO_WM_UNIT_USESOURCEFORMAT_APPLY" val="1"/>
</p:tagLst>
</file>

<file path=ppt/tags/tag13.xml><?xml version="1.0" encoding="utf-8"?>
<p:tagLst xmlns:p="http://schemas.openxmlformats.org/presentationml/2006/main">
  <p:tag name="ISLIDE.VECTOR" val="b4437930-d76b-4a1f-aeb8-361facac39e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2_3"/>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2_3"/>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1_3"/>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1_3"/>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3_3"/>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3_3"/>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6_4"/>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6_4"/>
  <p:tag name="KSO_WM_UNIT_USESOURCEFORMAT_APPLY"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6_3"/>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6_3"/>
  <p:tag name="KSO_WM_UNIT_FILL_FORE_SCHEMECOLOR_INDEX" val="14"/>
  <p:tag name="KSO_WM_UNIT_FILL_TYPE" val="1"/>
  <p:tag name="KSO_WM_UNIT_TEXT_FILL_FORE_SCHEMECOLOR_INDEX" val="2"/>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6_2"/>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6_2"/>
  <p:tag name="KSO_WM_UNIT_FILL_FORE_SCHEMECOLOR_INDEX" val="14"/>
  <p:tag name="KSO_WM_UNIT_FILL_TYPE" val="1"/>
  <p:tag name="KSO_WM_UNIT_TEXT_FILL_FORE_SCHEMECOLOR_INDEX" val="2"/>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6_1"/>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6_1"/>
  <p:tag name="KSO_WM_UNIT_FILL_FORE_SCHEMECOLOR_INDEX" val="14"/>
  <p:tag name="KSO_WM_UNIT_FILL_TYPE" val="1"/>
  <p:tag name="KSO_WM_UNIT_TEXT_FILL_FORE_SCHEMECOLOR_INDEX" val="2"/>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0131_5*q_h_i*1_4_3"/>
  <p:tag name="KSO_WM_TEMPLATE_CATEGORY" val="diagram"/>
  <p:tag name="KSO_WM_TEMPLATE_INDEX" val="20200131"/>
  <p:tag name="KSO_WM_UNIT_LAYERLEVEL" val="1_1_1"/>
  <p:tag name="KSO_WM_TAG_VERSION" val="1.0"/>
  <p:tag name="KSO_WM_BEAUTIFY_FLAG" val="#wm#"/>
  <p:tag name="KSO_WM_DIAGRAM_GROUP_CODE" val="q1-1"/>
  <p:tag name="KSO_WM_UNIT_TYPE" val="q_h_i"/>
  <p:tag name="KSO_WM_UNIT_INDEX" val="1_4_3"/>
  <p:tag name="KSO_WM_UNIT_USESOURCEFORMAT_APPLY" val="1"/>
</p:tagLst>
</file>

<file path=ppt/tags/tag22.xml><?xml version="1.0" encoding="utf-8"?>
<p:tagLst xmlns:p="http://schemas.openxmlformats.org/presentationml/2006/main">
  <p:tag name="KSO_WM_UNIT_HIGHLIGHT" val="0"/>
  <p:tag name="KSO_WM_UNIT_COMPATIBLE" val="0"/>
  <p:tag name="KSO_WM_DIAGRAM_GROUP_CODE" val="n1-1"/>
  <p:tag name="KSO_WM_UNIT_TYPE" val="n_i"/>
  <p:tag name="KSO_WM_UNIT_INDEX" val="1_1"/>
  <p:tag name="KSO_WM_UNIT_ID" val="diagram20187638_5*n_i*1_1"/>
  <p:tag name="KSO_WM_TEMPLATE_CATEGORY" val="diagram"/>
  <p:tag name="KSO_WM_TEMPLATE_INDEX" val="20187638"/>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BEAUTIFY_FLAG" val="#wm#"/>
  <p:tag name="KSO_WM_TEMPLATE_CATEGORY" val="diagram"/>
  <p:tag name="KSO_WM_TEMPLATE_INDEX" val="20187638"/>
  <p:tag name="KSO_WM_SLIDE_ID" val="diagram20187638_5"/>
  <p:tag name="KSO_WM_SLIDE_TYPE" val="text"/>
  <p:tag name="KSO_WM_SLIDE_SUBTYPE" val="diag"/>
  <p:tag name="KSO_WM_SLIDE_ITEM_CNT" val="6"/>
  <p:tag name="KSO_WM_SLIDE_INDEX" val="5"/>
  <p:tag name="KSO_WM_SLIDE_SIZE" val="936.123*473.454"/>
  <p:tag name="KSO_WM_SLIDE_POSITION" val="8.93921*150.715"/>
  <p:tag name="KSO_WM_DIAGRAM_GROUP_CODE" val="n1-1"/>
  <p:tag name="KSO_WM_SLIDE_DIAGTYPE" val="n"/>
  <p:tag name="KSO_WM_TAG_VERSION" val="1.0"/>
  <p:tag name="KSO_WM_SLIDE_LAYOUT" val="n"/>
  <p:tag name="KSO_WM_SLIDE_LAYOUT_CNT" val="1"/>
  <p:tag name="KSO_WM_TEMPLATE_SUBCATEGORY" val="0"/>
</p:tagLst>
</file>

<file path=ppt/theme/theme1.xml><?xml version="1.0" encoding="utf-8"?>
<a:theme xmlns:a="http://schemas.openxmlformats.org/drawingml/2006/main" name="北森">
  <a:themeElements>
    <a:clrScheme name="自定义 6">
      <a:dk1>
        <a:srgbClr val="1E73F5"/>
      </a:dk1>
      <a:lt1>
        <a:sysClr val="window" lastClr="FFFFFF"/>
      </a:lt1>
      <a:dk2>
        <a:srgbClr val="44546A"/>
      </a:dk2>
      <a:lt2>
        <a:srgbClr val="E7E6E6"/>
      </a:lt2>
      <a:accent1>
        <a:srgbClr val="1E73F5"/>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anagement Presentatio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销售易">
      <a:dk1>
        <a:srgbClr val="1E73F5"/>
      </a:dk1>
      <a:lt1>
        <a:sysClr val="window" lastClr="FFFFFF"/>
      </a:lt1>
      <a:dk2>
        <a:srgbClr val="44546A"/>
      </a:dk2>
      <a:lt2>
        <a:srgbClr val="E7E6E6"/>
      </a:lt2>
      <a:accent1>
        <a:srgbClr val="C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7054</Words>
  <Application>WPS 演示</Application>
  <PresentationFormat>宽屏</PresentationFormat>
  <Paragraphs>1026</Paragraphs>
  <Slides>31</Slides>
  <Notes>22</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31</vt:i4>
      </vt:variant>
    </vt:vector>
  </HeadingPairs>
  <TitlesOfParts>
    <vt:vector size="61" baseType="lpstr">
      <vt:lpstr>Arial</vt:lpstr>
      <vt:lpstr>宋体</vt:lpstr>
      <vt:lpstr>Wingdings</vt:lpstr>
      <vt:lpstr>微软雅黑</vt:lpstr>
      <vt:lpstr>Alibaba Sans Light</vt:lpstr>
      <vt:lpstr>Calibri</vt:lpstr>
      <vt:lpstr>Arial</vt:lpstr>
      <vt:lpstr>苹方 细体</vt:lpstr>
      <vt:lpstr>Calibri</vt:lpstr>
      <vt:lpstr>TencentSans W3</vt:lpstr>
      <vt:lpstr>苹方-简</vt:lpstr>
      <vt:lpstr>Microsoft JhengHei UI Light</vt:lpstr>
      <vt:lpstr>Impact</vt:lpstr>
      <vt:lpstr>Century Gothic</vt:lpstr>
      <vt:lpstr>Gill Sans</vt:lpstr>
      <vt:lpstr>等线</vt:lpstr>
      <vt:lpstr>Arial Unicode MS</vt:lpstr>
      <vt:lpstr>.苹方-简</vt:lpstr>
      <vt:lpstr>PMingLiU-ExtB</vt:lpstr>
      <vt:lpstr>Times New Roman</vt:lpstr>
      <vt:lpstr>XXX</vt:lpstr>
      <vt:lpstr>Segoe Print</vt:lpstr>
      <vt:lpstr>PingFang SC</vt:lpstr>
      <vt:lpstr>Segoe UI</vt:lpstr>
      <vt:lpstr>-apple-system</vt:lpstr>
      <vt:lpstr>Heiti SC Light</vt:lpstr>
      <vt:lpstr>Yu Gothic UI Light</vt:lpstr>
      <vt:lpstr>Gill Sans MT</vt:lpstr>
      <vt:lpstr>北森</vt:lpstr>
      <vt:lpstr>Office 主题​​</vt:lpstr>
      <vt:lpstr>PowerPoint 演示文稿</vt:lpstr>
      <vt:lpstr>PowerPoint 演示文稿</vt:lpstr>
      <vt:lpstr>PowerPoint 演示文稿</vt:lpstr>
      <vt:lpstr>一体化：围绕客户全生命周期旅程，提供端到端的一体化闭环能力</vt:lpstr>
      <vt:lpstr>平台化：支撑头部客户的复杂业务场景，平台能力已被客户验证</vt:lpstr>
      <vt:lpstr>与客户一同成长</vt:lpstr>
      <vt:lpstr>销售易的优势</vt:lpstr>
      <vt:lpstr>PowerPoint 演示文稿</vt:lpstr>
      <vt:lpstr>PowerPoint 演示文稿</vt:lpstr>
      <vt:lpstr>PowerPoint 演示文稿</vt:lpstr>
      <vt:lpstr>多维度目标管理-清晰的目标设定与进度追踪，确保业绩的顺利达成</vt:lpstr>
      <vt:lpstr>区域管理-科学管理销售组织，智能分配销售资源</vt:lpstr>
      <vt:lpstr>PowerPoint 演示文稿</vt:lpstr>
      <vt:lpstr>端到端高效管理市场活动  优化ROI</vt:lpstr>
      <vt:lpstr>全生命周期的线索管理,提升线索利用率、高效转化</vt:lpstr>
      <vt:lpstr>360度客户管理,全面掌握客户信息，深入洞悉客户</vt:lpstr>
      <vt:lpstr>PowerPoint 演示文稿</vt:lpstr>
      <vt:lpstr>PowerPoint 演示文稿</vt:lpstr>
      <vt:lpstr>PowerPoint 演示文稿</vt:lpstr>
      <vt:lpstr>销售方法论最佳实践沉淀，标准化推进商机过程，提升销售赢率</vt:lpstr>
      <vt:lpstr>复杂决策链可视化，让销售策略更清晰 </vt:lpstr>
      <vt:lpstr>CPQ解决方案，复杂产品多层多阶灵活组合快速报价，洞察产品营收</vt:lpstr>
      <vt:lpstr>合同与订单管理，以客户需求为中心，精细化管理生产与研发</vt:lpstr>
      <vt:lpstr>发票与回款管理，打造正逆向业务闭环，快速实现订单到回款</vt:lpstr>
      <vt:lpstr>PowerPoint 演示文稿</vt:lpstr>
      <vt:lpstr>嵌入式数据智能分析，助力销售管理者更及时、更聪明地决策</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William QIN_IBD</dc:creator>
  <cp:lastModifiedBy>Honey</cp:lastModifiedBy>
  <cp:revision>30</cp:revision>
  <dcterms:created xsi:type="dcterms:W3CDTF">2022-07-07T06:05:00Z</dcterms:created>
  <dcterms:modified xsi:type="dcterms:W3CDTF">2025-04-15T08:35:20Z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0x010100211C4F5EF37D834C9FC835DF8BECAD30</vt:lpwstr>
  </property>
  <property fmtid="{D5CDD505-2E9C-101B-9397-08002B2CF9AE}" pid="3" name="ICV">
    <vt:lpwstr>97E3BFDA9F8848349D7940B18F7786DD</vt:lpwstr>
  </property>
  <property fmtid="{D5CDD505-2E9C-101B-9397-08002B2CF9AE}" pid="4" name="KSOProductBuildVer">
    <vt:lpwstr>2052-12.1.0.20784</vt:lpwstr>
  </property>
</Properties>
</file>